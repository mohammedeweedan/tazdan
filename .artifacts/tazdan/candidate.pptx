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e31e9d8b734226" /><Relationship Type="http://schemas.openxmlformats.org/officeDocument/2006/relationships/extended-properties" Target="/docProps/app.xml" Id="R9570e8610c1441db" /><Relationship Type="http://schemas.openxmlformats.org/officeDocument/2006/relationships/officeDocument" Target="/ppt/presentation.xml" Id="Rea91036bfd1643f8" /></Relationships>
</file>

<file path=ppt/presentation.xml><?xml version="1.0" encoding="utf-8"?>
<p:presentation xmlns:p="http://schemas.openxmlformats.org/presentationml/2006/main">
  <p:sldMasterIdLst>
    <p:sldMasterId xmlns:r="http://schemas.openxmlformats.org/officeDocument/2006/relationships" id="2147483648" r:id="Rdf0b3c8eb336412b"/>
  </p:sldMasterIdLst>
  <p:notesMasterIdLst>
    <p:notesMasterId xmlns:r="http://schemas.openxmlformats.org/officeDocument/2006/relationships" r:id="Rdf4fd7eccccb4c12"/>
  </p:notesMasterIdLst>
  <p:sldIdLst>
    <p:sldId xmlns:r="http://schemas.openxmlformats.org/officeDocument/2006/relationships" id="256" r:id="R62b5b9c9da3e461b"/>
    <p:sldId xmlns:r="http://schemas.openxmlformats.org/officeDocument/2006/relationships" id="257" r:id="R8ff8bb407c65489d"/>
    <p:sldId xmlns:r="http://schemas.openxmlformats.org/officeDocument/2006/relationships" id="258" r:id="R1a5fe94c047f4627"/>
    <p:sldId xmlns:r="http://schemas.openxmlformats.org/officeDocument/2006/relationships" id="259" r:id="Rc026fe3c02bd402d"/>
    <p:sldId xmlns:r="http://schemas.openxmlformats.org/officeDocument/2006/relationships" id="260" r:id="R2982bf95108e4378"/>
    <p:sldId xmlns:r="http://schemas.openxmlformats.org/officeDocument/2006/relationships" id="261" r:id="R64ad2f6f6674409c"/>
    <p:sldId xmlns:r="http://schemas.openxmlformats.org/officeDocument/2006/relationships" id="262" r:id="R802199f372364d72"/>
    <p:sldId xmlns:r="http://schemas.openxmlformats.org/officeDocument/2006/relationships" id="263" r:id="R8d6d24338eb247fc"/>
    <p:sldId xmlns:r="http://schemas.openxmlformats.org/officeDocument/2006/relationships" id="264" r:id="Red39b912e63940cb"/>
    <p:sldId xmlns:r="http://schemas.openxmlformats.org/officeDocument/2006/relationships" id="265" r:id="Rac47bbac8fc04c29"/>
    <p:sldId xmlns:r="http://schemas.openxmlformats.org/officeDocument/2006/relationships" id="266" r:id="R4a87551d29544993"/>
    <p:sldId xmlns:r="http://schemas.openxmlformats.org/officeDocument/2006/relationships" id="267" r:id="Ra0f36a34528b45fe"/>
    <p:sldId xmlns:r="http://schemas.openxmlformats.org/officeDocument/2006/relationships" id="268" r:id="Reef3dc73ec214d0e"/>
    <p:sldId xmlns:r="http://schemas.openxmlformats.org/officeDocument/2006/relationships" id="269" r:id="R46233d25dc4c4456"/>
    <p:sldId xmlns:r="http://schemas.openxmlformats.org/officeDocument/2006/relationships" id="270" r:id="R99ab6e20a32941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362d73d54c436c" /><Relationship Type="http://schemas.openxmlformats.org/officeDocument/2006/relationships/slideMaster" Target="/ppt/slideMasters/slideMaster1.xml" Id="Rdf0b3c8eb336412b" /><Relationship Type="http://schemas.openxmlformats.org/officeDocument/2006/relationships/notesMaster" Target="/ppt/notesMasters/notesMaster1.xml" Id="Rdf4fd7eccccb4c12" /><Relationship Type="http://schemas.openxmlformats.org/officeDocument/2006/relationships/presProps" Target="/ppt/presProps.xml" Id="Red314d33ac7a455f" /><Relationship Type="http://schemas.openxmlformats.org/officeDocument/2006/relationships/tableStyles" Target="/ppt/tableStyles.xml" Id="R86f9a4599ada4cbd" /><Relationship Type="http://schemas.openxmlformats.org/officeDocument/2006/relationships/slide" Target="/ppt/slides/slide1.xml" Id="R62b5b9c9da3e461b" /><Relationship Type="http://schemas.openxmlformats.org/officeDocument/2006/relationships/slide" Target="/ppt/slides/slide2.xml" Id="R8ff8bb407c65489d" /><Relationship Type="http://schemas.openxmlformats.org/officeDocument/2006/relationships/slide" Target="/ppt/slides/slide3.xml" Id="R1a5fe94c047f4627" /><Relationship Type="http://schemas.openxmlformats.org/officeDocument/2006/relationships/slide" Target="/ppt/slides/slide4.xml" Id="Rc026fe3c02bd402d" /><Relationship Type="http://schemas.openxmlformats.org/officeDocument/2006/relationships/slide" Target="/ppt/slides/slide5.xml" Id="R2982bf95108e4378" /><Relationship Type="http://schemas.openxmlformats.org/officeDocument/2006/relationships/slide" Target="/ppt/slides/slide6.xml" Id="R64ad2f6f6674409c" /><Relationship Type="http://schemas.openxmlformats.org/officeDocument/2006/relationships/slide" Target="/ppt/slides/slide7.xml" Id="R802199f372364d72" /><Relationship Type="http://schemas.openxmlformats.org/officeDocument/2006/relationships/slide" Target="/ppt/slides/slide8.xml" Id="R8d6d24338eb247fc" /><Relationship Type="http://schemas.openxmlformats.org/officeDocument/2006/relationships/slide" Target="/ppt/slides/slide9.xml" Id="Red39b912e63940cb" /><Relationship Type="http://schemas.openxmlformats.org/officeDocument/2006/relationships/slide" Target="/ppt/slides/slide10.xml" Id="Rac47bbac8fc04c29" /><Relationship Type="http://schemas.openxmlformats.org/officeDocument/2006/relationships/slide" Target="/ppt/slides/slide11.xml" Id="R4a87551d29544993" /><Relationship Type="http://schemas.openxmlformats.org/officeDocument/2006/relationships/slide" Target="/ppt/slides/slide12.xml" Id="Ra0f36a34528b45fe" /><Relationship Type="http://schemas.openxmlformats.org/officeDocument/2006/relationships/slide" Target="/ppt/slides/slide13.xml" Id="Reef3dc73ec214d0e" /><Relationship Type="http://schemas.openxmlformats.org/officeDocument/2006/relationships/slide" Target="/ppt/slides/slide14.xml" Id="R46233d25dc4c4456" /><Relationship Type="http://schemas.openxmlformats.org/officeDocument/2006/relationships/slide" Target="/ppt/slides/slide15.xml" Id="R99ab6e20a32941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6b2ed85cb449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335471e09749f7" /><Relationship Type="http://schemas.openxmlformats.org/officeDocument/2006/relationships/notesMaster" Target="/ppt/notesMasters/notesMaster1.xml" Id="R2c0744de034246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a3e442345142fc" /><Relationship Type="http://schemas.openxmlformats.org/officeDocument/2006/relationships/notesMaster" Target="/ppt/notesMasters/notesMaster1.xml" Id="Rd368c9a227fc4c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15196a8c2342dc" /><Relationship Type="http://schemas.openxmlformats.org/officeDocument/2006/relationships/notesMaster" Target="/ppt/notesMasters/notesMaster1.xml" Id="R8024589d5b8144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197ca0bc3c47fe" /><Relationship Type="http://schemas.openxmlformats.org/officeDocument/2006/relationships/notesMaster" Target="/ppt/notesMasters/notesMaster1.xml" Id="R53a05f9a125743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30eb8c926543aa" /><Relationship Type="http://schemas.openxmlformats.org/officeDocument/2006/relationships/notesMaster" Target="/ppt/notesMasters/notesMaster1.xml" Id="R41bebfadbdd445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2b8f6e3a024e71" /><Relationship Type="http://schemas.openxmlformats.org/officeDocument/2006/relationships/notesMaster" Target="/ppt/notesMasters/notesMaster1.xml" Id="R55d8b0f2e0ba40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83b6242c354c27" /><Relationship Type="http://schemas.openxmlformats.org/officeDocument/2006/relationships/notesMaster" Target="/ppt/notesMasters/notesMaster1.xml" Id="Rde5c811da75946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c3f4fbe9f94ae9" /><Relationship Type="http://schemas.openxmlformats.org/officeDocument/2006/relationships/notesMaster" Target="/ppt/notesMasters/notesMaster1.xml" Id="Rf38184ec62da46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ec3b3d9555437b" /><Relationship Type="http://schemas.openxmlformats.org/officeDocument/2006/relationships/notesMaster" Target="/ppt/notesMasters/notesMaster1.xml" Id="R68c86863f84240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0da9b96fa44527" /><Relationship Type="http://schemas.openxmlformats.org/officeDocument/2006/relationships/notesMaster" Target="/ppt/notesMasters/notesMaster1.xml" Id="Re1261cd5f1584c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446758ef564acc" /><Relationship Type="http://schemas.openxmlformats.org/officeDocument/2006/relationships/notesMaster" Target="/ppt/notesMasters/notesMaster1.xml" Id="Rd61a36417c5145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12edd0c3b44e2b" /><Relationship Type="http://schemas.openxmlformats.org/officeDocument/2006/relationships/notesMaster" Target="/ppt/notesMasters/notesMaster1.xml" Id="R9e4d240a1c2b4b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90890e670b4802" /><Relationship Type="http://schemas.openxmlformats.org/officeDocument/2006/relationships/notesMaster" Target="/ppt/notesMasters/notesMaster1.xml" Id="Rf06930edd62243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03375c014f42b2" /><Relationship Type="http://schemas.openxmlformats.org/officeDocument/2006/relationships/notesMaster" Target="/ppt/notesMasters/notesMaster1.xml" Id="Rc21f2ebdb28a42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bd30fbf2c14624" /><Relationship Type="http://schemas.openxmlformats.org/officeDocument/2006/relationships/notesMaster" Target="/ppt/notesMasters/notesMaster1.xml" Id="R8163e87e93a743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Concept-stage investment proposal. No existing licence, partner commitment, live payment service or customer traction is asserted. All financial amounts are LYD.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pain points are hypotheses, not findings from completed research. Commission interviews before product scope and pricing are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S3, page 6. Historical national payments data, not current tazdan metrics. https://cbl.gov.ly/en/wp-content/uploads/sites/4/2025/12/Revenue-and-Expenditure-Statemen-from-1st-Jan-to-30-Nov-2025.pdf</a:t>
            </a:r>
          </a:p>
          <a:p xmlns:a="http://schemas.openxmlformats.org/drawingml/2006/main">
            <a:r>
              <a:t>No conversion from national transaction value to tazdan revenue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user-provided repository screenshot, kept unchanged. Legacy currencies and crypto UI are concept content, not live services or pricing. Domestic LYD payments form the financial base case; crypto and remittance access require separate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phases. Domestic authority does not imply permission for international services. Sources S1, S4 and S5.</a:t>
            </a:r>
          </a:p>
          <a:p xmlns:a="http://schemas.openxmlformats.org/drawingml/2006/main">
            <a:r>
              <a:t>S1: Central Bank of Libya, electronic payments and approved providers directory</a:t>
            </a:r>
          </a:p>
          <a:p xmlns:a="http://schemas.openxmlformats.org/drawingml/2006/main">
            <a:r>
              <a:t>https://cbl.gov.ly/electronic-payment/</a:t>
            </a:r>
          </a:p>
          <a:p xmlns:a="http://schemas.openxmlformats.org/drawingml/2006/main">
            <a:r>
              <a:t>Accessed 21 September 2026. Licence categories and listed expiry dates require direct reconfirmation.</a:t>
            </a:r>
          </a:p>
          <a:p xmlns:a="http://schemas.openxmlformats.org/drawingml/2006/main">
            <a:r>
              <a:t/>
            </a:r>
          </a:p>
          <a:p xmlns:a="http://schemas.openxmlformats.org/drawingml/2006/main">
            <a:r>
              <a:t>S2: Central Bank of Libya, National Financial Inclusion Strategy 2025–2029 announcement</a:t>
            </a:r>
          </a:p>
          <a:p xmlns:a="http://schemas.openxmlformats.org/drawingml/2006/main">
            <a:r>
              <a:t>https://cbl.gov.ly/en/governor-of-the-central-bank-of-libya-announces-from-tripoli-the-launch-of-the-national-financial-inclusion-strategy-and-a-number-of-transformative-projects-during-the-opening-of-the-electronic-paymen/</a:t>
            </a:r>
          </a:p>
          <a:p xmlns:a="http://schemas.openxmlformats.org/drawingml/2006/main">
            <a:r>
              <a:t>Accessed 21 September 2026. Policy direction does not confer authorisation on tazdan.</a:t>
            </a:r>
          </a:p>
          <a:p xmlns:a="http://schemas.openxmlformats.org/drawingml/2006/main">
            <a:r>
              <a:t/>
            </a:r>
          </a:p>
          <a:p xmlns:a="http://schemas.openxmlformats.org/drawingml/2006/main">
            <a:r>
              <a:t>S3: Central Bank of Libya, revenue and expenditure statement through 30 November 2025, page 6</a:t>
            </a:r>
          </a:p>
          <a:p xmlns:a="http://schemas.openxmlformats.org/drawingml/2006/main">
            <a:r>
              <a:t>https://cbl.gov.ly/en/wp-content/uploads/sites/4/2025/12/Revenue-and-Expenditure-Statemen-from-1st-Jan-to-30-Nov-2025.pdf</a:t>
            </a:r>
          </a:p>
          <a:p xmlns:a="http://schemas.openxmlformats.org/drawingml/2006/main">
            <a:r>
              <a:t>Historical baseline, not a September 2026 market count.</a:t>
            </a:r>
          </a:p>
          <a:p xmlns:a="http://schemas.openxmlformats.org/drawingml/2006/main">
            <a:r>
              <a:t/>
            </a:r>
          </a:p>
          <a:p xmlns:a="http://schemas.openxmlformats.org/drawingml/2006/main">
            <a:r>
              <a:t>S4: IMF, Libya 2025 Article IV Consultation, Informational Annex</a:t>
            </a:r>
          </a:p>
          <a:p xmlns:a="http://schemas.openxmlformats.org/drawingml/2006/main">
            <a:r>
              <a:t>https://www.elibrary.imf.org/view/journals/002/2025/148/article-A002-en.xml</a:t>
            </a:r>
          </a:p>
          <a:p xmlns:a="http://schemas.openxmlformats.org/drawingml/2006/main">
            <a:r>
              <a:t>Published 25 June 2025. Historical description of exchange restrictions, not a current transaction permission.</a:t>
            </a:r>
          </a:p>
          <a:p xmlns:a="http://schemas.openxmlformats.org/drawingml/2006/main">
            <a:r>
              <a:t/>
            </a:r>
          </a:p>
          <a:p xmlns:a="http://schemas.openxmlformats.org/drawingml/2006/main">
            <a:r>
              <a:t>S5: Central Bank of Libya, Regulatory Rules of the Libyan National Payment Scheme</a:t>
            </a:r>
          </a:p>
          <a:p xmlns:a="http://schemas.openxmlformats.org/drawingml/2006/main">
            <a:r>
              <a:t>https://cbl.gov.ly/micifaf/2024/01/القواعد-التنظيمية-لشبكة-الدفع-المحلية-الليبية.pdf</a:t>
            </a:r>
          </a:p>
          <a:p xmlns:a="http://schemas.openxmlformats.org/drawingml/2006/main">
            <a:r>
              <a:t>Published on the CBL site in January 2024. Partner scope and subsequent amendments need counsel confirmation.</a:t>
            </a:r>
          </a:p>
          <a:p xmlns:a="http://schemas.openxmlformats.org/drawingml/2006/main">
            <a:r>
              <a:t/>
            </a:r>
          </a:p>
          <a:p xmlns:a="http://schemas.openxmlformats.org/drawingml/2006/main">
            <a:r>
              <a:t>S7: FATF, virtual assets and virtual asset service providers</a:t>
            </a:r>
          </a:p>
          <a:p xmlns:a="http://schemas.openxmlformats.org/drawingml/2006/main">
            <a:r>
              <a:t>https://www.fatf-gafi.org/en/topics/virtual-assets.html</a:t>
            </a:r>
          </a:p>
          <a:p xmlns:a="http://schemas.openxmlformats.org/drawingml/2006/main">
            <a:r>
              <a:t>Accessed 21 September 2026. International AML standard-setting guidance, not a Libyan operating licence.</a:t>
            </a:r>
          </a:p>
          <a:p xmlns:a="http://schemas.openxmlformats.org/drawingml/2006/main">
            <a:r>
              <a:t/>
            </a:r>
          </a:p>
          <a:p xmlns:a="http://schemas.openxmlformats.org/drawingml/2006/main">
            <a:r>
              <a:t>S8: Libyan News Agency, financial inclusion strategy announcement</a:t>
            </a:r>
          </a:p>
          <a:p xmlns:a="http://schemas.openxmlformats.org/drawingml/2006/main">
            <a:r>
              <a:t>https://lana.gov.ly/post.php?id=334548&amp;lang=en</a:t>
            </a:r>
          </a:p>
          <a:p xmlns:a="http://schemas.openxmlformats.org/drawingml/2006/main">
            <a:r>
              <a:t>15 June 2025. Reports preparation of a digital-currency framework, not permission to launch a crypto service.</a:t>
            </a:r>
          </a:p>
          <a:p xmlns:a="http://schemas.openxmlformats.org/drawingml/2006/main">
            <a:r>
              <a:t/>
            </a:r>
          </a:p>
          <a:p xmlns:a="http://schemas.openxmlformats.org/drawingml/2006/main">
            <a:r>
              <a:t>S9: Libya Herald, CBL warning on virtual currencies</a:t>
            </a:r>
          </a:p>
          <a:p xmlns:a="http://schemas.openxmlformats.org/drawingml/2006/main">
            <a:r>
              <a:t>https://libyaherald.com/2018/05/cbl-warns-that-dealing-in-virtual-currencies-such-as-bitcoin-are-illegal-in-libya/</a:t>
            </a:r>
          </a:p>
          <a:p xmlns:a="http://schemas.openxmlformats.org/drawingml/2006/main">
            <a:r>
              <a:t>17 May 2018. Historical secondary reporting. Requires current primary legal confirmation.</a:t>
            </a:r>
          </a:p>
          <a:p xmlns:a="http://schemas.openxmlformats.org/drawingml/2006/main">
            <a:r>
              <a:t/>
            </a:r>
          </a:p>
          <a:p xmlns:a="http://schemas.openxmlformats.org/drawingml/2006/main">
            <a:r>
              <a:t>S6: World Bank, Libya Economic Monitor release</a:t>
            </a:r>
          </a:p>
          <a:p xmlns:a="http://schemas.openxmlformats.org/drawingml/2006/main">
            <a:r>
              <a:t>https://www.worldbank.org/en/news/press-release/2025/12/17/libya-sustained-strong-growth-requires-structural-change-to-improve-transparency-and-public-financial-management</a:t>
            </a:r>
          </a:p>
          <a:p xmlns:a="http://schemas.openxmlformats.org/drawingml/2006/main">
            <a:r>
              <a:t>Published 17 December 2025. Macroeconomic context, not a forecast of payment-app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geographic choices and pilot targets are planning assumptions. The 1.50m LYD marketing budget cannot independently acquire the full growth target. Partner distribution and organic retention must be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prices match the landing-site fees page and feasibility study. Consumer Plus subscription is 15 LYD monthly, merchant subscription 49 LYD monthly. Signup is free. No live tariff or pricing approval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CBL rules do not determine tazdan's exact licence, fees or capital requirement. Obtain a current local legal opinion and written regulator/partner clarification. Sources S1, S4, S5.</a:t>
            </a:r>
          </a:p>
          <a:p xmlns:a="http://schemas.openxmlformats.org/drawingml/2006/main">
            <a:r>
              <a:t>S1: Central Bank of Libya, electronic payments and approved providers directory</a:t>
            </a:r>
          </a:p>
          <a:p xmlns:a="http://schemas.openxmlformats.org/drawingml/2006/main">
            <a:r>
              <a:t>https://cbl.gov.ly/electronic-payment/</a:t>
            </a:r>
          </a:p>
          <a:p xmlns:a="http://schemas.openxmlformats.org/drawingml/2006/main">
            <a:r>
              <a:t>Accessed 21 September 2026. Licence categories and listed expiry dates require direct reconfirmation.</a:t>
            </a:r>
          </a:p>
          <a:p xmlns:a="http://schemas.openxmlformats.org/drawingml/2006/main">
            <a:r>
              <a:t/>
            </a:r>
          </a:p>
          <a:p xmlns:a="http://schemas.openxmlformats.org/drawingml/2006/main">
            <a:r>
              <a:t>S2: Central Bank of Libya, National Financial Inclusion Strategy 2025–2029 announcement</a:t>
            </a:r>
          </a:p>
          <a:p xmlns:a="http://schemas.openxmlformats.org/drawingml/2006/main">
            <a:r>
              <a:t>https://cbl.gov.ly/en/governor-of-the-central-bank-of-libya-announces-from-tripoli-the-launch-of-the-national-financial-inclusion-strategy-and-a-number-of-transformative-projects-during-the-opening-of-the-electronic-paymen/</a:t>
            </a:r>
          </a:p>
          <a:p xmlns:a="http://schemas.openxmlformats.org/drawingml/2006/main">
            <a:r>
              <a:t>Accessed 21 September 2026. Policy direction does not confer authorisation on tazdan.</a:t>
            </a:r>
          </a:p>
          <a:p xmlns:a="http://schemas.openxmlformats.org/drawingml/2006/main">
            <a:r>
              <a:t/>
            </a:r>
          </a:p>
          <a:p xmlns:a="http://schemas.openxmlformats.org/drawingml/2006/main">
            <a:r>
              <a:t>S3: Central Bank of Libya, revenue and expenditure statement through 30 November 2025, page 6</a:t>
            </a:r>
          </a:p>
          <a:p xmlns:a="http://schemas.openxmlformats.org/drawingml/2006/main">
            <a:r>
              <a:t>https://cbl.gov.ly/en/wp-content/uploads/sites/4/2025/12/Revenue-and-Expenditure-Statemen-from-1st-Jan-to-30-Nov-2025.pdf</a:t>
            </a:r>
          </a:p>
          <a:p xmlns:a="http://schemas.openxmlformats.org/drawingml/2006/main">
            <a:r>
              <a:t>Historical baseline, not a September 2026 market count.</a:t>
            </a:r>
          </a:p>
          <a:p xmlns:a="http://schemas.openxmlformats.org/drawingml/2006/main">
            <a:r>
              <a:t/>
            </a:r>
          </a:p>
          <a:p xmlns:a="http://schemas.openxmlformats.org/drawingml/2006/main">
            <a:r>
              <a:t>S4: IMF, Libya 2025 Article IV Consultation, Informational Annex</a:t>
            </a:r>
          </a:p>
          <a:p xmlns:a="http://schemas.openxmlformats.org/drawingml/2006/main">
            <a:r>
              <a:t>https://www.elibrary.imf.org/view/journals/002/2025/148/article-A002-en.xml</a:t>
            </a:r>
          </a:p>
          <a:p xmlns:a="http://schemas.openxmlformats.org/drawingml/2006/main">
            <a:r>
              <a:t>Published 25 June 2025. Historical description of exchange restrictions, not a current transaction permission.</a:t>
            </a:r>
          </a:p>
          <a:p xmlns:a="http://schemas.openxmlformats.org/drawingml/2006/main">
            <a:r>
              <a:t/>
            </a:r>
          </a:p>
          <a:p xmlns:a="http://schemas.openxmlformats.org/drawingml/2006/main">
            <a:r>
              <a:t>S5: Central Bank of Libya, Regulatory Rules of the Libyan National Payment Scheme</a:t>
            </a:r>
          </a:p>
          <a:p xmlns:a="http://schemas.openxmlformats.org/drawingml/2006/main">
            <a:r>
              <a:t>https://cbl.gov.ly/micifaf/2024/01/القواعد-التنظيمية-لشبكة-الدفع-المحلية-الليبية.pdf</a:t>
            </a:r>
          </a:p>
          <a:p xmlns:a="http://schemas.openxmlformats.org/drawingml/2006/main">
            <a:r>
              <a:t>Published on the CBL site in January 2024. Partner scope and subsequent amendments need counsel confirmation.</a:t>
            </a:r>
          </a:p>
          <a:p xmlns:a="http://schemas.openxmlformats.org/drawingml/2006/main">
            <a:r>
              <a:t/>
            </a:r>
          </a:p>
          <a:p xmlns:a="http://schemas.openxmlformats.org/drawingml/2006/main">
            <a:r>
              <a:t>S7: FATF, virtual assets and virtual asset service providers</a:t>
            </a:r>
          </a:p>
          <a:p xmlns:a="http://schemas.openxmlformats.org/drawingml/2006/main">
            <a:r>
              <a:t>https://www.fatf-gafi.org/en/topics/virtual-assets.html</a:t>
            </a:r>
          </a:p>
          <a:p xmlns:a="http://schemas.openxmlformats.org/drawingml/2006/main">
            <a:r>
              <a:t>Accessed 21 September 2026. International AML standard-setting guidance, not a Libyan operating licence.</a:t>
            </a:r>
          </a:p>
          <a:p xmlns:a="http://schemas.openxmlformats.org/drawingml/2006/main">
            <a:r>
              <a:t/>
            </a:r>
          </a:p>
          <a:p xmlns:a="http://schemas.openxmlformats.org/drawingml/2006/main">
            <a:r>
              <a:t>S8: Libyan News Agency, financial inclusion strategy announcement</a:t>
            </a:r>
          </a:p>
          <a:p xmlns:a="http://schemas.openxmlformats.org/drawingml/2006/main">
            <a:r>
              <a:t>https://lana.gov.ly/post.php?id=334548&amp;lang=en</a:t>
            </a:r>
          </a:p>
          <a:p xmlns:a="http://schemas.openxmlformats.org/drawingml/2006/main">
            <a:r>
              <a:t>15 June 2025. Reports preparation of a digital-currency framework, not permission to launch a crypto service.</a:t>
            </a:r>
          </a:p>
          <a:p xmlns:a="http://schemas.openxmlformats.org/drawingml/2006/main">
            <a:r>
              <a:t/>
            </a:r>
          </a:p>
          <a:p xmlns:a="http://schemas.openxmlformats.org/drawingml/2006/main">
            <a:r>
              <a:t>S9: Libya Herald, CBL warning on virtual currencies</a:t>
            </a:r>
          </a:p>
          <a:p xmlns:a="http://schemas.openxmlformats.org/drawingml/2006/main">
            <a:r>
              <a:t>https://libyaherald.com/2018/05/cbl-warns-that-dealing-in-virtual-currencies-such-as-bitcoin-are-illegal-in-libya/</a:t>
            </a:r>
          </a:p>
          <a:p xmlns:a="http://schemas.openxmlformats.org/drawingml/2006/main">
            <a:r>
              <a:t>17 May 2018. Historical secondary reporting. Requires current primary legal confirmation.</a:t>
            </a:r>
          </a:p>
          <a:p xmlns:a="http://schemas.openxmlformats.org/drawingml/2006/main">
            <a:r>
              <a:t/>
            </a:r>
          </a:p>
          <a:p xmlns:a="http://schemas.openxmlformats.org/drawingml/2006/main">
            <a:r>
              <a:t>S6: World Bank, Libya Economic Monitor release</a:t>
            </a:r>
          </a:p>
          <a:p xmlns:a="http://schemas.openxmlformats.org/drawingml/2006/main">
            <a:r>
              <a:t>https://www.worldbank.org/en/news/press-release/2025/12/17/libya-sustained-strong-growth-requires-structural-change-to-improve-transparency-and-public-financial-management</a:t>
            </a:r>
          </a:p>
          <a:p xmlns:a="http://schemas.openxmlformats.org/drawingml/2006/main">
            <a:r>
              <a:t>Published 17 December 2025. Macroeconomic context, not a forecast of payment-app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Legal/licensing work 1.50 + security assurance 0.90 + partner setup 0.90 = 3.30. Cloud 1.20 + acquisition 1.50 + office/admin 0.60 = 3.30. Fixed budget Years 1 and 2: 8.40 + 6.60 = 15.00m. Separate engineering from operational payroll.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Capital and collateral are balance-sheet provisions, not operating expenses. The 5.00m is not a verified statutory minimum and the licensing-work allowance is not an official fee. Funding target reconciles exactly. Customer balances are excluded from company funding.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 average customers, not year-end totals. Y1/2/3: Plus share 10/15/20%; paying merchants 200/800/2500; eligible monthly user spend 600/800/1000 LYD; gross take .6/.7/.8%; processing and loss cost .3%; user service 1.5 LYD monthly and merchant service 10 LYD monthly. Fixed spend first 24m totals15m. Y1 requires a faster approved ramp than a late pilot. Full formulas and caveats in feasibility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Consumer contribution = 1000*.008 + .20*15 -1000*.003 -1.5 =6.5 LYD monthly. Merchant margin49-10=39 LYD. Break-even=(700000-2500*39)/6.5=92692.3077, round up92693. No customer acquisition, churn or tax is embedded in the contribution number. Illustrative CAC40 LYD gives6.15 month simple mature payback.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Delay .625m monthly average fixed burn*6=3.75m. FX/vendor25% shock*40% imported share*15m fixed cost=1.5m. Downside:60k consumers,1250 merchants,600LYD monthly spend,.6%gross take,.4%processing/loss,10%paid share,8.4m fixed spending. Revenue4.407m,variable2.958m,result-6.951m. Settlement1.44bn/365*2=7.89m. No exchange rate quote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provision: custody/wallet setup0.45m, analytics/Travel Rule0.60m, corridor legal/diligence0.75m, security0.60m, payout integrations0.60m =3.00m plus35%=4.05m. These are estimates, not quotes. 5000 monthly transfers of1000LYD at1.5%fee, .9%provider cost and2LYD per-transfer cost yield20000LYD monthly contribution before fixed costs, insufficient alone to justify expansion. Current Libyan crypto permission is unverified; no foreign licence alone authorises domestic service. Sources S7-S9 and feasibility study.</a:t>
            </a:r>
          </a:p>
          <a:p xmlns:a="http://schemas.openxmlformats.org/drawingml/2006/main">
            <a:r>
              <a:t>S1: Central Bank of Libya, electronic payments and approved providers directory</a:t>
            </a:r>
          </a:p>
          <a:p xmlns:a="http://schemas.openxmlformats.org/drawingml/2006/main">
            <a:r>
              <a:t>https://cbl.gov.ly/electronic-payment/</a:t>
            </a:r>
          </a:p>
          <a:p xmlns:a="http://schemas.openxmlformats.org/drawingml/2006/main">
            <a:r>
              <a:t>Accessed 21 September 2026. Licence categories and listed expiry dates require direct reconfirmation.</a:t>
            </a:r>
          </a:p>
          <a:p xmlns:a="http://schemas.openxmlformats.org/drawingml/2006/main">
            <a:r>
              <a:t/>
            </a:r>
          </a:p>
          <a:p xmlns:a="http://schemas.openxmlformats.org/drawingml/2006/main">
            <a:r>
              <a:t>S2: Central Bank of Libya, National Financial Inclusion Strategy 2025–2029 announcement</a:t>
            </a:r>
          </a:p>
          <a:p xmlns:a="http://schemas.openxmlformats.org/drawingml/2006/main">
            <a:r>
              <a:t>https://cbl.gov.ly/en/governor-of-the-central-bank-of-libya-announces-from-tripoli-the-launch-of-the-national-financial-inclusion-strategy-and-a-number-of-transformative-projects-during-the-opening-of-the-electronic-paymen/</a:t>
            </a:r>
          </a:p>
          <a:p xmlns:a="http://schemas.openxmlformats.org/drawingml/2006/main">
            <a:r>
              <a:t>Accessed 21 September 2026. Policy direction does not confer authorisation on tazdan.</a:t>
            </a:r>
          </a:p>
          <a:p xmlns:a="http://schemas.openxmlformats.org/drawingml/2006/main">
            <a:r>
              <a:t/>
            </a:r>
          </a:p>
          <a:p xmlns:a="http://schemas.openxmlformats.org/drawingml/2006/main">
            <a:r>
              <a:t>S3: Central Bank of Libya, revenue and expenditure statement through 30 November 2025, page 6</a:t>
            </a:r>
          </a:p>
          <a:p xmlns:a="http://schemas.openxmlformats.org/drawingml/2006/main">
            <a:r>
              <a:t>https://cbl.gov.ly/en/wp-content/uploads/sites/4/2025/12/Revenue-and-Expenditure-Statemen-from-1st-Jan-to-30-Nov-2025.pdf</a:t>
            </a:r>
          </a:p>
          <a:p xmlns:a="http://schemas.openxmlformats.org/drawingml/2006/main">
            <a:r>
              <a:t>Historical baseline, not a September 2026 market count.</a:t>
            </a:r>
          </a:p>
          <a:p xmlns:a="http://schemas.openxmlformats.org/drawingml/2006/main">
            <a:r>
              <a:t/>
            </a:r>
          </a:p>
          <a:p xmlns:a="http://schemas.openxmlformats.org/drawingml/2006/main">
            <a:r>
              <a:t>S4: IMF, Libya 2025 Article IV Consultation, Informational Annex</a:t>
            </a:r>
          </a:p>
          <a:p xmlns:a="http://schemas.openxmlformats.org/drawingml/2006/main">
            <a:r>
              <a:t>https://www.elibrary.imf.org/view/journals/002/2025/148/article-A002-en.xml</a:t>
            </a:r>
          </a:p>
          <a:p xmlns:a="http://schemas.openxmlformats.org/drawingml/2006/main">
            <a:r>
              <a:t>Published 25 June 2025. Historical description of exchange restrictions, not a current transaction permission.</a:t>
            </a:r>
          </a:p>
          <a:p xmlns:a="http://schemas.openxmlformats.org/drawingml/2006/main">
            <a:r>
              <a:t/>
            </a:r>
          </a:p>
          <a:p xmlns:a="http://schemas.openxmlformats.org/drawingml/2006/main">
            <a:r>
              <a:t>S5: Central Bank of Libya, Regulatory Rules of the Libyan National Payment Scheme</a:t>
            </a:r>
          </a:p>
          <a:p xmlns:a="http://schemas.openxmlformats.org/drawingml/2006/main">
            <a:r>
              <a:t>https://cbl.gov.ly/micifaf/2024/01/القواعد-التنظيمية-لشبكة-الدفع-المحلية-الليبية.pdf</a:t>
            </a:r>
          </a:p>
          <a:p xmlns:a="http://schemas.openxmlformats.org/drawingml/2006/main">
            <a:r>
              <a:t>Published on the CBL site in January 2024. Partner scope and subsequent amendments need counsel confirmation.</a:t>
            </a:r>
          </a:p>
          <a:p xmlns:a="http://schemas.openxmlformats.org/drawingml/2006/main">
            <a:r>
              <a:t/>
            </a:r>
          </a:p>
          <a:p xmlns:a="http://schemas.openxmlformats.org/drawingml/2006/main">
            <a:r>
              <a:t>S7: FATF, virtual assets and virtual asset service providers</a:t>
            </a:r>
          </a:p>
          <a:p xmlns:a="http://schemas.openxmlformats.org/drawingml/2006/main">
            <a:r>
              <a:t>https://www.fatf-gafi.org/en/topics/virtual-assets.html</a:t>
            </a:r>
          </a:p>
          <a:p xmlns:a="http://schemas.openxmlformats.org/drawingml/2006/main">
            <a:r>
              <a:t>Accessed 21 September 2026. International AML standard-setting guidance, not a Libyan operating licence.</a:t>
            </a:r>
          </a:p>
          <a:p xmlns:a="http://schemas.openxmlformats.org/drawingml/2006/main">
            <a:r>
              <a:t/>
            </a:r>
          </a:p>
          <a:p xmlns:a="http://schemas.openxmlformats.org/drawingml/2006/main">
            <a:r>
              <a:t>S8: Libyan News Agency, financial inclusion strategy announcement</a:t>
            </a:r>
          </a:p>
          <a:p xmlns:a="http://schemas.openxmlformats.org/drawingml/2006/main">
            <a:r>
              <a:t>https://lana.gov.ly/post.php?id=334548&amp;lang=en</a:t>
            </a:r>
          </a:p>
          <a:p xmlns:a="http://schemas.openxmlformats.org/drawingml/2006/main">
            <a:r>
              <a:t>15 June 2025. Reports preparation of a digital-currency framework, not permission to launch a crypto service.</a:t>
            </a:r>
          </a:p>
          <a:p xmlns:a="http://schemas.openxmlformats.org/drawingml/2006/main">
            <a:r>
              <a:t/>
            </a:r>
          </a:p>
          <a:p xmlns:a="http://schemas.openxmlformats.org/drawingml/2006/main">
            <a:r>
              <a:t>S9: Libya Herald, CBL warning on virtual currencies</a:t>
            </a:r>
          </a:p>
          <a:p xmlns:a="http://schemas.openxmlformats.org/drawingml/2006/main">
            <a:r>
              <a:t>https://libyaherald.com/2018/05/cbl-warns-that-dealing-in-virtual-currencies-such-as-bitcoin-are-illegal-in-libya/</a:t>
            </a:r>
          </a:p>
          <a:p xmlns:a="http://schemas.openxmlformats.org/drawingml/2006/main">
            <a:r>
              <a:t>17 May 2018. Historical secondary reporting. Requires current primary legal confirmation.</a:t>
            </a:r>
          </a:p>
          <a:p xmlns:a="http://schemas.openxmlformats.org/drawingml/2006/main">
            <a:r>
              <a:t/>
            </a:r>
          </a:p>
          <a:p xmlns:a="http://schemas.openxmlformats.org/drawingml/2006/main">
            <a:r>
              <a:t>S6: World Bank, Libya Economic Monitor release</a:t>
            </a:r>
          </a:p>
          <a:p xmlns:a="http://schemas.openxmlformats.org/drawingml/2006/main">
            <a:r>
              <a:t>https://www.worldbank.org/en/news/press-release/2025/12/17/libya-sustained-strong-growth-requires-structural-change-to-improve-transparency-and-public-financial-management</a:t>
            </a:r>
          </a:p>
          <a:p xmlns:a="http://schemas.openxmlformats.org/drawingml/2006/main">
            <a:r>
              <a:t>Published 17 December 2025. Macroeconomic context, not a forecast of payment-app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Tranches are proposed, not financing commitments. Do not accept customer funds before the approved scope and safeguarding requirements are met. No founder credentials or claimed traction are invented. Evidence references and complete model appear in the accompanying feasibility study.</a:t>
            </a:r>
          </a:p>
          <a:p xmlns:a="http://schemas.openxmlformats.org/drawingml/2006/main">
            <a:r>
              <a:t>S1: Central Bank of Libya, electronic payments and approved providers directory</a:t>
            </a:r>
          </a:p>
          <a:p xmlns:a="http://schemas.openxmlformats.org/drawingml/2006/main">
            <a:r>
              <a:t>https://cbl.gov.ly/electronic-payment/</a:t>
            </a:r>
          </a:p>
          <a:p xmlns:a="http://schemas.openxmlformats.org/drawingml/2006/main">
            <a:r>
              <a:t>Accessed 21 September 2026. Licence categories and listed expiry dates require direct reconfirmation.</a:t>
            </a:r>
          </a:p>
          <a:p xmlns:a="http://schemas.openxmlformats.org/drawingml/2006/main">
            <a:r>
              <a:t/>
            </a:r>
          </a:p>
          <a:p xmlns:a="http://schemas.openxmlformats.org/drawingml/2006/main">
            <a:r>
              <a:t>S2: Central Bank of Libya, National Financial Inclusion Strategy 2025–2029 announcement</a:t>
            </a:r>
          </a:p>
          <a:p xmlns:a="http://schemas.openxmlformats.org/drawingml/2006/main">
            <a:r>
              <a:t>https://cbl.gov.ly/en/governor-of-the-central-bank-of-libya-announces-from-tripoli-the-launch-of-the-national-financial-inclusion-strategy-and-a-number-of-transformative-projects-during-the-opening-of-the-electronic-paymen/</a:t>
            </a:r>
          </a:p>
          <a:p xmlns:a="http://schemas.openxmlformats.org/drawingml/2006/main">
            <a:r>
              <a:t>Accessed 21 September 2026. Policy direction does not confer authorisation on tazdan.</a:t>
            </a:r>
          </a:p>
          <a:p xmlns:a="http://schemas.openxmlformats.org/drawingml/2006/main">
            <a:r>
              <a:t/>
            </a:r>
          </a:p>
          <a:p xmlns:a="http://schemas.openxmlformats.org/drawingml/2006/main">
            <a:r>
              <a:t>S3: Central Bank of Libya, revenue and expenditure statement through 30 November 2025, page 6</a:t>
            </a:r>
          </a:p>
          <a:p xmlns:a="http://schemas.openxmlformats.org/drawingml/2006/main">
            <a:r>
              <a:t>https://cbl.gov.ly/en/wp-content/uploads/sites/4/2025/12/Revenue-and-Expenditure-Statemen-from-1st-Jan-to-30-Nov-2025.pdf</a:t>
            </a:r>
          </a:p>
          <a:p xmlns:a="http://schemas.openxmlformats.org/drawingml/2006/main">
            <a:r>
              <a:t>Historical baseline, not a September 2026 market count.</a:t>
            </a:r>
          </a:p>
          <a:p xmlns:a="http://schemas.openxmlformats.org/drawingml/2006/main">
            <a:r>
              <a:t/>
            </a:r>
          </a:p>
          <a:p xmlns:a="http://schemas.openxmlformats.org/drawingml/2006/main">
            <a:r>
              <a:t>S4: IMF, Libya 2025 Article IV Consultation, Informational Annex</a:t>
            </a:r>
          </a:p>
          <a:p xmlns:a="http://schemas.openxmlformats.org/drawingml/2006/main">
            <a:r>
              <a:t>https://www.elibrary.imf.org/view/journals/002/2025/148/article-A002-en.xml</a:t>
            </a:r>
          </a:p>
          <a:p xmlns:a="http://schemas.openxmlformats.org/drawingml/2006/main">
            <a:r>
              <a:t>Published 25 June 2025. Historical description of exchange restrictions, not a current transaction permission.</a:t>
            </a:r>
          </a:p>
          <a:p xmlns:a="http://schemas.openxmlformats.org/drawingml/2006/main">
            <a:r>
              <a:t/>
            </a:r>
          </a:p>
          <a:p xmlns:a="http://schemas.openxmlformats.org/drawingml/2006/main">
            <a:r>
              <a:t>S5: Central Bank of Libya, Regulatory Rules of the Libyan National Payment Scheme</a:t>
            </a:r>
          </a:p>
          <a:p xmlns:a="http://schemas.openxmlformats.org/drawingml/2006/main">
            <a:r>
              <a:t>https://cbl.gov.ly/micifaf/2024/01/القواعد-التنظيمية-لشبكة-الدفع-المحلية-الليبية.pdf</a:t>
            </a:r>
          </a:p>
          <a:p xmlns:a="http://schemas.openxmlformats.org/drawingml/2006/main">
            <a:r>
              <a:t>Published on the CBL site in January 2024. Partner scope and subsequent amendments need counsel confirmation.</a:t>
            </a:r>
          </a:p>
          <a:p xmlns:a="http://schemas.openxmlformats.org/drawingml/2006/main">
            <a:r>
              <a:t/>
            </a:r>
          </a:p>
          <a:p xmlns:a="http://schemas.openxmlformats.org/drawingml/2006/main">
            <a:r>
              <a:t>S7: FATF, virtual assets and virtual asset service providers</a:t>
            </a:r>
          </a:p>
          <a:p xmlns:a="http://schemas.openxmlformats.org/drawingml/2006/main">
            <a:r>
              <a:t>https://www.fatf-gafi.org/en/topics/virtual-assets.html</a:t>
            </a:r>
          </a:p>
          <a:p xmlns:a="http://schemas.openxmlformats.org/drawingml/2006/main">
            <a:r>
              <a:t>Accessed 21 September 2026. International AML standard-setting guidance, not a Libyan operating licence.</a:t>
            </a:r>
          </a:p>
          <a:p xmlns:a="http://schemas.openxmlformats.org/drawingml/2006/main">
            <a:r>
              <a:t/>
            </a:r>
          </a:p>
          <a:p xmlns:a="http://schemas.openxmlformats.org/drawingml/2006/main">
            <a:r>
              <a:t>S8: Libyan News Agency, financial inclusion strategy announcement</a:t>
            </a:r>
          </a:p>
          <a:p xmlns:a="http://schemas.openxmlformats.org/drawingml/2006/main">
            <a:r>
              <a:t>https://lana.gov.ly/post.php?id=334548&amp;lang=en</a:t>
            </a:r>
          </a:p>
          <a:p xmlns:a="http://schemas.openxmlformats.org/drawingml/2006/main">
            <a:r>
              <a:t>15 June 2025. Reports preparation of a digital-currency framework, not permission to launch a crypto service.</a:t>
            </a:r>
          </a:p>
          <a:p xmlns:a="http://schemas.openxmlformats.org/drawingml/2006/main">
            <a:r>
              <a:t/>
            </a:r>
          </a:p>
          <a:p xmlns:a="http://schemas.openxmlformats.org/drawingml/2006/main">
            <a:r>
              <a:t>S9: Libya Herald, CBL warning on virtual currencies</a:t>
            </a:r>
          </a:p>
          <a:p xmlns:a="http://schemas.openxmlformats.org/drawingml/2006/main">
            <a:r>
              <a:t>https://libyaherald.com/2018/05/cbl-warns-that-dealing-in-virtual-currencies-such-as-bitcoin-are-illegal-in-libya/</a:t>
            </a:r>
          </a:p>
          <a:p xmlns:a="http://schemas.openxmlformats.org/drawingml/2006/main">
            <a:r>
              <a:t>17 May 2018. Historical secondary reporting. Requires current primary legal confirmation.</a:t>
            </a:r>
          </a:p>
          <a:p xmlns:a="http://schemas.openxmlformats.org/drawingml/2006/main">
            <a:r>
              <a:t/>
            </a:r>
          </a:p>
          <a:p xmlns:a="http://schemas.openxmlformats.org/drawingml/2006/main">
            <a:r>
              <a:t>S6: World Bank, Libya Economic Monitor release</a:t>
            </a:r>
          </a:p>
          <a:p xmlns:a="http://schemas.openxmlformats.org/drawingml/2006/main">
            <a:r>
              <a:t>https://www.worldbank.org/en/news/press-release/2025/12/17/libya-sustained-strong-growth-requires-structural-change-to-improve-transparency-and-public-financial-management</a:t>
            </a:r>
          </a:p>
          <a:p xmlns:a="http://schemas.openxmlformats.org/drawingml/2006/main">
            <a:r>
              <a:t>Published 17 December 2025. Macroeconomic context, not a forecast of payment-app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f48193dd9f4c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0bec7a7c83417e" /><Relationship Type="http://schemas.openxmlformats.org/officeDocument/2006/relationships/slideLayout" Target="/ppt/slideLayouts/slideLayout1.xml" Id="R43fd401190e44c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fd401190e44c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b30db7f76f4383" /><Relationship Type="http://schemas.openxmlformats.org/officeDocument/2006/relationships/image" Target="/ppt/media/image.png" Id="R7e4706ba46b24758" /><Relationship Type="http://schemas.openxmlformats.org/officeDocument/2006/relationships/notesSlide" Target="/ppt/notesSlides/notesSlide1.xml" Id="Ra8a8f657081148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fbe19ac901461d" /><Relationship Type="http://schemas.openxmlformats.org/officeDocument/2006/relationships/notesSlide" Target="/ppt/notesSlides/notesSlide2.xml" Id="Rf50bbbdb418c4b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b991edff774adc" /><Relationship Type="http://schemas.openxmlformats.org/officeDocument/2006/relationships/notesSlide" Target="/ppt/notesSlides/notesSlide3.xml" Id="Re9ede50a8afd4c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b8e80c0eda45d9" /><Relationship Type="http://schemas.openxmlformats.org/officeDocument/2006/relationships/image" Target="/ppt/media/image2.png" Id="R108cf1b045024d4e" /><Relationship Type="http://schemas.openxmlformats.org/officeDocument/2006/relationships/notesSlide" Target="/ppt/notesSlides/notesSlide4.xml" Id="Rc2515cef5b4442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38665d97f84b33" /><Relationship Type="http://schemas.openxmlformats.org/officeDocument/2006/relationships/notesSlide" Target="/ppt/notesSlides/notesSlide5.xml" Id="Rca39b3d2f2ba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294771b77c4772" /><Relationship Type="http://schemas.openxmlformats.org/officeDocument/2006/relationships/notesSlide" Target="/ppt/notesSlides/notesSlide6.xml" Id="R4c6f149b927345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a2b4f13f6a480f" /><Relationship Type="http://schemas.openxmlformats.org/officeDocument/2006/relationships/notesSlide" Target="/ppt/notesSlides/notesSlide7.xml" Id="R2b493563ef6543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c1b07518ee47c2" /><Relationship Type="http://schemas.openxmlformats.org/officeDocument/2006/relationships/notesSlide" Target="/ppt/notesSlides/notesSlide8.xml" Id="R977e990c61c44f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30bbe8ea0240b9" /><Relationship Type="http://schemas.openxmlformats.org/officeDocument/2006/relationships/notesSlide" Target="/ppt/notesSlides/notesSlide9.xml" Id="Rb645b371c2694f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72901716724cfa" /><Relationship Type="http://schemas.openxmlformats.org/officeDocument/2006/relationships/notesSlide" Target="/ppt/notesSlides/notesSlide10.xml" Id="R3928ef73a12b41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b1080dbc634115" /><Relationship Type="http://schemas.openxmlformats.org/officeDocument/2006/relationships/notesSlide" Target="/ppt/notesSlides/notesSlide11.xml" Id="Rb95332e259884e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36cc37c6a94987" /><Relationship Type="http://schemas.openxmlformats.org/officeDocument/2006/relationships/notesSlide" Target="/ppt/notesSlides/notesSlide12.xml" Id="Rab55c05158e948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c38b5e525f4865" /><Relationship Type="http://schemas.openxmlformats.org/officeDocument/2006/relationships/notesSlide" Target="/ppt/notesSlides/notesSlide13.xml" Id="Rbc611d7028df4d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6c38b95f254489c" /><Relationship Type="http://schemas.openxmlformats.org/officeDocument/2006/relationships/notesSlide" Target="/ppt/notesSlides/notesSlide14.xml" Id="R6a1740aece3643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62913d55314446" /><Relationship Type="http://schemas.openxmlformats.org/officeDocument/2006/relationships/notesSlide" Target="/ppt/notesSlides/notesSlide15.xml" Id="R9ce37ef554154ffe" /></Relationships>
</file>

<file path=ppt/slides/slide1.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ED0B40-7062-4F37-8B51-D1849E06F927}"/>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2" name="">
            <a:extLst xmlns:a="http://schemas.openxmlformats.org/drawingml/2006/main">
              <a:ext uri="{FF2B5EF4-FFF2-40B4-BE49-F238E27FC236}">
                <a16:creationId xmlns:a16="http://schemas.microsoft.com/office/drawing/2014/main" id="{AD168D3D-9CAD-4F70-859A-B7559779F205}"/>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e4706ba46b24758"/>
          <a:stretch xmlns:a="http://schemas.openxmlformats.org/drawingml/2006/main"/>
        </p:blipFill>
        <p:spPr>
          <a:xfrm xmlns:a="http://schemas.openxmlformats.org/drawingml/2006/main">
            <a:off x="666750" y="735386"/>
            <a:ext cx="2905125" cy="67235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03824A-3474-4A5D-9A1E-581C18BF34AE}"/>
              </a:ext>
            </a:extLst>
          </p:cNvPr>
          <p:cNvSpPr>
            <a:spLocks xmlns:a="http://schemas.openxmlformats.org/drawingml/2006/main" noGrp="1"/>
          </p:cNvSpPr>
          <p:nvPr/>
        </p:nvSpPr>
        <p:spPr>
          <a:xfrm xmlns:a="http://schemas.openxmlformats.org/drawingml/2006/main">
            <a:off x="666750" y="2190750"/>
            <a:ext cx="10382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5F6F8"/>
                </a:solidFill>
                <a:latin typeface="Arial"/>
                <a:ea typeface="Arial"/>
                <a:cs typeface="Arial"/>
              </a:defRPr>
            </a:pPr>
            <a:r>
              <a:rPr sz="5400" b="1">
                <a:solidFill>
                  <a:srgbClr val="F5F6F8"/>
                </a:solidFill>
                <a:latin typeface="Arial"/>
                <a:ea typeface="Arial"/>
                <a:cs typeface="Arial"/>
              </a:rPr>
              <a:t>Libya. Crypto.</a:t>
            </a:r>
          </a:p>
          <a:p xmlns:a="http://schemas.openxmlformats.org/drawingml/2006/main">
            <a:pPr>
              <a:defRPr sz="5400" b="1">
                <a:solidFill>
                  <a:srgbClr val="F5F6F8"/>
                </a:solidFill>
                <a:latin typeface="Arial"/>
                <a:ea typeface="Arial"/>
                <a:cs typeface="Arial"/>
              </a:defRPr>
            </a:pPr>
            <a:r>
              <a:rPr sz="5400" b="1">
                <a:solidFill>
                  <a:srgbClr val="F5F6F8"/>
                </a:solidFill>
                <a:latin typeface="Arial"/>
                <a:ea typeface="Arial"/>
                <a:cs typeface="Arial"/>
              </a:rPr>
              <a:t>Connected.</a:t>
            </a:r>
          </a:p>
        </p:txBody>
      </p:sp>
      <p:sp>
        <p:nvSpPr>
          <p:cNvPr id="5" name="">
            <a:extLst xmlns:a="http://schemas.openxmlformats.org/drawingml/2006/main">
              <a:ext uri="{FF2B5EF4-FFF2-40B4-BE49-F238E27FC236}">
                <a16:creationId xmlns:a16="http://schemas.microsoft.com/office/drawing/2014/main" id="{D5C70360-88C7-4E66-9772-DAD5893BC426}"/>
              </a:ext>
            </a:extLst>
          </p:cNvPr>
          <p:cNvSpPr>
            <a:spLocks xmlns:a="http://schemas.openxmlformats.org/drawingml/2006/main" noGrp="1"/>
          </p:cNvSpPr>
          <p:nvPr/>
        </p:nvSpPr>
        <p:spPr>
          <a:xfrm xmlns:a="http://schemas.openxmlformats.org/drawingml/2006/main">
            <a:off x="704850" y="4543425"/>
            <a:ext cx="914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EB9C7"/>
                </a:solidFill>
                <a:latin typeface="Arial"/>
                <a:ea typeface="Arial"/>
                <a:cs typeface="Arial"/>
              </a:defRPr>
            </a:pPr>
            <a:r>
              <a:rPr sz="2175" b="0">
                <a:solidFill>
                  <a:srgbClr val="AEB9C7"/>
                </a:solidFill>
                <a:latin typeface="Arial"/>
                <a:ea typeface="Arial"/>
                <a:cs typeface="Arial"/>
              </a:rPr>
              <a:t>Arab roots. Digital assets. International remittances. One connected money experience.</a:t>
            </a:r>
          </a:p>
        </p:txBody>
      </p:sp>
      <p:sp>
        <p:nvSpPr>
          <p:cNvPr id="6" name="">
            <a:extLst xmlns:a="http://schemas.openxmlformats.org/drawingml/2006/main">
              <a:ext uri="{FF2B5EF4-FFF2-40B4-BE49-F238E27FC236}">
                <a16:creationId xmlns:a16="http://schemas.microsoft.com/office/drawing/2014/main" id="{2017F88D-3795-4B5B-9B0D-DE28C17A4965}"/>
              </a:ext>
            </a:extLst>
          </p:cNvPr>
          <p:cNvSpPr>
            <a:spLocks xmlns:a="http://schemas.openxmlformats.org/drawingml/2006/main" noGrp="1"/>
          </p:cNvSpPr>
          <p:nvPr/>
        </p:nvSpPr>
        <p:spPr>
          <a:xfrm xmlns:a="http://schemas.openxmlformats.org/drawingml/2006/main">
            <a:off x="704850" y="57816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3A1DB"/>
                </a:solidFill>
                <a:latin typeface="Arial"/>
                <a:ea typeface="Arial"/>
                <a:cs typeface="Arial"/>
              </a:defRPr>
            </a:pPr>
            <a:r>
              <a:rPr sz="1425" b="0">
                <a:solidFill>
                  <a:srgbClr val="63A1DB"/>
                </a:solidFill>
                <a:latin typeface="Arial"/>
                <a:ea typeface="Arial"/>
                <a:cs typeface="Arial"/>
              </a:rPr>
              <a:t>Investment proposal  /  September 2026  /  Prelaunch</a:t>
            </a:r>
          </a:p>
        </p:txBody>
      </p:sp>
    </p:spTree>
    <p:extLst>
      <p:ext uri="{BB962C8B-B14F-4D97-AF65-F5344CB8AC3E}">
        <p14:creationId xmlns:p14="http://schemas.microsoft.com/office/powerpoint/2010/main" val="708490037"/>
      </p:ext>
    </p:extLst>
  </p:cSld>
</p:sld>
</file>

<file path=ppt/slides/slide2.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1D8AA0-BEA3-483C-9D52-22D29DDF4854}"/>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The everyday payment problem</a:t>
            </a:r>
          </a:p>
        </p:txBody>
      </p:sp>
      <p:sp>
        <p:nvSpPr>
          <p:cNvPr id="2" name="">
            <a:extLst xmlns:a="http://schemas.openxmlformats.org/drawingml/2006/main">
              <a:ext uri="{FF2B5EF4-FFF2-40B4-BE49-F238E27FC236}">
                <a16:creationId xmlns:a16="http://schemas.microsoft.com/office/drawing/2014/main" id="{3F59A08C-CFB2-4D12-A7D7-655C5D7F859A}"/>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A product hypothesis to validate with Libyan consumers and merchants</a:t>
            </a:r>
          </a:p>
        </p:txBody>
      </p:sp>
      <p:sp>
        <p:nvSpPr>
          <p:cNvPr id="3" name="">
            <a:extLst xmlns:a="http://schemas.openxmlformats.org/drawingml/2006/main">
              <a:ext uri="{FF2B5EF4-FFF2-40B4-BE49-F238E27FC236}">
                <a16:creationId xmlns:a16="http://schemas.microsoft.com/office/drawing/2014/main" id="{C03785AF-A979-4E3F-946F-132B58506E27}"/>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8BF9D4A3-341E-44DF-88BB-BDDF2D5898F8}"/>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6A75425-13F3-411E-B162-A9C3E3118FE0}"/>
              </a:ext>
            </a:extLst>
          </p:cNvPr>
          <p:cNvSpPr>
            <a:spLocks xmlns:a="http://schemas.openxmlformats.org/drawingml/2006/main" noGrp="1"/>
          </p:cNvSpPr>
          <p:nvPr/>
        </p:nvSpPr>
        <p:spPr>
          <a:xfrm xmlns:a="http://schemas.openxmlformats.org/drawingml/2006/main">
            <a:off x="666750" y="242887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For consumers</a:t>
            </a:r>
          </a:p>
        </p:txBody>
      </p:sp>
      <p:sp>
        <p:nvSpPr>
          <p:cNvPr id="6" name="">
            <a:extLst xmlns:a="http://schemas.openxmlformats.org/drawingml/2006/main">
              <a:ext uri="{FF2B5EF4-FFF2-40B4-BE49-F238E27FC236}">
                <a16:creationId xmlns:a16="http://schemas.microsoft.com/office/drawing/2014/main" id="{A2BAC71E-BF33-4E11-A557-96AD7B80FB43}"/>
              </a:ext>
            </a:extLst>
          </p:cNvPr>
          <p:cNvSpPr>
            <a:spLocks xmlns:a="http://schemas.openxmlformats.org/drawingml/2006/main" noGrp="1"/>
          </p:cNvSpPr>
          <p:nvPr/>
        </p:nvSpPr>
        <p:spPr>
          <a:xfrm xmlns:a="http://schemas.openxmlformats.org/drawingml/2006/main">
            <a:off x="3857625" y="24288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Daily spending, family payments and savings goals should be easy to follow in one app.</a:t>
            </a:r>
          </a:p>
        </p:txBody>
      </p:sp>
      <p:sp>
        <p:nvSpPr>
          <p:cNvPr id="7" name="">
            <a:extLst xmlns:a="http://schemas.openxmlformats.org/drawingml/2006/main">
              <a:ext uri="{FF2B5EF4-FFF2-40B4-BE49-F238E27FC236}">
                <a16:creationId xmlns:a16="http://schemas.microsoft.com/office/drawing/2014/main" id="{87F29701-15BE-474C-8ADF-031C3CDDD8FA}"/>
              </a:ext>
            </a:extLst>
          </p:cNvPr>
          <p:cNvSpPr>
            <a:spLocks xmlns:a="http://schemas.openxmlformats.org/drawingml/2006/main" noGrp="1"/>
          </p:cNvSpPr>
          <p:nvPr/>
        </p:nvSpPr>
        <p:spPr>
          <a:xfrm xmlns:a="http://schemas.openxmlformats.org/drawingml/2006/main">
            <a:off x="666750" y="376237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For merchants</a:t>
            </a:r>
          </a:p>
        </p:txBody>
      </p:sp>
      <p:sp>
        <p:nvSpPr>
          <p:cNvPr id="8" name="">
            <a:extLst xmlns:a="http://schemas.openxmlformats.org/drawingml/2006/main">
              <a:ext uri="{FF2B5EF4-FFF2-40B4-BE49-F238E27FC236}">
                <a16:creationId xmlns:a16="http://schemas.microsoft.com/office/drawing/2014/main" id="{BC68C198-29DB-496D-BB2D-6B3460B5A8BC}"/>
              </a:ext>
            </a:extLst>
          </p:cNvPr>
          <p:cNvSpPr>
            <a:spLocks xmlns:a="http://schemas.openxmlformats.org/drawingml/2006/main" noGrp="1"/>
          </p:cNvSpPr>
          <p:nvPr/>
        </p:nvSpPr>
        <p:spPr>
          <a:xfrm xmlns:a="http://schemas.openxmlformats.org/drawingml/2006/main">
            <a:off x="3857625" y="37623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Getting paid is only part of the job. Clear settlement and useful sales records matter too.</a:t>
            </a:r>
          </a:p>
        </p:txBody>
      </p:sp>
      <p:sp>
        <p:nvSpPr>
          <p:cNvPr id="9" name="">
            <a:extLst xmlns:a="http://schemas.openxmlformats.org/drawingml/2006/main">
              <a:ext uri="{FF2B5EF4-FFF2-40B4-BE49-F238E27FC236}">
                <a16:creationId xmlns:a16="http://schemas.microsoft.com/office/drawing/2014/main" id="{DF8489A7-58E7-4AC4-8943-B3AA343D2C0D}"/>
              </a:ext>
            </a:extLst>
          </p:cNvPr>
          <p:cNvSpPr>
            <a:spLocks xmlns:a="http://schemas.openxmlformats.org/drawingml/2006/main" noGrp="1"/>
          </p:cNvSpPr>
          <p:nvPr/>
        </p:nvSpPr>
        <p:spPr>
          <a:xfrm xmlns:a="http://schemas.openxmlformats.org/drawingml/2006/main">
            <a:off x="666750" y="542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3A1DB"/>
                </a:solidFill>
                <a:latin typeface="Arial"/>
                <a:ea typeface="Arial"/>
                <a:cs typeface="Arial"/>
              </a:defRPr>
            </a:pPr>
            <a:r>
              <a:rPr sz="1800" b="0">
                <a:solidFill>
                  <a:srgbClr val="63A1DB"/>
                </a:solidFill>
                <a:latin typeface="Arial"/>
                <a:ea typeface="Arial"/>
                <a:cs typeface="Arial"/>
              </a:rPr>
              <a:t>First research gate: 100 consumer interviews and 30 merchant interviews.</a:t>
            </a:r>
          </a:p>
        </p:txBody>
      </p:sp>
    </p:spTree>
    <p:extLst>
      <p:ext uri="{BB962C8B-B14F-4D97-AF65-F5344CB8AC3E}">
        <p14:creationId xmlns:p14="http://schemas.microsoft.com/office/powerpoint/2010/main" val="185088559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20C2E0-B865-42DF-B9B4-AE2EAB8C22E3}"/>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Libya already has digital payment rails</a:t>
            </a:r>
          </a:p>
        </p:txBody>
      </p:sp>
      <p:sp>
        <p:nvSpPr>
          <p:cNvPr id="2" name="">
            <a:extLst xmlns:a="http://schemas.openxmlformats.org/drawingml/2006/main">
              <a:ext uri="{FF2B5EF4-FFF2-40B4-BE49-F238E27FC236}">
                <a16:creationId xmlns:a16="http://schemas.microsoft.com/office/drawing/2014/main" id="{EA913B4D-E10A-4EA6-8A4D-156229D4B9A5}"/>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6879"/>
                </a:solidFill>
                <a:latin typeface="Arial"/>
                <a:ea typeface="Arial"/>
                <a:cs typeface="Arial"/>
              </a:defRPr>
            </a:pPr>
            <a:r>
              <a:rPr sz="1650" b="0">
                <a:solidFill>
                  <a:srgbClr val="586879"/>
                </a:solidFill>
                <a:latin typeface="Arial"/>
                <a:ea typeface="Arial"/>
                <a:cs typeface="Arial"/>
              </a:rPr>
              <a:t>Historical CBL indicators through November 2025</a:t>
            </a:r>
          </a:p>
        </p:txBody>
      </p:sp>
      <p:sp>
        <p:nvSpPr>
          <p:cNvPr id="3" name="">
            <a:extLst xmlns:a="http://schemas.openxmlformats.org/drawingml/2006/main">
              <a:ext uri="{FF2B5EF4-FFF2-40B4-BE49-F238E27FC236}">
                <a16:creationId xmlns:a16="http://schemas.microsoft.com/office/drawing/2014/main" id="{78FE60A3-7EED-4732-8168-357E7E0F095E}"/>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BF6A1F6C-03C3-4183-AE66-B5D24B6D1286}"/>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4659FD4-77F8-4BCA-A99A-3602FCE9121D}"/>
              </a:ext>
            </a:extLst>
          </p:cNvPr>
          <p:cNvSpPr>
            <a:spLocks xmlns:a="http://schemas.openxmlformats.org/drawingml/2006/main" noGrp="1"/>
          </p:cNvSpPr>
          <p:nvPr/>
        </p:nvSpPr>
        <p:spPr>
          <a:xfrm xmlns:a="http://schemas.openxmlformats.org/drawingml/2006/main">
            <a:off x="666750" y="238125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125" b="1">
                <a:solidFill>
                  <a:srgbClr val="192737"/>
                </a:solidFill>
                <a:latin typeface="Arial"/>
                <a:ea typeface="Arial"/>
                <a:cs typeface="Arial"/>
              </a:defRPr>
            </a:pPr>
            <a:r>
              <a:rPr sz="7125" b="1">
                <a:solidFill>
                  <a:srgbClr val="192737"/>
                </a:solidFill>
                <a:latin typeface="Arial"/>
                <a:ea typeface="Arial"/>
                <a:cs typeface="Arial"/>
              </a:rPr>
              <a:t>328.0bn</a:t>
            </a:r>
          </a:p>
        </p:txBody>
      </p:sp>
      <p:sp>
        <p:nvSpPr>
          <p:cNvPr id="6" name="">
            <a:extLst xmlns:a="http://schemas.openxmlformats.org/drawingml/2006/main">
              <a:ext uri="{FF2B5EF4-FFF2-40B4-BE49-F238E27FC236}">
                <a16:creationId xmlns:a16="http://schemas.microsoft.com/office/drawing/2014/main" id="{23FA8ACC-3DA8-4E68-8E84-44055A87F65C}"/>
              </a:ext>
            </a:extLst>
          </p:cNvPr>
          <p:cNvSpPr>
            <a:spLocks xmlns:a="http://schemas.openxmlformats.org/drawingml/2006/main" noGrp="1"/>
          </p:cNvSpPr>
          <p:nvPr/>
        </p:nvSpPr>
        <p:spPr>
          <a:xfrm xmlns:a="http://schemas.openxmlformats.org/drawingml/2006/main">
            <a:off x="723900" y="3667125"/>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66778"/>
                </a:solidFill>
                <a:latin typeface="Arial"/>
                <a:ea typeface="Arial"/>
                <a:cs typeface="Arial"/>
              </a:defRPr>
            </a:pPr>
            <a:r>
              <a:rPr sz="2175" b="0">
                <a:solidFill>
                  <a:srgbClr val="566778"/>
                </a:solidFill>
                <a:latin typeface="Arial"/>
                <a:ea typeface="Arial"/>
                <a:cs typeface="Arial"/>
              </a:rPr>
              <a:t>LYD electronic payment value</a:t>
            </a:r>
          </a:p>
          <a:p xmlns:a="http://schemas.openxmlformats.org/drawingml/2006/main">
            <a:pPr>
              <a:defRPr sz="2175" b="0">
                <a:solidFill>
                  <a:srgbClr val="566778"/>
                </a:solidFill>
                <a:latin typeface="Arial"/>
                <a:ea typeface="Arial"/>
                <a:cs typeface="Arial"/>
              </a:defRPr>
            </a:pPr>
            <a:r>
              <a:rPr sz="2175" b="0">
                <a:solidFill>
                  <a:srgbClr val="566778"/>
                </a:solidFill>
                <a:latin typeface="Arial"/>
                <a:ea typeface="Arial"/>
                <a:cs typeface="Arial"/>
              </a:rPr>
              <a:t>January–November 2025</a:t>
            </a:r>
          </a:p>
        </p:txBody>
      </p:sp>
      <p:sp>
        <p:nvSpPr>
          <p:cNvPr id="7" name="">
            <a:extLst xmlns:a="http://schemas.openxmlformats.org/drawingml/2006/main">
              <a:ext uri="{FF2B5EF4-FFF2-40B4-BE49-F238E27FC236}">
                <a16:creationId xmlns:a16="http://schemas.microsoft.com/office/drawing/2014/main" id="{4FAA05F9-98DA-4A03-B3AF-A27E7BEBCC8C}"/>
              </a:ext>
            </a:extLst>
          </p:cNvPr>
          <p:cNvSpPr>
            <a:spLocks xmlns:a="http://schemas.openxmlformats.org/drawingml/2006/main" noGrp="1"/>
          </p:cNvSpPr>
          <p:nvPr/>
        </p:nvSpPr>
        <p:spPr>
          <a:xfrm xmlns:a="http://schemas.openxmlformats.org/drawingml/2006/main">
            <a:off x="7762875" y="24955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63A1DB"/>
                </a:solidFill>
                <a:latin typeface="Arial"/>
                <a:ea typeface="Arial"/>
                <a:cs typeface="Arial"/>
              </a:defRPr>
            </a:pPr>
            <a:r>
              <a:rPr sz="3975" b="1">
                <a:solidFill>
                  <a:srgbClr val="63A1DB"/>
                </a:solidFill>
                <a:latin typeface="Arial"/>
                <a:ea typeface="Arial"/>
                <a:cs typeface="Arial"/>
              </a:rPr>
              <a:t>150,019</a:t>
            </a:r>
          </a:p>
        </p:txBody>
      </p:sp>
      <p:sp>
        <p:nvSpPr>
          <p:cNvPr id="8" name="">
            <a:extLst xmlns:a="http://schemas.openxmlformats.org/drawingml/2006/main">
              <a:ext uri="{FF2B5EF4-FFF2-40B4-BE49-F238E27FC236}">
                <a16:creationId xmlns:a16="http://schemas.microsoft.com/office/drawing/2014/main" id="{005CBAFB-A8C0-4A5E-AEDB-01983D269779}"/>
              </a:ext>
            </a:extLst>
          </p:cNvPr>
          <p:cNvSpPr>
            <a:spLocks xmlns:a="http://schemas.openxmlformats.org/drawingml/2006/main" noGrp="1"/>
          </p:cNvSpPr>
          <p:nvPr/>
        </p:nvSpPr>
        <p:spPr>
          <a:xfrm xmlns:a="http://schemas.openxmlformats.org/drawingml/2006/main">
            <a:off x="7791450" y="33147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2737"/>
                </a:solidFill>
                <a:latin typeface="Arial"/>
                <a:ea typeface="Arial"/>
                <a:cs typeface="Arial"/>
              </a:defRPr>
            </a:pPr>
            <a:r>
              <a:rPr sz="1725" b="0">
                <a:solidFill>
                  <a:srgbClr val="192737"/>
                </a:solidFill>
                <a:latin typeface="Arial"/>
                <a:ea typeface="Arial"/>
                <a:cs typeface="Arial"/>
              </a:rPr>
              <a:t>point of sale terminals</a:t>
            </a:r>
          </a:p>
        </p:txBody>
      </p:sp>
      <p:sp>
        <p:nvSpPr>
          <p:cNvPr id="9" name="">
            <a:extLst xmlns:a="http://schemas.openxmlformats.org/drawingml/2006/main">
              <a:ext uri="{FF2B5EF4-FFF2-40B4-BE49-F238E27FC236}">
                <a16:creationId xmlns:a16="http://schemas.microsoft.com/office/drawing/2014/main" id="{1728201C-BCFD-474B-8B29-D7A1CD39C363}"/>
              </a:ext>
            </a:extLst>
          </p:cNvPr>
          <p:cNvSpPr>
            <a:spLocks xmlns:a="http://schemas.openxmlformats.org/drawingml/2006/main" noGrp="1"/>
          </p:cNvSpPr>
          <p:nvPr/>
        </p:nvSpPr>
        <p:spPr>
          <a:xfrm xmlns:a="http://schemas.openxmlformats.org/drawingml/2006/main">
            <a:off x="7762875" y="42862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63A1DB"/>
                </a:solidFill>
                <a:latin typeface="Arial"/>
                <a:ea typeface="Arial"/>
                <a:cs typeface="Arial"/>
              </a:defRPr>
            </a:pPr>
            <a:r>
              <a:rPr sz="3975" b="1">
                <a:solidFill>
                  <a:srgbClr val="63A1DB"/>
                </a:solidFill>
                <a:latin typeface="Arial"/>
                <a:ea typeface="Arial"/>
                <a:cs typeface="Arial"/>
              </a:rPr>
              <a:t>183,435</a:t>
            </a:r>
          </a:p>
        </p:txBody>
      </p:sp>
      <p:sp>
        <p:nvSpPr>
          <p:cNvPr id="10" name="">
            <a:extLst xmlns:a="http://schemas.openxmlformats.org/drawingml/2006/main">
              <a:ext uri="{FF2B5EF4-FFF2-40B4-BE49-F238E27FC236}">
                <a16:creationId xmlns:a16="http://schemas.microsoft.com/office/drawing/2014/main" id="{8A386724-4182-43AE-A5A6-C528559D0695}"/>
              </a:ext>
            </a:extLst>
          </p:cNvPr>
          <p:cNvSpPr>
            <a:spLocks xmlns:a="http://schemas.openxmlformats.org/drawingml/2006/main" noGrp="1"/>
          </p:cNvSpPr>
          <p:nvPr/>
        </p:nvSpPr>
        <p:spPr>
          <a:xfrm xmlns:a="http://schemas.openxmlformats.org/drawingml/2006/main">
            <a:off x="7791450" y="51054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2737"/>
                </a:solidFill>
                <a:latin typeface="Arial"/>
                <a:ea typeface="Arial"/>
                <a:cs typeface="Arial"/>
              </a:defRPr>
            </a:pPr>
            <a:r>
              <a:rPr sz="1725" b="0">
                <a:solidFill>
                  <a:srgbClr val="192737"/>
                </a:solidFill>
                <a:latin typeface="Arial"/>
                <a:ea typeface="Arial"/>
                <a:cs typeface="Arial"/>
              </a:rPr>
              <a:t>electronic wallets</a:t>
            </a:r>
          </a:p>
        </p:txBody>
      </p:sp>
      <p:sp>
        <p:nvSpPr>
          <p:cNvPr id="11" name="">
            <a:extLst xmlns:a="http://schemas.openxmlformats.org/drawingml/2006/main">
              <a:ext uri="{FF2B5EF4-FFF2-40B4-BE49-F238E27FC236}">
                <a16:creationId xmlns:a16="http://schemas.microsoft.com/office/drawing/2014/main" id="{F2A5C3FF-BDFB-454C-94BD-35397DF2090D}"/>
              </a:ext>
            </a:extLst>
          </p:cNvPr>
          <p:cNvSpPr>
            <a:spLocks xmlns:a="http://schemas.openxmlformats.org/drawingml/2006/main" noGrp="1"/>
          </p:cNvSpPr>
          <p:nvPr/>
        </p:nvSpPr>
        <p:spPr>
          <a:xfrm xmlns:a="http://schemas.openxmlformats.org/drawingml/2006/main">
            <a:off x="666750" y="58388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283"/>
                </a:solidFill>
                <a:latin typeface="Arial"/>
                <a:ea typeface="Arial"/>
                <a:cs typeface="Arial"/>
              </a:defRPr>
            </a:pPr>
            <a:r>
              <a:rPr sz="1425" b="0">
                <a:solidFill>
                  <a:srgbClr val="647283"/>
                </a:solidFill>
                <a:latin typeface="Arial"/>
                <a:ea typeface="Arial"/>
                <a:cs typeface="Arial"/>
              </a:rPr>
              <a:t>These are different measures, not an additive market size or unique-user count.</a:t>
            </a:r>
          </a:p>
        </p:txBody>
      </p:sp>
    </p:spTree>
    <p:extLst>
      <p:ext uri="{BB962C8B-B14F-4D97-AF65-F5344CB8AC3E}">
        <p14:creationId xmlns:p14="http://schemas.microsoft.com/office/powerpoint/2010/main" val="183631517"/>
      </p:ext>
    </p:extLst>
  </p:cSld>
</p:sld>
</file>

<file path=ppt/slides/slide4.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D82CC3-6B21-4EA1-997B-EBDF77C1DBA5}"/>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Dinars and crypto, side by side</a:t>
            </a:r>
          </a:p>
        </p:txBody>
      </p:sp>
      <p:sp>
        <p:nvSpPr>
          <p:cNvPr id="2" name="">
            <a:extLst xmlns:a="http://schemas.openxmlformats.org/drawingml/2006/main">
              <a:ext uri="{FF2B5EF4-FFF2-40B4-BE49-F238E27FC236}">
                <a16:creationId xmlns:a16="http://schemas.microsoft.com/office/drawing/2014/main" id="{80B40AA1-6DFD-4D37-84CA-EC159757A5CF}"/>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An Arabic and English experience built around life in Libya</a:t>
            </a:r>
          </a:p>
        </p:txBody>
      </p:sp>
      <p:sp>
        <p:nvSpPr>
          <p:cNvPr id="3" name="">
            <a:extLst xmlns:a="http://schemas.openxmlformats.org/drawingml/2006/main">
              <a:ext uri="{FF2B5EF4-FFF2-40B4-BE49-F238E27FC236}">
                <a16:creationId xmlns:a16="http://schemas.microsoft.com/office/drawing/2014/main" id="{E778AA42-38F7-473F-A17B-029BB960571A}"/>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F75AA452-75EF-41FE-BE73-54DC328F9105}"/>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F4C3EC3-CB1C-4CB1-8BC3-0390AB75C4A6}"/>
              </a:ext>
            </a:extLst>
          </p:cNvPr>
          <p:cNvSpPr>
            <a:spLocks xmlns:a="http://schemas.openxmlformats.org/drawingml/2006/main" noGrp="1"/>
          </p:cNvSpPr>
          <p:nvPr/>
        </p:nvSpPr>
        <p:spPr>
          <a:xfrm xmlns:a="http://schemas.openxmlformats.org/drawingml/2006/main">
            <a:off x="666750" y="2571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3A1DB"/>
                </a:solidFill>
                <a:latin typeface="Arial"/>
                <a:ea typeface="Arial"/>
                <a:cs typeface="Arial"/>
              </a:defRPr>
            </a:pPr>
            <a:r>
              <a:rPr sz="2550" b="1">
                <a:solidFill>
                  <a:srgbClr val="63A1DB"/>
                </a:solidFill>
                <a:latin typeface="Arial"/>
                <a:ea typeface="Arial"/>
                <a:cs typeface="Arial"/>
              </a:rPr>
              <a:t>Pay locally</a:t>
            </a:r>
          </a:p>
        </p:txBody>
      </p:sp>
      <p:sp>
        <p:nvSpPr>
          <p:cNvPr id="6" name="">
            <a:extLst xmlns:a="http://schemas.openxmlformats.org/drawingml/2006/main">
              <a:ext uri="{FF2B5EF4-FFF2-40B4-BE49-F238E27FC236}">
                <a16:creationId xmlns:a16="http://schemas.microsoft.com/office/drawing/2014/main" id="{F8A39BCB-E187-429C-B90C-71A66F986836}"/>
              </a:ext>
            </a:extLst>
          </p:cNvPr>
          <p:cNvSpPr>
            <a:spLocks xmlns:a="http://schemas.openxmlformats.org/drawingml/2006/main" noGrp="1"/>
          </p:cNvSpPr>
          <p:nvPr/>
        </p:nvSpPr>
        <p:spPr>
          <a:xfrm xmlns:a="http://schemas.openxmlformats.org/drawingml/2006/main">
            <a:off x="666750" y="3143250"/>
            <a:ext cx="5572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A wallet in LYD, clear receipts and payments to people and merchants.</a:t>
            </a:r>
          </a:p>
        </p:txBody>
      </p:sp>
      <p:sp>
        <p:nvSpPr>
          <p:cNvPr id="7" name="">
            <a:extLst xmlns:a="http://schemas.openxmlformats.org/drawingml/2006/main">
              <a:ext uri="{FF2B5EF4-FFF2-40B4-BE49-F238E27FC236}">
                <a16:creationId xmlns:a16="http://schemas.microsoft.com/office/drawing/2014/main" id="{3061EF12-3BEF-42E7-B539-AD353BFBE0A2}"/>
              </a:ext>
            </a:extLst>
          </p:cNvPr>
          <p:cNvSpPr>
            <a:spLocks xmlns:a="http://schemas.openxmlformats.org/drawingml/2006/main" noGrp="1"/>
          </p:cNvSpPr>
          <p:nvPr/>
        </p:nvSpPr>
        <p:spPr>
          <a:xfrm xmlns:a="http://schemas.openxmlformats.org/drawingml/2006/main">
            <a:off x="666750" y="442912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3A1DB"/>
                </a:solidFill>
                <a:latin typeface="Arial"/>
                <a:ea typeface="Arial"/>
                <a:cs typeface="Arial"/>
              </a:defRPr>
            </a:pPr>
            <a:r>
              <a:rPr sz="2550" b="1">
                <a:solidFill>
                  <a:srgbClr val="63A1DB"/>
                </a:solidFill>
                <a:latin typeface="Arial"/>
                <a:ea typeface="Arial"/>
                <a:cs typeface="Arial"/>
              </a:rPr>
              <a:t>Connect beyond borders</a:t>
            </a:r>
          </a:p>
        </p:txBody>
      </p:sp>
      <p:sp>
        <p:nvSpPr>
          <p:cNvPr id="8" name="">
            <a:extLst xmlns:a="http://schemas.openxmlformats.org/drawingml/2006/main">
              <a:ext uri="{FF2B5EF4-FFF2-40B4-BE49-F238E27FC236}">
                <a16:creationId xmlns:a16="http://schemas.microsoft.com/office/drawing/2014/main" id="{E128439C-16F4-418C-9124-BC909E6EFD46}"/>
              </a:ext>
            </a:extLst>
          </p:cNvPr>
          <p:cNvSpPr>
            <a:spLocks xmlns:a="http://schemas.openxmlformats.org/drawingml/2006/main" noGrp="1"/>
          </p:cNvSpPr>
          <p:nvPr/>
        </p:nvSpPr>
        <p:spPr>
          <a:xfrm xmlns:a="http://schemas.openxmlformats.org/drawingml/2006/main">
            <a:off x="666750" y="5000625"/>
            <a:ext cx="566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Supported crypto, family remittances and everyday money in one familiar app.</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08cf1b045024d4e"/>
          <a:stretch xmlns:a="http://schemas.openxmlformats.org/drawingml/2006/main"/>
        </p:blipFill>
        <p:spPr>
          <a:xfrm xmlns:a="http://schemas.openxmlformats.org/drawingml/2006/main">
            <a:off x="8270819" y="1857375"/>
            <a:ext cx="1889237" cy="4095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01F451B-E442-4173-A1B2-171186B07757}"/>
              </a:ext>
            </a:extLst>
          </p:cNvPr>
          <p:cNvSpPr>
            <a:spLocks xmlns:a="http://schemas.openxmlformats.org/drawingml/2006/main" noGrp="1"/>
          </p:cNvSpPr>
          <p:nvPr/>
        </p:nvSpPr>
        <p:spPr>
          <a:xfrm xmlns:a="http://schemas.openxmlformats.org/drawingml/2006/main">
            <a:off x="7381875" y="60198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EB9C7"/>
                </a:solidFill>
                <a:latin typeface="Arial"/>
                <a:ea typeface="Arial"/>
                <a:cs typeface="Arial"/>
              </a:defRPr>
            </a:pPr>
            <a:r>
              <a:rPr sz="1050" b="0">
                <a:solidFill>
                  <a:srgbClr val="AEB9C7"/>
                </a:solidFill>
                <a:latin typeface="Arial"/>
                <a:ea typeface="Arial"/>
                <a:cs typeface="Arial"/>
              </a:rPr>
              <a:t>Existing concept screen; legacy balances are illustrative.</a:t>
            </a:r>
          </a:p>
        </p:txBody>
      </p:sp>
    </p:spTree>
    <p:extLst>
      <p:ext uri="{BB962C8B-B14F-4D97-AF65-F5344CB8AC3E}">
        <p14:creationId xmlns:p14="http://schemas.microsoft.com/office/powerpoint/2010/main" val="41860965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E420C7-5EF2-46F4-8A35-F05795C0DDDA}"/>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One vision, gated delivery</a:t>
            </a:r>
          </a:p>
        </p:txBody>
      </p:sp>
      <p:sp>
        <p:nvSpPr>
          <p:cNvPr id="2" name="">
            <a:extLst xmlns:a="http://schemas.openxmlformats.org/drawingml/2006/main">
              <a:ext uri="{FF2B5EF4-FFF2-40B4-BE49-F238E27FC236}">
                <a16:creationId xmlns:a16="http://schemas.microsoft.com/office/drawing/2014/main" id="{48AE379C-29F0-4316-885F-FE7D7BC02E0C}"/>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3" name="">
            <a:extLst xmlns:a="http://schemas.openxmlformats.org/drawingml/2006/main">
              <a:ext uri="{FF2B5EF4-FFF2-40B4-BE49-F238E27FC236}">
                <a16:creationId xmlns:a16="http://schemas.microsoft.com/office/drawing/2014/main" id="{6574EF76-1071-4FB4-8921-344620FFCD41}"/>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0DE7BAC-A43F-402D-A7AE-2F0B35BC1727}"/>
              </a:ext>
            </a:extLst>
          </p:cNvPr>
          <p:cNvSpPr>
            <a:spLocks xmlns:a="http://schemas.openxmlformats.org/drawingml/2006/main" noGrp="1"/>
          </p:cNvSpPr>
          <p:nvPr/>
        </p:nvSpPr>
        <p:spPr>
          <a:xfrm xmlns:a="http://schemas.openxmlformats.org/drawingml/2006/main">
            <a:off x="666750" y="223837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Domestic pilot</a:t>
            </a:r>
          </a:p>
        </p:txBody>
      </p:sp>
      <p:sp>
        <p:nvSpPr>
          <p:cNvPr id="5" name="">
            <a:extLst xmlns:a="http://schemas.openxmlformats.org/drawingml/2006/main">
              <a:ext uri="{FF2B5EF4-FFF2-40B4-BE49-F238E27FC236}">
                <a16:creationId xmlns:a16="http://schemas.microsoft.com/office/drawing/2014/main" id="{F0EF9EF4-2041-4B5C-94BD-83F13198B106}"/>
              </a:ext>
            </a:extLst>
          </p:cNvPr>
          <p:cNvSpPr>
            <a:spLocks xmlns:a="http://schemas.openxmlformats.org/drawingml/2006/main" noGrp="1"/>
          </p:cNvSpPr>
          <p:nvPr/>
        </p:nvSpPr>
        <p:spPr>
          <a:xfrm xmlns:a="http://schemas.openxmlformats.org/drawingml/2006/main">
            <a:off x="3857625" y="22383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Verified users, LYD wallet, merchant payments, receipts and customer support.</a:t>
            </a:r>
          </a:p>
        </p:txBody>
      </p:sp>
      <p:sp>
        <p:nvSpPr>
          <p:cNvPr id="6" name="">
            <a:extLst xmlns:a="http://schemas.openxmlformats.org/drawingml/2006/main">
              <a:ext uri="{FF2B5EF4-FFF2-40B4-BE49-F238E27FC236}">
                <a16:creationId xmlns:a16="http://schemas.microsoft.com/office/drawing/2014/main" id="{DA8F15ED-679D-4AED-9FE3-7134EC7F7317}"/>
              </a:ext>
            </a:extLst>
          </p:cNvPr>
          <p:cNvSpPr>
            <a:spLocks xmlns:a="http://schemas.openxmlformats.org/drawingml/2006/main" noGrp="1"/>
          </p:cNvSpPr>
          <p:nvPr/>
        </p:nvSpPr>
        <p:spPr>
          <a:xfrm xmlns:a="http://schemas.openxmlformats.org/drawingml/2006/main">
            <a:off x="666750" y="347662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Domestic expansion</a:t>
            </a:r>
          </a:p>
        </p:txBody>
      </p:sp>
      <p:sp>
        <p:nvSpPr>
          <p:cNvPr id="7" name="">
            <a:extLst xmlns:a="http://schemas.openxmlformats.org/drawingml/2006/main">
              <a:ext uri="{FF2B5EF4-FFF2-40B4-BE49-F238E27FC236}">
                <a16:creationId xmlns:a16="http://schemas.microsoft.com/office/drawing/2014/main" id="{A8A12378-9652-4731-8225-CF66CF5B0C6C}"/>
              </a:ext>
            </a:extLst>
          </p:cNvPr>
          <p:cNvSpPr>
            <a:spLocks xmlns:a="http://schemas.openxmlformats.org/drawingml/2006/main" noGrp="1"/>
          </p:cNvSpPr>
          <p:nvPr/>
        </p:nvSpPr>
        <p:spPr>
          <a:xfrm xmlns:a="http://schemas.openxmlformats.org/drawingml/2006/main">
            <a:off x="3857625" y="34766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Merchant links or QR, savings pockets and better reporting after pilot acceptance.</a:t>
            </a:r>
          </a:p>
        </p:txBody>
      </p:sp>
      <p:sp>
        <p:nvSpPr>
          <p:cNvPr id="8" name="">
            <a:extLst xmlns:a="http://schemas.openxmlformats.org/drawingml/2006/main">
              <a:ext uri="{FF2B5EF4-FFF2-40B4-BE49-F238E27FC236}">
                <a16:creationId xmlns:a16="http://schemas.microsoft.com/office/drawing/2014/main" id="{99C9E6D2-4D3D-4F64-BAC7-62FC88E89CB4}"/>
              </a:ext>
            </a:extLst>
          </p:cNvPr>
          <p:cNvSpPr>
            <a:spLocks xmlns:a="http://schemas.openxmlformats.org/drawingml/2006/main" noGrp="1"/>
          </p:cNvSpPr>
          <p:nvPr/>
        </p:nvSpPr>
        <p:spPr>
          <a:xfrm xmlns:a="http://schemas.openxmlformats.org/drawingml/2006/main">
            <a:off x="666750" y="471487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Crypto and remittance</a:t>
            </a:r>
          </a:p>
        </p:txBody>
      </p:sp>
      <p:sp>
        <p:nvSpPr>
          <p:cNvPr id="9" name="">
            <a:extLst xmlns:a="http://schemas.openxmlformats.org/drawingml/2006/main">
              <a:ext uri="{FF2B5EF4-FFF2-40B4-BE49-F238E27FC236}">
                <a16:creationId xmlns:a16="http://schemas.microsoft.com/office/drawing/2014/main" id="{9CB9B190-9B6B-418F-9258-9C58CECCE29E}"/>
              </a:ext>
            </a:extLst>
          </p:cNvPr>
          <p:cNvSpPr>
            <a:spLocks xmlns:a="http://schemas.openxmlformats.org/drawingml/2006/main" noGrp="1"/>
          </p:cNvSpPr>
          <p:nvPr/>
        </p:nvSpPr>
        <p:spPr>
          <a:xfrm xmlns:a="http://schemas.openxmlformats.org/drawingml/2006/main">
            <a:off x="3857625" y="47148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Supported digital assets and international transfers after legal, provider and corridor approval.</a:t>
            </a:r>
          </a:p>
        </p:txBody>
      </p:sp>
    </p:spTree>
    <p:extLst>
      <p:ext uri="{BB962C8B-B14F-4D97-AF65-F5344CB8AC3E}">
        <p14:creationId xmlns:p14="http://schemas.microsoft.com/office/powerpoint/2010/main" val="959218517"/>
      </p:ext>
    </p:extLst>
  </p:cSld>
</p:sld>
</file>

<file path=ppt/slides/slide6.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DF14B-6826-4FB5-956C-0F3D709550BC}"/>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Distribution begins with local use</a:t>
            </a:r>
          </a:p>
        </p:txBody>
      </p:sp>
      <p:sp>
        <p:nvSpPr>
          <p:cNvPr id="2" name="">
            <a:extLst xmlns:a="http://schemas.openxmlformats.org/drawingml/2006/main">
              <a:ext uri="{FF2B5EF4-FFF2-40B4-BE49-F238E27FC236}">
                <a16:creationId xmlns:a16="http://schemas.microsoft.com/office/drawing/2014/main" id="{389F3CCA-7F75-4772-8E58-3738DCB2E612}"/>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Tripoli and Benghazi are proposed pilot markets</a:t>
            </a:r>
          </a:p>
        </p:txBody>
      </p:sp>
      <p:sp>
        <p:nvSpPr>
          <p:cNvPr id="3" name="">
            <a:extLst xmlns:a="http://schemas.openxmlformats.org/drawingml/2006/main">
              <a:ext uri="{FF2B5EF4-FFF2-40B4-BE49-F238E27FC236}">
                <a16:creationId xmlns:a16="http://schemas.microsoft.com/office/drawing/2014/main" id="{49C89577-22A0-45AF-90F4-187E1E0EF109}"/>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1C04EE8A-B08D-4D10-87D0-259C01B1CAD1}"/>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BB6CB7C-3753-452B-82BB-DE308F730CDC}"/>
              </a:ext>
            </a:extLst>
          </p:cNvPr>
          <p:cNvSpPr>
            <a:spLocks xmlns:a="http://schemas.openxmlformats.org/drawingml/2006/main" noGrp="1"/>
          </p:cNvSpPr>
          <p:nvPr/>
        </p:nvSpPr>
        <p:spPr>
          <a:xfrm xmlns:a="http://schemas.openxmlformats.org/drawingml/2006/main">
            <a:off x="666750" y="228600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Merchant clusters</a:t>
            </a:r>
          </a:p>
        </p:txBody>
      </p:sp>
      <p:sp>
        <p:nvSpPr>
          <p:cNvPr id="6" name="">
            <a:extLst xmlns:a="http://schemas.openxmlformats.org/drawingml/2006/main">
              <a:ext uri="{FF2B5EF4-FFF2-40B4-BE49-F238E27FC236}">
                <a16:creationId xmlns:a16="http://schemas.microsoft.com/office/drawing/2014/main" id="{3FCD81CB-9DDA-458B-A41A-27167B7E8BF7}"/>
              </a:ext>
            </a:extLst>
          </p:cNvPr>
          <p:cNvSpPr>
            <a:spLocks xmlns:a="http://schemas.openxmlformats.org/drawingml/2006/main" noGrp="1"/>
          </p:cNvSpPr>
          <p:nvPr/>
        </p:nvSpPr>
        <p:spPr>
          <a:xfrm xmlns:a="http://schemas.openxmlformats.org/drawingml/2006/main">
            <a:off x="3857625" y="2286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Start with neighbourhood retail and food businesses. Train merchants and prove settlement.</a:t>
            </a:r>
          </a:p>
        </p:txBody>
      </p:sp>
      <p:sp>
        <p:nvSpPr>
          <p:cNvPr id="7" name="">
            <a:extLst xmlns:a="http://schemas.openxmlformats.org/drawingml/2006/main">
              <a:ext uri="{FF2B5EF4-FFF2-40B4-BE49-F238E27FC236}">
                <a16:creationId xmlns:a16="http://schemas.microsoft.com/office/drawing/2014/main" id="{D2F30F4D-F030-4B35-A417-10334F2CC345}"/>
              </a:ext>
            </a:extLst>
          </p:cNvPr>
          <p:cNvSpPr>
            <a:spLocks xmlns:a="http://schemas.openxmlformats.org/drawingml/2006/main" noGrp="1"/>
          </p:cNvSpPr>
          <p:nvPr/>
        </p:nvSpPr>
        <p:spPr>
          <a:xfrm xmlns:a="http://schemas.openxmlformats.org/drawingml/2006/main">
            <a:off x="666750" y="347662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Everyday customers</a:t>
            </a:r>
          </a:p>
        </p:txBody>
      </p:sp>
      <p:sp>
        <p:nvSpPr>
          <p:cNvPr id="8" name="">
            <a:extLst xmlns:a="http://schemas.openxmlformats.org/drawingml/2006/main">
              <a:ext uri="{FF2B5EF4-FFF2-40B4-BE49-F238E27FC236}">
                <a16:creationId xmlns:a16="http://schemas.microsoft.com/office/drawing/2014/main" id="{921F850E-4750-44D8-9FD7-423159D0CAD6}"/>
              </a:ext>
            </a:extLst>
          </p:cNvPr>
          <p:cNvSpPr>
            <a:spLocks xmlns:a="http://schemas.openxmlformats.org/drawingml/2006/main" noGrp="1"/>
          </p:cNvSpPr>
          <p:nvPr/>
        </p:nvSpPr>
        <p:spPr>
          <a:xfrm xmlns:a="http://schemas.openxmlformats.org/drawingml/2006/main">
            <a:off x="3857625" y="34766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Reach verified consumers through employers, communities and merchant referrals.</a:t>
            </a:r>
          </a:p>
        </p:txBody>
      </p:sp>
      <p:sp>
        <p:nvSpPr>
          <p:cNvPr id="9" name="">
            <a:extLst xmlns:a="http://schemas.openxmlformats.org/drawingml/2006/main">
              <a:ext uri="{FF2B5EF4-FFF2-40B4-BE49-F238E27FC236}">
                <a16:creationId xmlns:a16="http://schemas.microsoft.com/office/drawing/2014/main" id="{375A9D09-8C39-4FD9-9285-41F6AC64B7C0}"/>
              </a:ext>
            </a:extLst>
          </p:cNvPr>
          <p:cNvSpPr>
            <a:spLocks xmlns:a="http://schemas.openxmlformats.org/drawingml/2006/main" noGrp="1"/>
          </p:cNvSpPr>
          <p:nvPr/>
        </p:nvSpPr>
        <p:spPr>
          <a:xfrm xmlns:a="http://schemas.openxmlformats.org/drawingml/2006/main">
            <a:off x="666750" y="46672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Evidence before scale</a:t>
            </a:r>
          </a:p>
        </p:txBody>
      </p:sp>
      <p:sp>
        <p:nvSpPr>
          <p:cNvPr id="10" name="">
            <a:extLst xmlns:a="http://schemas.openxmlformats.org/drawingml/2006/main">
              <a:ext uri="{FF2B5EF4-FFF2-40B4-BE49-F238E27FC236}">
                <a16:creationId xmlns:a16="http://schemas.microsoft.com/office/drawing/2014/main" id="{9284E017-D882-462C-B576-AC2815EA0C20}"/>
              </a:ext>
            </a:extLst>
          </p:cNvPr>
          <p:cNvSpPr>
            <a:spLocks xmlns:a="http://schemas.openxmlformats.org/drawingml/2006/main" noGrp="1"/>
          </p:cNvSpPr>
          <p:nvPr/>
        </p:nvSpPr>
        <p:spPr>
          <a:xfrm xmlns:a="http://schemas.openxmlformats.org/drawingml/2006/main">
            <a:off x="3857625" y="46672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Pilot target: 1,000–2,000 active consumers and 50–100 active merchants.</a:t>
            </a:r>
          </a:p>
        </p:txBody>
      </p:sp>
    </p:spTree>
    <p:extLst>
      <p:ext uri="{BB962C8B-B14F-4D97-AF65-F5344CB8AC3E}">
        <p14:creationId xmlns:p14="http://schemas.microsoft.com/office/powerpoint/2010/main" val="87908049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B0D561-DEB0-4B05-A6E0-657E7459781A}"/>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Simple proposed pricing in LYD</a:t>
            </a:r>
          </a:p>
        </p:txBody>
      </p:sp>
      <p:sp>
        <p:nvSpPr>
          <p:cNvPr id="2" name="">
            <a:extLst xmlns:a="http://schemas.openxmlformats.org/drawingml/2006/main">
              <a:ext uri="{FF2B5EF4-FFF2-40B4-BE49-F238E27FC236}">
                <a16:creationId xmlns:a16="http://schemas.microsoft.com/office/drawing/2014/main" id="{7375E2A7-DA0D-472A-9618-255E7895524C}"/>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6879"/>
                </a:solidFill>
                <a:latin typeface="Arial"/>
                <a:ea typeface="Arial"/>
                <a:cs typeface="Arial"/>
              </a:defRPr>
            </a:pPr>
            <a:r>
              <a:rPr sz="1650" b="0">
                <a:solidFill>
                  <a:srgbClr val="586879"/>
                </a:solidFill>
                <a:latin typeface="Arial"/>
                <a:ea typeface="Arial"/>
                <a:cs typeface="Arial"/>
              </a:rPr>
              <a:t>Subscriptions are separate from processing and other service fees</a:t>
            </a:r>
          </a:p>
        </p:txBody>
      </p:sp>
      <p:sp>
        <p:nvSpPr>
          <p:cNvPr id="3" name="">
            <a:extLst xmlns:a="http://schemas.openxmlformats.org/drawingml/2006/main">
              <a:ext uri="{FF2B5EF4-FFF2-40B4-BE49-F238E27FC236}">
                <a16:creationId xmlns:a16="http://schemas.microsoft.com/office/drawing/2014/main" id="{7BF21A0C-FC89-4B45-81A0-D89F493E638D}"/>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47B3201B-4295-463E-B1EF-434D36C959DD}"/>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07</a:t>
            </a:r>
          </a:p>
        </p:txBody>
      </p:sp>
      <p:graphicFrame>
        <p:nvGraphicFramePr>
          <p:cNvPr id="11" name=""/>
          <p:cNvGraphicFramePr/>
          <p:nvPr/>
        </p:nvGraphicFramePr>
        <p:xfrm>
          <a:off xmlns:a="http://schemas.openxmlformats.org/drawingml/2006/main" x="666750" y="2333625"/>
          <a:ext xmlns:a="http://schemas.openxmlformats.org/drawingml/2006/main" cx="10858500" cy="2057400"/>
        </p:xfrm>
        <a:graphic xmlns:a="http://schemas.openxmlformats.org/drawingml/2006/main">
          <a:graphicData uri="http://schemas.openxmlformats.org/drawingml/2006/table">
            <a:tbl>
              <a:tblPr/>
              <a:tblGrid>
                <a:gridCol w="2381250"/>
                <a:gridCol w="2190750"/>
                <a:gridCol w="6286500"/>
              </a:tblGrid>
              <a:tr h="514350">
                <a:tc>
                  <a:txBody>
                    <a:bodyPr/>
                    <a:lstStyle/>
                    <a:p>
                      <a:r>
                        <a:rPr sz="1800" b="1">
                          <a:solidFill>
                            <a:srgbClr val="192737"/>
                          </a:solidFill>
                          <a:latin typeface="Arial"/>
                          <a:ea typeface="Arial"/>
                          <a:cs typeface="Arial"/>
                        </a:rPr>
                        <a:t>Plan</a:t>
                      </a:r>
                    </a:p>
                  </a:txBody>
                  <a:tcPr marL="133350" marR="133350" marT="114300" marB="114300">
                    <a:solidFill>
                      <a:srgbClr val="E4EDF6"/>
                    </a:solidFill>
                  </a:tcPr>
                </a:tc>
                <a:tc>
                  <a:txBody>
                    <a:bodyPr/>
                    <a:lstStyle/>
                    <a:p>
                      <a:r>
                        <a:rPr sz="1800" b="1">
                          <a:solidFill>
                            <a:srgbClr val="192737"/>
                          </a:solidFill>
                          <a:latin typeface="Arial"/>
                          <a:ea typeface="Arial"/>
                          <a:cs typeface="Arial"/>
                        </a:rPr>
                        <a:t>Monthly LYD</a:t>
                      </a:r>
                    </a:p>
                  </a:txBody>
                  <a:tcPr marL="133350" marR="133350" marT="114300" marB="114300">
                    <a:solidFill>
                      <a:srgbClr val="E4EDF6"/>
                    </a:solidFill>
                  </a:tcPr>
                </a:tc>
                <a:tc>
                  <a:txBody>
                    <a:bodyPr/>
                    <a:lstStyle/>
                    <a:p>
                      <a:r>
                        <a:rPr sz="1800" b="1">
                          <a:solidFill>
                            <a:srgbClr val="192737"/>
                          </a:solidFill>
                          <a:latin typeface="Arial"/>
                          <a:ea typeface="Arial"/>
                          <a:cs typeface="Arial"/>
                        </a:rPr>
                        <a:t>Customer purpose</a:t>
                      </a:r>
                    </a:p>
                  </a:txBody>
                  <a:tcPr marL="133350" marR="133350" marT="114300" marB="114300">
                    <a:solidFill>
                      <a:srgbClr val="E4EDF6"/>
                    </a:solidFill>
                  </a:tcPr>
                </a:tc>
              </a:tr>
              <a:tr h="514350">
                <a:tc>
                  <a:txBody>
                    <a:bodyPr/>
                    <a:lstStyle/>
                    <a:p>
                      <a:r>
                        <a:rPr sz="1800">
                          <a:solidFill>
                            <a:srgbClr val="192737"/>
                          </a:solidFill>
                          <a:latin typeface="Arial"/>
                          <a:ea typeface="Arial"/>
                          <a:cs typeface="Arial"/>
                        </a:rPr>
                        <a:t>Everyday</a:t>
                      </a:r>
                    </a:p>
                  </a:txBody>
                  <a:tcPr marL="133350" marR="133350" marT="114300" marB="114300">
                    <a:solidFill>
                      <a:srgbClr val="FFFFFF"/>
                    </a:solidFill>
                  </a:tcPr>
                </a:tc>
                <a:tc>
                  <a:txBody>
                    <a:bodyPr/>
                    <a:lstStyle/>
                    <a:p>
                      <a:r>
                        <a:rPr sz="1800">
                          <a:solidFill>
                            <a:srgbClr val="192737"/>
                          </a:solidFill>
                          <a:latin typeface="Arial"/>
                          <a:ea typeface="Arial"/>
                          <a:cs typeface="Arial"/>
                        </a:rPr>
                        <a:t>0</a:t>
                      </a:r>
                    </a:p>
                  </a:txBody>
                  <a:tcPr marL="133350" marR="133350" marT="114300" marB="114300">
                    <a:solidFill>
                      <a:srgbClr val="FFFFFF"/>
                    </a:solidFill>
                  </a:tcPr>
                </a:tc>
                <a:tc>
                  <a:txBody>
                    <a:bodyPr/>
                    <a:lstStyle/>
                    <a:p>
                      <a:r>
                        <a:rPr sz="1800">
                          <a:solidFill>
                            <a:srgbClr val="192737"/>
                          </a:solidFill>
                          <a:latin typeface="Arial"/>
                          <a:ea typeface="Arial"/>
                          <a:cs typeface="Arial"/>
                        </a:rPr>
                        <a:t>Local wallet and spending insights</a:t>
                      </a:r>
                    </a:p>
                  </a:txBody>
                  <a:tcPr marL="133350" marR="133350" marT="114300" marB="114300">
                    <a:solidFill>
                      <a:srgbClr val="FFFFFF"/>
                    </a:solidFill>
                  </a:tcPr>
                </a:tc>
              </a:tr>
              <a:tr h="514350">
                <a:tc>
                  <a:txBody>
                    <a:bodyPr/>
                    <a:lstStyle/>
                    <a:p>
                      <a:r>
                        <a:rPr sz="1800">
                          <a:solidFill>
                            <a:srgbClr val="192737"/>
                          </a:solidFill>
                          <a:latin typeface="Arial"/>
                          <a:ea typeface="Arial"/>
                          <a:cs typeface="Arial"/>
                        </a:rPr>
                        <a:t>Plus</a:t>
                      </a:r>
                    </a:p>
                  </a:txBody>
                  <a:tcPr marL="133350" marR="133350" marT="114300" marB="114300">
                    <a:solidFill>
                      <a:srgbClr val="FFFFFF"/>
                    </a:solidFill>
                  </a:tcPr>
                </a:tc>
                <a:tc>
                  <a:txBody>
                    <a:bodyPr/>
                    <a:lstStyle/>
                    <a:p>
                      <a:r>
                        <a:rPr sz="1800">
                          <a:solidFill>
                            <a:srgbClr val="192737"/>
                          </a:solidFill>
                          <a:latin typeface="Arial"/>
                          <a:ea typeface="Arial"/>
                          <a:cs typeface="Arial"/>
                        </a:rPr>
                        <a:t>15</a:t>
                      </a:r>
                    </a:p>
                  </a:txBody>
                  <a:tcPr marL="133350" marR="133350" marT="114300" marB="114300">
                    <a:solidFill>
                      <a:srgbClr val="FFFFFF"/>
                    </a:solidFill>
                  </a:tcPr>
                </a:tc>
                <a:tc>
                  <a:txBody>
                    <a:bodyPr/>
                    <a:lstStyle/>
                    <a:p>
                      <a:r>
                        <a:rPr sz="1800">
                          <a:solidFill>
                            <a:srgbClr val="192737"/>
                          </a:solidFill>
                          <a:latin typeface="Arial"/>
                          <a:ea typeface="Arial"/>
                          <a:cs typeface="Arial"/>
                        </a:rPr>
                        <a:t>Saving pockets and priority support</a:t>
                      </a:r>
                    </a:p>
                  </a:txBody>
                  <a:tcPr marL="133350" marR="133350" marT="114300" marB="114300">
                    <a:solidFill>
                      <a:srgbClr val="FFFFFF"/>
                    </a:solidFill>
                  </a:tcPr>
                </a:tc>
              </a:tr>
              <a:tr h="514350">
                <a:tc>
                  <a:txBody>
                    <a:bodyPr/>
                    <a:lstStyle/>
                    <a:p>
                      <a:r>
                        <a:rPr sz="1800">
                          <a:solidFill>
                            <a:srgbClr val="192737"/>
                          </a:solidFill>
                          <a:latin typeface="Arial"/>
                          <a:ea typeface="Arial"/>
                          <a:cs typeface="Arial"/>
                        </a:rPr>
                        <a:t>Business</a:t>
                      </a:r>
                    </a:p>
                  </a:txBody>
                  <a:tcPr marL="133350" marR="133350" marT="114300" marB="114300">
                    <a:solidFill>
                      <a:srgbClr val="FFFFFF"/>
                    </a:solidFill>
                  </a:tcPr>
                </a:tc>
                <a:tc>
                  <a:txBody>
                    <a:bodyPr/>
                    <a:lstStyle/>
                    <a:p>
                      <a:r>
                        <a:rPr sz="1800">
                          <a:solidFill>
                            <a:srgbClr val="192737"/>
                          </a:solidFill>
                          <a:latin typeface="Arial"/>
                          <a:ea typeface="Arial"/>
                          <a:cs typeface="Arial"/>
                        </a:rPr>
                        <a:t>49</a:t>
                      </a:r>
                    </a:p>
                  </a:txBody>
                  <a:tcPr marL="133350" marR="133350" marT="114300" marB="114300">
                    <a:solidFill>
                      <a:srgbClr val="FFFFFF"/>
                    </a:solidFill>
                  </a:tcPr>
                </a:tc>
                <a:tc>
                  <a:txBody>
                    <a:bodyPr/>
                    <a:lstStyle/>
                    <a:p>
                      <a:r>
                        <a:rPr sz="1800">
                          <a:solidFill>
                            <a:srgbClr val="192737"/>
                          </a:solidFill>
                          <a:latin typeface="Arial"/>
                          <a:ea typeface="Arial"/>
                          <a:cs typeface="Arial"/>
                        </a:rPr>
                        <a:t>Merchant requests and reporting</a:t>
                      </a:r>
                    </a:p>
                  </a:txBody>
                  <a:tcPr marL="133350" marR="13335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EF03F78-78AC-4C9B-9669-65FAD9513DA0}"/>
              </a:ext>
            </a:extLst>
          </p:cNvPr>
          <p:cNvSpPr>
            <a:spLocks xmlns:a="http://schemas.openxmlformats.org/drawingml/2006/main" noGrp="1"/>
          </p:cNvSpPr>
          <p:nvPr/>
        </p:nvSpPr>
        <p:spPr>
          <a:xfrm xmlns:a="http://schemas.openxmlformats.org/drawingml/2006/main">
            <a:off x="666750" y="5238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6879"/>
                </a:solidFill>
                <a:latin typeface="Arial"/>
                <a:ea typeface="Arial"/>
                <a:cs typeface="Arial"/>
              </a:defRPr>
            </a:pPr>
            <a:r>
              <a:rPr sz="1725" b="0">
                <a:solidFill>
                  <a:srgbClr val="586879"/>
                </a:solidFill>
                <a:latin typeface="Arial"/>
                <a:ea typeface="Arial"/>
                <a:cs typeface="Arial"/>
              </a:rPr>
              <a:t>Proposed launch prices. Final fees, eligibility and limits require confirmation.</a:t>
            </a:r>
          </a:p>
        </p:txBody>
      </p:sp>
    </p:spTree>
    <p:extLst>
      <p:ext uri="{BB962C8B-B14F-4D97-AF65-F5344CB8AC3E}">
        <p14:creationId xmlns:p14="http://schemas.microsoft.com/office/powerpoint/2010/main" val="416235818"/>
      </p:ext>
    </p:extLst>
  </p:cSld>
</p:sld>
</file>

<file path=ppt/slides/slide8.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B21F0B-5ACF-451A-B1E3-1332914C6DCC}"/>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The regulated route is the first gate</a:t>
            </a:r>
          </a:p>
        </p:txBody>
      </p:sp>
      <p:sp>
        <p:nvSpPr>
          <p:cNvPr id="2" name="">
            <a:extLst xmlns:a="http://schemas.openxmlformats.org/drawingml/2006/main">
              <a:ext uri="{FF2B5EF4-FFF2-40B4-BE49-F238E27FC236}">
                <a16:creationId xmlns:a16="http://schemas.microsoft.com/office/drawing/2014/main" id="{D927E7A9-0502-4E69-BFFC-CE4085B185DA}"/>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A bank or licensed payment partner is necessary to investigate, not sufficient by itself</a:t>
            </a:r>
          </a:p>
        </p:txBody>
      </p:sp>
      <p:sp>
        <p:nvSpPr>
          <p:cNvPr id="3" name="">
            <a:extLst xmlns:a="http://schemas.openxmlformats.org/drawingml/2006/main">
              <a:ext uri="{FF2B5EF4-FFF2-40B4-BE49-F238E27FC236}">
                <a16:creationId xmlns:a16="http://schemas.microsoft.com/office/drawing/2014/main" id="{2C249E7E-9A05-4E19-962B-127E9E3DE634}"/>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236B7E4F-7359-490A-AAE8-FCE0C532C7DE}"/>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B8BF542-FAE7-4DBD-84A1-292E527D67AB}"/>
              </a:ext>
            </a:extLst>
          </p:cNvPr>
          <p:cNvSpPr>
            <a:spLocks xmlns:a="http://schemas.openxmlformats.org/drawingml/2006/main" noGrp="1"/>
          </p:cNvSpPr>
          <p:nvPr/>
        </p:nvSpPr>
        <p:spPr>
          <a:xfrm xmlns:a="http://schemas.openxmlformats.org/drawingml/2006/main">
            <a:off x="666750" y="23812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Before customer funds</a:t>
            </a:r>
          </a:p>
        </p:txBody>
      </p:sp>
      <p:sp>
        <p:nvSpPr>
          <p:cNvPr id="6" name="">
            <a:extLst xmlns:a="http://schemas.openxmlformats.org/drawingml/2006/main">
              <a:ext uri="{FF2B5EF4-FFF2-40B4-BE49-F238E27FC236}">
                <a16:creationId xmlns:a16="http://schemas.microsoft.com/office/drawing/2014/main" id="{C78CB1D6-18D8-4171-9DD4-D40A7256CA0A}"/>
              </a:ext>
            </a:extLst>
          </p:cNvPr>
          <p:cNvSpPr>
            <a:spLocks xmlns:a="http://schemas.openxmlformats.org/drawingml/2006/main" noGrp="1"/>
          </p:cNvSpPr>
          <p:nvPr/>
        </p:nvSpPr>
        <p:spPr>
          <a:xfrm xmlns:a="http://schemas.openxmlformats.org/drawingml/2006/main">
            <a:off x="3857625" y="23812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Confirm authorisation scope, safeguarding, settlement accounts and customer terms.</a:t>
            </a:r>
          </a:p>
        </p:txBody>
      </p:sp>
      <p:sp>
        <p:nvSpPr>
          <p:cNvPr id="7" name="">
            <a:extLst xmlns:a="http://schemas.openxmlformats.org/drawingml/2006/main">
              <a:ext uri="{FF2B5EF4-FFF2-40B4-BE49-F238E27FC236}">
                <a16:creationId xmlns:a16="http://schemas.microsoft.com/office/drawing/2014/main" id="{E80B2DD2-9B53-4349-B7C2-02BB5475F842}"/>
              </a:ext>
            </a:extLst>
          </p:cNvPr>
          <p:cNvSpPr>
            <a:spLocks xmlns:a="http://schemas.openxmlformats.org/drawingml/2006/main" noGrp="1"/>
          </p:cNvSpPr>
          <p:nvPr/>
        </p:nvSpPr>
        <p:spPr>
          <a:xfrm xmlns:a="http://schemas.openxmlformats.org/drawingml/2006/main">
            <a:off x="666750" y="361950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Before public launch</a:t>
            </a:r>
          </a:p>
        </p:txBody>
      </p:sp>
      <p:sp>
        <p:nvSpPr>
          <p:cNvPr id="8" name="">
            <a:extLst xmlns:a="http://schemas.openxmlformats.org/drawingml/2006/main">
              <a:ext uri="{FF2B5EF4-FFF2-40B4-BE49-F238E27FC236}">
                <a16:creationId xmlns:a16="http://schemas.microsoft.com/office/drawing/2014/main" id="{DA855460-2620-4B04-A452-E4C87FB5812C}"/>
              </a:ext>
            </a:extLst>
          </p:cNvPr>
          <p:cNvSpPr>
            <a:spLocks xmlns:a="http://schemas.openxmlformats.org/drawingml/2006/main" noGrp="1"/>
          </p:cNvSpPr>
          <p:nvPr/>
        </p:nvSpPr>
        <p:spPr>
          <a:xfrm xmlns:a="http://schemas.openxmlformats.org/drawingml/2006/main">
            <a:off x="3857625" y="36195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Approve identity checks, monitoring, complaints and independent security assurance.</a:t>
            </a:r>
          </a:p>
        </p:txBody>
      </p:sp>
      <p:sp>
        <p:nvSpPr>
          <p:cNvPr id="9" name="">
            <a:extLst xmlns:a="http://schemas.openxmlformats.org/drawingml/2006/main">
              <a:ext uri="{FF2B5EF4-FFF2-40B4-BE49-F238E27FC236}">
                <a16:creationId xmlns:a16="http://schemas.microsoft.com/office/drawing/2014/main" id="{3696115F-A2EC-444D-8ED5-D9BBA08CBC54}"/>
              </a:ext>
            </a:extLst>
          </p:cNvPr>
          <p:cNvSpPr>
            <a:spLocks xmlns:a="http://schemas.openxmlformats.org/drawingml/2006/main" noGrp="1"/>
          </p:cNvSpPr>
          <p:nvPr/>
        </p:nvSpPr>
        <p:spPr>
          <a:xfrm xmlns:a="http://schemas.openxmlformats.org/drawingml/2006/main">
            <a:off x="666750" y="48577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Before international access</a:t>
            </a:r>
          </a:p>
        </p:txBody>
      </p:sp>
      <p:sp>
        <p:nvSpPr>
          <p:cNvPr id="10" name="">
            <a:extLst xmlns:a="http://schemas.openxmlformats.org/drawingml/2006/main">
              <a:ext uri="{FF2B5EF4-FFF2-40B4-BE49-F238E27FC236}">
                <a16:creationId xmlns:a16="http://schemas.microsoft.com/office/drawing/2014/main" id="{03D515DA-64DA-4737-BDE1-97D7D8B28564}"/>
              </a:ext>
            </a:extLst>
          </p:cNvPr>
          <p:cNvSpPr>
            <a:spLocks xmlns:a="http://schemas.openxmlformats.org/drawingml/2006/main" noGrp="1"/>
          </p:cNvSpPr>
          <p:nvPr/>
        </p:nvSpPr>
        <p:spPr>
          <a:xfrm xmlns:a="http://schemas.openxmlformats.org/drawingml/2006/main">
            <a:off x="3857625" y="48577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Confirm issuer eligibility, FX permissions and each supported corridor.</a:t>
            </a:r>
          </a:p>
        </p:txBody>
      </p:sp>
    </p:spTree>
    <p:extLst>
      <p:ext uri="{BB962C8B-B14F-4D97-AF65-F5344CB8AC3E}">
        <p14:creationId xmlns:p14="http://schemas.microsoft.com/office/powerpoint/2010/main" val="1024127266"/>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4A3B52-7513-4A4C-813F-5F00E939CC42}"/>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24 months of deliberately cautious costs</a:t>
            </a:r>
          </a:p>
        </p:txBody>
      </p:sp>
      <p:sp>
        <p:nvSpPr>
          <p:cNvPr id="2" name="">
            <a:extLst xmlns:a="http://schemas.openxmlformats.org/drawingml/2006/main">
              <a:ext uri="{FF2B5EF4-FFF2-40B4-BE49-F238E27FC236}">
                <a16:creationId xmlns:a16="http://schemas.microsoft.com/office/drawing/2014/main" id="{561290E3-C5DA-412E-B008-EA3CE76AD148}"/>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6879"/>
                </a:solidFill>
                <a:latin typeface="Arial"/>
                <a:ea typeface="Arial"/>
                <a:cs typeface="Arial"/>
              </a:defRPr>
            </a:pPr>
            <a:r>
              <a:rPr sz="1650" b="0">
                <a:solidFill>
                  <a:srgbClr val="586879"/>
                </a:solidFill>
                <a:latin typeface="Arial"/>
                <a:ea typeface="Arial"/>
                <a:cs typeface="Arial"/>
              </a:rPr>
              <a:t>Fixed spending budget, million LYD. Planning estimates, not vendor quotes.</a:t>
            </a:r>
          </a:p>
        </p:txBody>
      </p:sp>
      <p:sp>
        <p:nvSpPr>
          <p:cNvPr id="3" name="">
            <a:extLst xmlns:a="http://schemas.openxmlformats.org/drawingml/2006/main">
              <a:ext uri="{FF2B5EF4-FFF2-40B4-BE49-F238E27FC236}">
                <a16:creationId xmlns:a16="http://schemas.microsoft.com/office/drawing/2014/main" id="{1A6578AC-20AD-4208-BE34-8D4B39F3FE3F}"/>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8A3ED862-FE9A-4CFD-BF3E-FC791422AE76}"/>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09</a:t>
            </a:r>
          </a:p>
        </p:txBody>
      </p:sp>
      <p:graphicFrame>
        <p:nvGraphicFramePr>
          <p:cNvPr id="10" name=""/>
          <p:cNvGraphicFramePr/>
          <p:nvPr/>
        </p:nvGraphicFramePr>
        <p:xfrm>
          <a:off xmlns:a="http://schemas.openxmlformats.org/drawingml/2006/main" x="666750" y="2171700"/>
          <a:ext xmlns:a="http://schemas.openxmlformats.org/drawingml/2006/main" cx="10858500" cy="3086100"/>
        </p:xfrm>
        <a:graphic xmlns:a="http://schemas.openxmlformats.org/drawingml/2006/main">
          <a:graphicData uri="http://schemas.openxmlformats.org/drawingml/2006/table">
            <a:tbl>
              <a:tblPr/>
              <a:tblGrid>
                <a:gridCol w="8382000"/>
                <a:gridCol w="2476500"/>
              </a:tblGrid>
              <a:tr h="514350">
                <a:tc>
                  <a:txBody>
                    <a:bodyPr/>
                    <a:lstStyle/>
                    <a:p>
                      <a:r>
                        <a:rPr sz="1725" b="1">
                          <a:solidFill>
                            <a:srgbClr val="192737"/>
                          </a:solidFill>
                          <a:latin typeface="Arial"/>
                          <a:ea typeface="Arial"/>
                          <a:cs typeface="Arial"/>
                        </a:rPr>
                        <a:t>Workstream</a:t>
                      </a:r>
                    </a:p>
                  </a:txBody>
                  <a:tcPr marL="133350" marR="133350" marT="114300" marB="114300">
                    <a:solidFill>
                      <a:srgbClr val="E4EDF6"/>
                    </a:solidFill>
                  </a:tcPr>
                </a:tc>
                <a:tc>
                  <a:txBody>
                    <a:bodyPr/>
                    <a:lstStyle/>
                    <a:p>
                      <a:r>
                        <a:rPr sz="1725" b="1">
                          <a:solidFill>
                            <a:srgbClr val="192737"/>
                          </a:solidFill>
                          <a:latin typeface="Arial"/>
                          <a:ea typeface="Arial"/>
                          <a:cs typeface="Arial"/>
                        </a:rPr>
                        <a:t>Million LYD</a:t>
                      </a:r>
                    </a:p>
                  </a:txBody>
                  <a:tcPr marL="133350" marR="133350" marT="114300" marB="114300">
                    <a:solidFill>
                      <a:srgbClr val="E4EDF6"/>
                    </a:solidFill>
                  </a:tcPr>
                </a:tc>
              </a:tr>
              <a:tr h="514350">
                <a:tc>
                  <a:txBody>
                    <a:bodyPr/>
                    <a:lstStyle/>
                    <a:p>
                      <a:r>
                        <a:rPr sz="1725">
                          <a:solidFill>
                            <a:srgbClr val="192737"/>
                          </a:solidFill>
                          <a:latin typeface="Arial"/>
                          <a:ea typeface="Arial"/>
                          <a:cs typeface="Arial"/>
                        </a:rPr>
                        <a:t>Engineering and product</a:t>
                      </a:r>
                    </a:p>
                  </a:txBody>
                  <a:tcPr marL="133350" marR="133350" marT="114300" marB="114300">
                    <a:solidFill>
                      <a:srgbClr val="FFFFFF"/>
                    </a:solidFill>
                  </a:tcPr>
                </a:tc>
                <a:tc>
                  <a:txBody>
                    <a:bodyPr/>
                    <a:lstStyle/>
                    <a:p>
                      <a:r>
                        <a:rPr sz="1725">
                          <a:solidFill>
                            <a:srgbClr val="192737"/>
                          </a:solidFill>
                          <a:latin typeface="Arial"/>
                          <a:ea typeface="Arial"/>
                          <a:cs typeface="Arial"/>
                        </a:rPr>
                        <a:t>3.60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Operations and compliance personnel</a:t>
                      </a:r>
                    </a:p>
                  </a:txBody>
                  <a:tcPr marL="133350" marR="133350" marT="114300" marB="114300">
                    <a:solidFill>
                      <a:srgbClr val="FFFFFF"/>
                    </a:solidFill>
                  </a:tcPr>
                </a:tc>
                <a:tc>
                  <a:txBody>
                    <a:bodyPr/>
                    <a:lstStyle/>
                    <a:p>
                      <a:r>
                        <a:rPr sz="1725">
                          <a:solidFill>
                            <a:srgbClr val="192737"/>
                          </a:solidFill>
                          <a:latin typeface="Arial"/>
                          <a:ea typeface="Arial"/>
                          <a:cs typeface="Arial"/>
                        </a:rPr>
                        <a:t>4.80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Legal, security and partner setup</a:t>
                      </a:r>
                    </a:p>
                  </a:txBody>
                  <a:tcPr marL="133350" marR="133350" marT="114300" marB="114300">
                    <a:solidFill>
                      <a:srgbClr val="FFFFFF"/>
                    </a:solidFill>
                  </a:tcPr>
                </a:tc>
                <a:tc>
                  <a:txBody>
                    <a:bodyPr/>
                    <a:lstStyle/>
                    <a:p>
                      <a:r>
                        <a:rPr sz="1725">
                          <a:solidFill>
                            <a:srgbClr val="192737"/>
                          </a:solidFill>
                          <a:latin typeface="Arial"/>
                          <a:ea typeface="Arial"/>
                          <a:cs typeface="Arial"/>
                        </a:rPr>
                        <a:t>3.30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Cloud, growth and administration</a:t>
                      </a:r>
                    </a:p>
                  </a:txBody>
                  <a:tcPr marL="133350" marR="133350" marT="114300" marB="114300">
                    <a:solidFill>
                      <a:srgbClr val="FFFFFF"/>
                    </a:solidFill>
                  </a:tcPr>
                </a:tc>
                <a:tc>
                  <a:txBody>
                    <a:bodyPr/>
                    <a:lstStyle/>
                    <a:p>
                      <a:r>
                        <a:rPr sz="1725">
                          <a:solidFill>
                            <a:srgbClr val="192737"/>
                          </a:solidFill>
                          <a:latin typeface="Arial"/>
                          <a:ea typeface="Arial"/>
                          <a:cs typeface="Arial"/>
                        </a:rPr>
                        <a:t>3.30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Total fixed spending</a:t>
                      </a:r>
                    </a:p>
                  </a:txBody>
                  <a:tcPr marL="133350" marR="133350" marT="114300" marB="114300">
                    <a:solidFill>
                      <a:srgbClr val="FFFFFF"/>
                    </a:solidFill>
                  </a:tcPr>
                </a:tc>
                <a:tc>
                  <a:txBody>
                    <a:bodyPr/>
                    <a:lstStyle/>
                    <a:p>
                      <a:r>
                        <a:rPr sz="1725">
                          <a:solidFill>
                            <a:srgbClr val="192737"/>
                          </a:solidFill>
                          <a:latin typeface="Arial"/>
                          <a:ea typeface="Arial"/>
                          <a:cs typeface="Arial"/>
                        </a:rPr>
                        <a:t>15.00</a:t>
                      </a:r>
                    </a:p>
                  </a:txBody>
                  <a:tcPr marL="133350" marR="133350" marT="114300" marB="114300">
                    <a:solidFill>
                      <a:srgbClr val="FFFFFF"/>
                    </a:solidFill>
                  </a:tcPr>
                </a:tc>
              </a:tr>
            </a:tbl>
          </a:graphicData>
        </a:graphic>
      </p:graphicFrame>
    </p:spTree>
    <p:extLst>
      <p:ext uri="{BB962C8B-B14F-4D97-AF65-F5344CB8AC3E}">
        <p14:creationId xmlns:p14="http://schemas.microsoft.com/office/powerpoint/2010/main" val="957392697"/>
      </p:ext>
    </p:extLst>
  </p:cSld>
</p:sld>
</file>

<file path=ppt/slides/slide10.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87AA5D-4E20-4CC8-BD03-2A7CAA283B81}"/>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A 30 million LYD funding envelope</a:t>
            </a:r>
          </a:p>
        </p:txBody>
      </p:sp>
      <p:sp>
        <p:nvSpPr>
          <p:cNvPr id="2" name="">
            <a:extLst xmlns:a="http://schemas.openxmlformats.org/drawingml/2006/main">
              <a:ext uri="{FF2B5EF4-FFF2-40B4-BE49-F238E27FC236}">
                <a16:creationId xmlns:a16="http://schemas.microsoft.com/office/drawing/2014/main" id="{346EC003-E699-40A1-B40F-D563A595E21A}"/>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Contingency and restricted funds remain visible</a:t>
            </a:r>
          </a:p>
        </p:txBody>
      </p:sp>
      <p:sp>
        <p:nvSpPr>
          <p:cNvPr id="3" name="">
            <a:extLst xmlns:a="http://schemas.openxmlformats.org/drawingml/2006/main">
              <a:ext uri="{FF2B5EF4-FFF2-40B4-BE49-F238E27FC236}">
                <a16:creationId xmlns:a16="http://schemas.microsoft.com/office/drawing/2014/main" id="{1CF833D4-245A-423A-B2CE-ED87676F95D1}"/>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D80E92EB-B62A-4D8F-8A02-CE4B82294E7A}"/>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10</a:t>
            </a:r>
          </a:p>
        </p:txBody>
      </p:sp>
      <p:graphicFrame>
        <p:nvGraphicFramePr>
          <p:cNvPr id="10" name=""/>
          <p:cNvGraphicFramePr/>
          <p:nvPr/>
        </p:nvGraphicFramePr>
        <p:xfrm>
          <a:off xmlns:a="http://schemas.openxmlformats.org/drawingml/2006/main" x="666750" y="2076450"/>
          <a:ext xmlns:a="http://schemas.openxmlformats.org/drawingml/2006/main" cx="10858500" cy="3600450"/>
        </p:xfrm>
        <a:graphic xmlns:a="http://schemas.openxmlformats.org/drawingml/2006/main">
          <a:graphicData uri="http://schemas.openxmlformats.org/drawingml/2006/table">
            <a:tbl>
              <a:tblPr/>
              <a:tblGrid>
                <a:gridCol w="8382000"/>
                <a:gridCol w="2476500"/>
              </a:tblGrid>
              <a:tr h="514350">
                <a:tc>
                  <a:txBody>
                    <a:bodyPr/>
                    <a:lstStyle/>
                    <a:p>
                      <a:r>
                        <a:rPr sz="1650" b="1">
                          <a:solidFill>
                            <a:srgbClr val="63A1DB"/>
                          </a:solidFill>
                          <a:latin typeface="Arial"/>
                          <a:ea typeface="Arial"/>
                          <a:cs typeface="Arial"/>
                        </a:rPr>
                        <a:t>Funding use</a:t>
                      </a:r>
                    </a:p>
                  </a:txBody>
                  <a:tcPr marL="133350" marR="133350" marT="114300" marB="114300">
                    <a:solidFill>
                      <a:srgbClr val="293749"/>
                    </a:solidFill>
                  </a:tcPr>
                </a:tc>
                <a:tc>
                  <a:txBody>
                    <a:bodyPr/>
                    <a:lstStyle/>
                    <a:p>
                      <a:r>
                        <a:rPr sz="1650" b="1">
                          <a:solidFill>
                            <a:srgbClr val="63A1DB"/>
                          </a:solidFill>
                          <a:latin typeface="Arial"/>
                          <a:ea typeface="Arial"/>
                          <a:cs typeface="Arial"/>
                        </a:rPr>
                        <a:t>Million LYD</a:t>
                      </a:r>
                    </a:p>
                  </a:txBody>
                  <a:tcPr marL="133350" marR="133350" marT="114300" marB="114300">
                    <a:solidFill>
                      <a:srgbClr val="293749"/>
                    </a:solidFill>
                  </a:tcPr>
                </a:tc>
              </a:tr>
              <a:tr h="514350">
                <a:tc>
                  <a:txBody>
                    <a:bodyPr/>
                    <a:lstStyle/>
                    <a:p>
                      <a:r>
                        <a:rPr sz="1650">
                          <a:solidFill>
                            <a:srgbClr val="F5F6F8"/>
                          </a:solidFill>
                          <a:latin typeface="Arial"/>
                          <a:ea typeface="Arial"/>
                          <a:cs typeface="Arial"/>
                        </a:rPr>
                        <a:t>24 month fixed spending</a:t>
                      </a:r>
                    </a:p>
                  </a:txBody>
                  <a:tcPr marL="133350" marR="133350" marT="114300" marB="114300">
                    <a:solidFill>
                      <a:srgbClr val="20252D"/>
                    </a:solidFill>
                  </a:tcPr>
                </a:tc>
                <a:tc>
                  <a:txBody>
                    <a:bodyPr/>
                    <a:lstStyle/>
                    <a:p>
                      <a:r>
                        <a:rPr sz="1650">
                          <a:solidFill>
                            <a:srgbClr val="F5F6F8"/>
                          </a:solidFill>
                          <a:latin typeface="Arial"/>
                          <a:ea typeface="Arial"/>
                          <a:cs typeface="Arial"/>
                        </a:rPr>
                        <a:t>15.00</a:t>
                      </a:r>
                    </a:p>
                  </a:txBody>
                  <a:tcPr marL="133350" marR="133350" marT="114300" marB="114300">
                    <a:solidFill>
                      <a:srgbClr val="20252D"/>
                    </a:solidFill>
                  </a:tcPr>
                </a:tc>
              </a:tr>
              <a:tr h="514350">
                <a:tc>
                  <a:txBody>
                    <a:bodyPr/>
                    <a:lstStyle/>
                    <a:p>
                      <a:r>
                        <a:rPr sz="1650">
                          <a:solidFill>
                            <a:srgbClr val="F5F6F8"/>
                          </a:solidFill>
                          <a:latin typeface="Arial"/>
                          <a:ea typeface="Arial"/>
                          <a:cs typeface="Arial"/>
                        </a:rPr>
                        <a:t>35% cost contingency</a:t>
                      </a:r>
                    </a:p>
                  </a:txBody>
                  <a:tcPr marL="133350" marR="133350" marT="114300" marB="114300">
                    <a:solidFill>
                      <a:srgbClr val="20252D"/>
                    </a:solidFill>
                  </a:tcPr>
                </a:tc>
                <a:tc>
                  <a:txBody>
                    <a:bodyPr/>
                    <a:lstStyle/>
                    <a:p>
                      <a:r>
                        <a:rPr sz="1650">
                          <a:solidFill>
                            <a:srgbClr val="F5F6F8"/>
                          </a:solidFill>
                          <a:latin typeface="Arial"/>
                          <a:ea typeface="Arial"/>
                          <a:cs typeface="Arial"/>
                        </a:rPr>
                        <a:t>5.25</a:t>
                      </a:r>
                    </a:p>
                  </a:txBody>
                  <a:tcPr marL="133350" marR="133350" marT="114300" marB="114300">
                    <a:solidFill>
                      <a:srgbClr val="20252D"/>
                    </a:solidFill>
                  </a:tcPr>
                </a:tc>
              </a:tr>
              <a:tr h="514350">
                <a:tc>
                  <a:txBody>
                    <a:bodyPr/>
                    <a:lstStyle/>
                    <a:p>
                      <a:r>
                        <a:rPr sz="1650">
                          <a:solidFill>
                            <a:srgbClr val="F5F6F8"/>
                          </a:solidFill>
                          <a:latin typeface="Arial"/>
                          <a:ea typeface="Arial"/>
                          <a:cs typeface="Arial"/>
                        </a:rPr>
                        <a:t>Provisional regulatory capital</a:t>
                      </a:r>
                    </a:p>
                  </a:txBody>
                  <a:tcPr marL="133350" marR="133350" marT="114300" marB="114300">
                    <a:solidFill>
                      <a:srgbClr val="20252D"/>
                    </a:solidFill>
                  </a:tcPr>
                </a:tc>
                <a:tc>
                  <a:txBody>
                    <a:bodyPr/>
                    <a:lstStyle/>
                    <a:p>
                      <a:r>
                        <a:rPr sz="1650">
                          <a:solidFill>
                            <a:srgbClr val="F5F6F8"/>
                          </a:solidFill>
                          <a:latin typeface="Arial"/>
                          <a:ea typeface="Arial"/>
                          <a:cs typeface="Arial"/>
                        </a:rPr>
                        <a:t>5.00</a:t>
                      </a:r>
                    </a:p>
                  </a:txBody>
                  <a:tcPr marL="133350" marR="133350" marT="114300" marB="114300">
                    <a:solidFill>
                      <a:srgbClr val="20252D"/>
                    </a:solidFill>
                  </a:tcPr>
                </a:tc>
              </a:tr>
              <a:tr h="514350">
                <a:tc>
                  <a:txBody>
                    <a:bodyPr/>
                    <a:lstStyle/>
                    <a:p>
                      <a:r>
                        <a:rPr sz="1650">
                          <a:solidFill>
                            <a:srgbClr val="F5F6F8"/>
                          </a:solidFill>
                          <a:latin typeface="Arial"/>
                          <a:ea typeface="Arial"/>
                          <a:cs typeface="Arial"/>
                        </a:rPr>
                        <a:t>Settlement or partner collateral</a:t>
                      </a:r>
                    </a:p>
                  </a:txBody>
                  <a:tcPr marL="133350" marR="133350" marT="114300" marB="114300">
                    <a:solidFill>
                      <a:srgbClr val="20252D"/>
                    </a:solidFill>
                  </a:tcPr>
                </a:tc>
                <a:tc>
                  <a:txBody>
                    <a:bodyPr/>
                    <a:lstStyle/>
                    <a:p>
                      <a:r>
                        <a:rPr sz="1650">
                          <a:solidFill>
                            <a:srgbClr val="F5F6F8"/>
                          </a:solidFill>
                          <a:latin typeface="Arial"/>
                          <a:ea typeface="Arial"/>
                          <a:cs typeface="Arial"/>
                        </a:rPr>
                        <a:t>2.00</a:t>
                      </a:r>
                    </a:p>
                  </a:txBody>
                  <a:tcPr marL="133350" marR="133350" marT="114300" marB="114300">
                    <a:solidFill>
                      <a:srgbClr val="20252D"/>
                    </a:solidFill>
                  </a:tcPr>
                </a:tc>
              </a:tr>
              <a:tr h="514350">
                <a:tc>
                  <a:txBody>
                    <a:bodyPr/>
                    <a:lstStyle/>
                    <a:p>
                      <a:r>
                        <a:rPr sz="1650">
                          <a:solidFill>
                            <a:srgbClr val="F5F6F8"/>
                          </a:solidFill>
                          <a:latin typeface="Arial"/>
                          <a:ea typeface="Arial"/>
                          <a:cs typeface="Arial"/>
                        </a:rPr>
                        <a:t>Additional unrestricted liquidity</a:t>
                      </a:r>
                    </a:p>
                  </a:txBody>
                  <a:tcPr marL="133350" marR="133350" marT="114300" marB="114300">
                    <a:solidFill>
                      <a:srgbClr val="20252D"/>
                    </a:solidFill>
                  </a:tcPr>
                </a:tc>
                <a:tc>
                  <a:txBody>
                    <a:bodyPr/>
                    <a:lstStyle/>
                    <a:p>
                      <a:r>
                        <a:rPr sz="1650">
                          <a:solidFill>
                            <a:srgbClr val="F5F6F8"/>
                          </a:solidFill>
                          <a:latin typeface="Arial"/>
                          <a:ea typeface="Arial"/>
                          <a:cs typeface="Arial"/>
                        </a:rPr>
                        <a:t>2.75</a:t>
                      </a:r>
                    </a:p>
                  </a:txBody>
                  <a:tcPr marL="133350" marR="133350" marT="114300" marB="114300">
                    <a:solidFill>
                      <a:srgbClr val="20252D"/>
                    </a:solidFill>
                  </a:tcPr>
                </a:tc>
              </a:tr>
              <a:tr h="514350">
                <a:tc>
                  <a:txBody>
                    <a:bodyPr/>
                    <a:lstStyle/>
                    <a:p>
                      <a:r>
                        <a:rPr sz="1650">
                          <a:solidFill>
                            <a:srgbClr val="F5F6F8"/>
                          </a:solidFill>
                          <a:latin typeface="Arial"/>
                          <a:ea typeface="Arial"/>
                          <a:cs typeface="Arial"/>
                        </a:rPr>
                        <a:t>Total proposed funding</a:t>
                      </a:r>
                    </a:p>
                  </a:txBody>
                  <a:tcPr marL="133350" marR="133350" marT="114300" marB="114300">
                    <a:solidFill>
                      <a:srgbClr val="20252D"/>
                    </a:solidFill>
                  </a:tcPr>
                </a:tc>
                <a:tc>
                  <a:txBody>
                    <a:bodyPr/>
                    <a:lstStyle/>
                    <a:p>
                      <a:r>
                        <a:rPr sz="1650">
                          <a:solidFill>
                            <a:srgbClr val="F5F6F8"/>
                          </a:solidFill>
                          <a:latin typeface="Arial"/>
                          <a:ea typeface="Arial"/>
                          <a:cs typeface="Arial"/>
                        </a:rPr>
                        <a:t>30.00</a:t>
                      </a:r>
                    </a:p>
                  </a:txBody>
                  <a:tcPr marL="133350" marR="133350" marT="114300" marB="114300">
                    <a:solidFill>
                      <a:srgbClr val="20252D"/>
                    </a:solidFill>
                  </a:tcPr>
                </a:tc>
              </a:tr>
            </a:tbl>
          </a:graphicData>
        </a:graphic>
      </p:graphicFrame>
    </p:spTree>
    <p:extLst>
      <p:ext uri="{BB962C8B-B14F-4D97-AF65-F5344CB8AC3E}">
        <p14:creationId xmlns:p14="http://schemas.microsoft.com/office/powerpoint/2010/main" val="49939691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A9869C-C310-432C-9714-85F186F3E9C0}"/>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Operating profitability needs scale</a:t>
            </a:r>
          </a:p>
        </p:txBody>
      </p:sp>
      <p:sp>
        <p:nvSpPr>
          <p:cNvPr id="2" name="">
            <a:extLst xmlns:a="http://schemas.openxmlformats.org/drawingml/2006/main">
              <a:ext uri="{FF2B5EF4-FFF2-40B4-BE49-F238E27FC236}">
                <a16:creationId xmlns:a16="http://schemas.microsoft.com/office/drawing/2014/main" id="{02BC843B-DE9C-4CB8-9B73-9DBA0BAD8096}"/>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6879"/>
                </a:solidFill>
                <a:latin typeface="Arial"/>
                <a:ea typeface="Arial"/>
                <a:cs typeface="Arial"/>
              </a:defRPr>
            </a:pPr>
            <a:r>
              <a:rPr sz="1650" b="0">
                <a:solidFill>
                  <a:srgbClr val="586879"/>
                </a:solidFill>
                <a:latin typeface="Arial"/>
                <a:ea typeface="Arial"/>
                <a:cs typeface="Arial"/>
              </a:rPr>
              <a:t>Central scenario. All figures are assumptions, in million LYD unless stated.</a:t>
            </a:r>
          </a:p>
        </p:txBody>
      </p:sp>
      <p:sp>
        <p:nvSpPr>
          <p:cNvPr id="3" name="">
            <a:extLst xmlns:a="http://schemas.openxmlformats.org/drawingml/2006/main">
              <a:ext uri="{FF2B5EF4-FFF2-40B4-BE49-F238E27FC236}">
                <a16:creationId xmlns:a16="http://schemas.microsoft.com/office/drawing/2014/main" id="{7186582E-635B-4A08-9FDE-62204293724B}"/>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2F5B4F9C-2FF9-4FC4-9DF1-DDE364804465}"/>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11</a:t>
            </a:r>
          </a:p>
        </p:txBody>
      </p:sp>
      <p:graphicFrame>
        <p:nvGraphicFramePr>
          <p:cNvPr id="11" name=""/>
          <p:cNvGraphicFramePr/>
          <p:nvPr/>
        </p:nvGraphicFramePr>
        <p:xfrm>
          <a:off xmlns:a="http://schemas.openxmlformats.org/drawingml/2006/main" x="666750" y="2171700"/>
          <a:ext xmlns:a="http://schemas.openxmlformats.org/drawingml/2006/main" cx="10858500" cy="3086100"/>
        </p:xfrm>
        <a:graphic xmlns:a="http://schemas.openxmlformats.org/drawingml/2006/main">
          <a:graphicData uri="http://schemas.openxmlformats.org/drawingml/2006/table">
            <a:tbl>
              <a:tblPr/>
              <a:tblGrid>
                <a:gridCol w="5143500"/>
                <a:gridCol w="1905000"/>
                <a:gridCol w="1905000"/>
                <a:gridCol w="1905000"/>
              </a:tblGrid>
              <a:tr h="514350">
                <a:tc>
                  <a:txBody>
                    <a:bodyPr/>
                    <a:lstStyle/>
                    <a:p>
                      <a:r>
                        <a:rPr sz="1725" b="1">
                          <a:solidFill>
                            <a:srgbClr val="192737"/>
                          </a:solidFill>
                          <a:latin typeface="Arial"/>
                          <a:ea typeface="Arial"/>
                          <a:cs typeface="Arial"/>
                        </a:rPr>
                        <a:t>Annual measure</a:t>
                      </a:r>
                    </a:p>
                  </a:txBody>
                  <a:tcPr marL="133350" marR="133350" marT="114300" marB="114300">
                    <a:solidFill>
                      <a:srgbClr val="E4EDF6"/>
                    </a:solidFill>
                  </a:tcPr>
                </a:tc>
                <a:tc>
                  <a:txBody>
                    <a:bodyPr/>
                    <a:lstStyle/>
                    <a:p>
                      <a:r>
                        <a:rPr sz="1725" b="1">
                          <a:solidFill>
                            <a:srgbClr val="192737"/>
                          </a:solidFill>
                          <a:latin typeface="Arial"/>
                          <a:ea typeface="Arial"/>
                          <a:cs typeface="Arial"/>
                        </a:rPr>
                        <a:t>Year 1</a:t>
                      </a:r>
                    </a:p>
                  </a:txBody>
                  <a:tcPr marL="133350" marR="133350" marT="114300" marB="114300">
                    <a:solidFill>
                      <a:srgbClr val="E4EDF6"/>
                    </a:solidFill>
                  </a:tcPr>
                </a:tc>
                <a:tc>
                  <a:txBody>
                    <a:bodyPr/>
                    <a:lstStyle/>
                    <a:p>
                      <a:r>
                        <a:rPr sz="1725" b="1">
                          <a:solidFill>
                            <a:srgbClr val="192737"/>
                          </a:solidFill>
                          <a:latin typeface="Arial"/>
                          <a:ea typeface="Arial"/>
                          <a:cs typeface="Arial"/>
                        </a:rPr>
                        <a:t>Year 2</a:t>
                      </a:r>
                    </a:p>
                  </a:txBody>
                  <a:tcPr marL="133350" marR="133350" marT="114300" marB="114300">
                    <a:solidFill>
                      <a:srgbClr val="E4EDF6"/>
                    </a:solidFill>
                  </a:tcPr>
                </a:tc>
                <a:tc>
                  <a:txBody>
                    <a:bodyPr/>
                    <a:lstStyle/>
                    <a:p>
                      <a:r>
                        <a:rPr sz="1725" b="1">
                          <a:solidFill>
                            <a:srgbClr val="192737"/>
                          </a:solidFill>
                          <a:latin typeface="Arial"/>
                          <a:ea typeface="Arial"/>
                          <a:cs typeface="Arial"/>
                        </a:rPr>
                        <a:t>Year 3</a:t>
                      </a:r>
                    </a:p>
                  </a:txBody>
                  <a:tcPr marL="133350" marR="133350" marT="114300" marB="114300">
                    <a:solidFill>
                      <a:srgbClr val="E4EDF6"/>
                    </a:solidFill>
                  </a:tcPr>
                </a:tc>
              </a:tr>
              <a:tr h="514350">
                <a:tc>
                  <a:txBody>
                    <a:bodyPr/>
                    <a:lstStyle/>
                    <a:p>
                      <a:r>
                        <a:rPr sz="1725">
                          <a:solidFill>
                            <a:srgbClr val="192737"/>
                          </a:solidFill>
                          <a:latin typeface="Arial"/>
                          <a:ea typeface="Arial"/>
                          <a:cs typeface="Arial"/>
                        </a:rPr>
                        <a:t>Average active consumers</a:t>
                      </a:r>
                    </a:p>
                  </a:txBody>
                  <a:tcPr marL="133350" marR="133350" marT="114300" marB="114300">
                    <a:solidFill>
                      <a:srgbClr val="FFFFFF"/>
                    </a:solidFill>
                  </a:tcPr>
                </a:tc>
                <a:tc>
                  <a:txBody>
                    <a:bodyPr/>
                    <a:lstStyle/>
                    <a:p>
                      <a:r>
                        <a:rPr sz="1725">
                          <a:solidFill>
                            <a:srgbClr val="192737"/>
                          </a:solidFill>
                          <a:latin typeface="Arial"/>
                          <a:ea typeface="Arial"/>
                          <a:cs typeface="Arial"/>
                        </a:rPr>
                        <a:t>10,000</a:t>
                      </a:r>
                    </a:p>
                  </a:txBody>
                  <a:tcPr marL="133350" marR="133350" marT="114300" marB="114300">
                    <a:solidFill>
                      <a:srgbClr val="FFFFFF"/>
                    </a:solidFill>
                  </a:tcPr>
                </a:tc>
                <a:tc>
                  <a:txBody>
                    <a:bodyPr/>
                    <a:lstStyle/>
                    <a:p>
                      <a:r>
                        <a:rPr sz="1725">
                          <a:solidFill>
                            <a:srgbClr val="192737"/>
                          </a:solidFill>
                          <a:latin typeface="Arial"/>
                          <a:ea typeface="Arial"/>
                          <a:cs typeface="Arial"/>
                        </a:rPr>
                        <a:t>45,000</a:t>
                      </a:r>
                    </a:p>
                  </a:txBody>
                  <a:tcPr marL="133350" marR="133350" marT="114300" marB="114300">
                    <a:solidFill>
                      <a:srgbClr val="FFFFFF"/>
                    </a:solidFill>
                  </a:tcPr>
                </a:tc>
                <a:tc>
                  <a:txBody>
                    <a:bodyPr/>
                    <a:lstStyle/>
                    <a:p>
                      <a:r>
                        <a:rPr sz="1725">
                          <a:solidFill>
                            <a:srgbClr val="192737"/>
                          </a:solidFill>
                          <a:latin typeface="Arial"/>
                          <a:ea typeface="Arial"/>
                          <a:cs typeface="Arial"/>
                        </a:rPr>
                        <a:t>120,000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Revenue</a:t>
                      </a:r>
                    </a:p>
                  </a:txBody>
                  <a:tcPr marL="133350" marR="133350" marT="114300" marB="114300">
                    <a:solidFill>
                      <a:srgbClr val="FFFFFF"/>
                    </a:solidFill>
                  </a:tcPr>
                </a:tc>
                <a:tc>
                  <a:txBody>
                    <a:bodyPr/>
                    <a:lstStyle/>
                    <a:p>
                      <a:r>
                        <a:rPr sz="1725">
                          <a:solidFill>
                            <a:srgbClr val="192737"/>
                          </a:solidFill>
                          <a:latin typeface="Arial"/>
                          <a:ea typeface="Arial"/>
                          <a:cs typeface="Arial"/>
                        </a:rPr>
                        <a:t>0.730</a:t>
                      </a:r>
                    </a:p>
                  </a:txBody>
                  <a:tcPr marL="133350" marR="133350" marT="114300" marB="114300">
                    <a:solidFill>
                      <a:srgbClr val="FFFFFF"/>
                    </a:solidFill>
                  </a:tcPr>
                </a:tc>
                <a:tc>
                  <a:txBody>
                    <a:bodyPr/>
                    <a:lstStyle/>
                    <a:p>
                      <a:r>
                        <a:rPr sz="1725">
                          <a:solidFill>
                            <a:srgbClr val="192737"/>
                          </a:solidFill>
                          <a:latin typeface="Arial"/>
                          <a:ea typeface="Arial"/>
                          <a:cs typeface="Arial"/>
                        </a:rPr>
                        <a:t>4.709</a:t>
                      </a:r>
                    </a:p>
                  </a:txBody>
                  <a:tcPr marL="133350" marR="133350" marT="114300" marB="114300">
                    <a:solidFill>
                      <a:srgbClr val="FFFFFF"/>
                    </a:solidFill>
                  </a:tcPr>
                </a:tc>
                <a:tc>
                  <a:txBody>
                    <a:bodyPr/>
                    <a:lstStyle/>
                    <a:p>
                      <a:r>
                        <a:rPr sz="1725">
                          <a:solidFill>
                            <a:srgbClr val="192737"/>
                          </a:solidFill>
                          <a:latin typeface="Arial"/>
                          <a:ea typeface="Arial"/>
                          <a:cs typeface="Arial"/>
                        </a:rPr>
                        <a:t>17.310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Variable service costs</a:t>
                      </a:r>
                    </a:p>
                  </a:txBody>
                  <a:tcPr marL="133350" marR="133350" marT="114300" marB="114300">
                    <a:solidFill>
                      <a:srgbClr val="FFFFFF"/>
                    </a:solidFill>
                  </a:tcPr>
                </a:tc>
                <a:tc>
                  <a:txBody>
                    <a:bodyPr/>
                    <a:lstStyle/>
                    <a:p>
                      <a:r>
                        <a:rPr sz="1725">
                          <a:solidFill>
                            <a:srgbClr val="192737"/>
                          </a:solidFill>
                          <a:latin typeface="Arial"/>
                          <a:ea typeface="Arial"/>
                          <a:cs typeface="Arial"/>
                        </a:rPr>
                        <a:t>0.420</a:t>
                      </a:r>
                    </a:p>
                  </a:txBody>
                  <a:tcPr marL="133350" marR="133350" marT="114300" marB="114300">
                    <a:solidFill>
                      <a:srgbClr val="FFFFFF"/>
                    </a:solidFill>
                  </a:tcPr>
                </a:tc>
                <a:tc>
                  <a:txBody>
                    <a:bodyPr/>
                    <a:lstStyle/>
                    <a:p>
                      <a:r>
                        <a:rPr sz="1725">
                          <a:solidFill>
                            <a:srgbClr val="192737"/>
                          </a:solidFill>
                          <a:latin typeface="Arial"/>
                          <a:ea typeface="Arial"/>
                          <a:cs typeface="Arial"/>
                        </a:rPr>
                        <a:t>2.202</a:t>
                      </a:r>
                    </a:p>
                  </a:txBody>
                  <a:tcPr marL="133350" marR="133350" marT="114300" marB="114300">
                    <a:solidFill>
                      <a:srgbClr val="FFFFFF"/>
                    </a:solidFill>
                  </a:tcPr>
                </a:tc>
                <a:tc>
                  <a:txBody>
                    <a:bodyPr/>
                    <a:lstStyle/>
                    <a:p>
                      <a:r>
                        <a:rPr sz="1725">
                          <a:solidFill>
                            <a:srgbClr val="192737"/>
                          </a:solidFill>
                          <a:latin typeface="Arial"/>
                          <a:ea typeface="Arial"/>
                          <a:cs typeface="Arial"/>
                        </a:rPr>
                        <a:t>6.780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Fixed spending</a:t>
                      </a:r>
                    </a:p>
                  </a:txBody>
                  <a:tcPr marL="133350" marR="133350" marT="114300" marB="114300">
                    <a:solidFill>
                      <a:srgbClr val="FFFFFF"/>
                    </a:solidFill>
                  </a:tcPr>
                </a:tc>
                <a:tc>
                  <a:txBody>
                    <a:bodyPr/>
                    <a:lstStyle/>
                    <a:p>
                      <a:r>
                        <a:rPr sz="1725">
                          <a:solidFill>
                            <a:srgbClr val="192737"/>
                          </a:solidFill>
                          <a:latin typeface="Arial"/>
                          <a:ea typeface="Arial"/>
                          <a:cs typeface="Arial"/>
                        </a:rPr>
                        <a:t>8.400</a:t>
                      </a:r>
                    </a:p>
                  </a:txBody>
                  <a:tcPr marL="133350" marR="133350" marT="114300" marB="114300">
                    <a:solidFill>
                      <a:srgbClr val="FFFFFF"/>
                    </a:solidFill>
                  </a:tcPr>
                </a:tc>
                <a:tc>
                  <a:txBody>
                    <a:bodyPr/>
                    <a:lstStyle/>
                    <a:p>
                      <a:r>
                        <a:rPr sz="1725">
                          <a:solidFill>
                            <a:srgbClr val="192737"/>
                          </a:solidFill>
                          <a:latin typeface="Arial"/>
                          <a:ea typeface="Arial"/>
                          <a:cs typeface="Arial"/>
                        </a:rPr>
                        <a:t>6.600</a:t>
                      </a:r>
                    </a:p>
                  </a:txBody>
                  <a:tcPr marL="133350" marR="133350" marT="114300" marB="114300">
                    <a:solidFill>
                      <a:srgbClr val="FFFFFF"/>
                    </a:solidFill>
                  </a:tcPr>
                </a:tc>
                <a:tc>
                  <a:txBody>
                    <a:bodyPr/>
                    <a:lstStyle/>
                    <a:p>
                      <a:r>
                        <a:rPr sz="1725">
                          <a:solidFill>
                            <a:srgbClr val="192737"/>
                          </a:solidFill>
                          <a:latin typeface="Arial"/>
                          <a:ea typeface="Arial"/>
                          <a:cs typeface="Arial"/>
                        </a:rPr>
                        <a:t>8.400</a:t>
                      </a:r>
                    </a:p>
                  </a:txBody>
                  <a:tcPr marL="133350" marR="133350" marT="114300" marB="114300">
                    <a:solidFill>
                      <a:srgbClr val="FFFFFF"/>
                    </a:solidFill>
                  </a:tcPr>
                </a:tc>
              </a:tr>
              <a:tr h="514350">
                <a:tc>
                  <a:txBody>
                    <a:bodyPr/>
                    <a:lstStyle/>
                    <a:p>
                      <a:r>
                        <a:rPr sz="1725">
                          <a:solidFill>
                            <a:srgbClr val="192737"/>
                          </a:solidFill>
                          <a:latin typeface="Arial"/>
                          <a:ea typeface="Arial"/>
                          <a:cs typeface="Arial"/>
                        </a:rPr>
                        <a:t>Operating result</a:t>
                      </a:r>
                    </a:p>
                  </a:txBody>
                  <a:tcPr marL="133350" marR="133350" marT="114300" marB="114300">
                    <a:solidFill>
                      <a:srgbClr val="FFFFFF"/>
                    </a:solidFill>
                  </a:tcPr>
                </a:tc>
                <a:tc>
                  <a:txBody>
                    <a:bodyPr/>
                    <a:lstStyle/>
                    <a:p>
                      <a:r>
                        <a:rPr sz="1725">
                          <a:solidFill>
                            <a:srgbClr val="192737"/>
                          </a:solidFill>
                          <a:latin typeface="Arial"/>
                          <a:ea typeface="Arial"/>
                          <a:cs typeface="Arial"/>
                        </a:rPr>
                        <a:t>−8.090</a:t>
                      </a:r>
                    </a:p>
                  </a:txBody>
                  <a:tcPr marL="133350" marR="133350" marT="114300" marB="114300">
                    <a:solidFill>
                      <a:srgbClr val="FFFFFF"/>
                    </a:solidFill>
                  </a:tcPr>
                </a:tc>
                <a:tc>
                  <a:txBody>
                    <a:bodyPr/>
                    <a:lstStyle/>
                    <a:p>
                      <a:r>
                        <a:rPr sz="1725">
                          <a:solidFill>
                            <a:srgbClr val="192737"/>
                          </a:solidFill>
                          <a:latin typeface="Arial"/>
                          <a:ea typeface="Arial"/>
                          <a:cs typeface="Arial"/>
                        </a:rPr>
                        <a:t>−4.093</a:t>
                      </a:r>
                    </a:p>
                  </a:txBody>
                  <a:tcPr marL="133350" marR="133350" marT="114300" marB="114300">
                    <a:solidFill>
                      <a:srgbClr val="FFFFFF"/>
                    </a:solidFill>
                  </a:tcPr>
                </a:tc>
                <a:tc>
                  <a:txBody>
                    <a:bodyPr/>
                    <a:lstStyle/>
                    <a:p>
                      <a:r>
                        <a:rPr sz="1725">
                          <a:solidFill>
                            <a:srgbClr val="192737"/>
                          </a:solidFill>
                          <a:latin typeface="Arial"/>
                          <a:ea typeface="Arial"/>
                          <a:cs typeface="Arial"/>
                        </a:rPr>
                        <a:t>+2.130</a:t>
                      </a:r>
                    </a:p>
                  </a:txBody>
                  <a:tcPr marL="133350" marR="13335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3958C64-F09F-42F0-B5F0-375E03D257D9}"/>
              </a:ext>
            </a:extLst>
          </p:cNvPr>
          <p:cNvSpPr>
            <a:spLocks xmlns:a="http://schemas.openxmlformats.org/drawingml/2006/main" noGrp="1"/>
          </p:cNvSpPr>
          <p:nvPr/>
        </p:nvSpPr>
        <p:spPr>
          <a:xfrm xmlns:a="http://schemas.openxmlformats.org/drawingml/2006/main">
            <a:off x="666750" y="59817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082"/>
                </a:solidFill>
                <a:latin typeface="Arial"/>
                <a:ea typeface="Arial"/>
                <a:cs typeface="Arial"/>
              </a:defRPr>
            </a:pPr>
            <a:r>
              <a:rPr sz="1350" b="0">
                <a:solidFill>
                  <a:srgbClr val="637082"/>
                </a:solidFill>
                <a:latin typeface="Arial"/>
                <a:ea typeface="Arial"/>
                <a:cs typeface="Arial"/>
              </a:rPr>
              <a:t>Before tax, financing and contingency drawdowns. International revenue excluded.</a:t>
            </a:r>
          </a:p>
        </p:txBody>
      </p:sp>
    </p:spTree>
    <p:extLst>
      <p:ext uri="{BB962C8B-B14F-4D97-AF65-F5344CB8AC3E}">
        <p14:creationId xmlns:p14="http://schemas.microsoft.com/office/powerpoint/2010/main" val="467966846"/>
      </p:ext>
    </p:extLst>
  </p:cSld>
</p:sld>
</file>

<file path=ppt/slides/slide12.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4B4E88-816F-43A1-A25F-289E0232F91E}"/>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The economics need proof in the pilot</a:t>
            </a:r>
          </a:p>
        </p:txBody>
      </p:sp>
      <p:sp>
        <p:nvSpPr>
          <p:cNvPr id="2" name="">
            <a:extLst xmlns:a="http://schemas.openxmlformats.org/drawingml/2006/main">
              <a:ext uri="{FF2B5EF4-FFF2-40B4-BE49-F238E27FC236}">
                <a16:creationId xmlns:a16="http://schemas.microsoft.com/office/drawing/2014/main" id="{BA2D0213-2B68-40E6-A83E-DE76373A9A0F}"/>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3" name="">
            <a:extLst xmlns:a="http://schemas.openxmlformats.org/drawingml/2006/main">
              <a:ext uri="{FF2B5EF4-FFF2-40B4-BE49-F238E27FC236}">
                <a16:creationId xmlns:a16="http://schemas.microsoft.com/office/drawing/2014/main" id="{A0E93CE7-71F0-4E99-A9A9-7886A3EBD583}"/>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DD7A22E-85E8-4FD7-A656-CA26EE4FB80E}"/>
              </a:ext>
            </a:extLst>
          </p:cNvPr>
          <p:cNvSpPr>
            <a:spLocks xmlns:a="http://schemas.openxmlformats.org/drawingml/2006/main" noGrp="1"/>
          </p:cNvSpPr>
          <p:nvPr/>
        </p:nvSpPr>
        <p:spPr>
          <a:xfrm xmlns:a="http://schemas.openxmlformats.org/drawingml/2006/main">
            <a:off x="666750" y="2190750"/>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925" b="1">
                <a:solidFill>
                  <a:srgbClr val="63A1DB"/>
                </a:solidFill>
                <a:latin typeface="Arial"/>
                <a:ea typeface="Arial"/>
                <a:cs typeface="Arial"/>
              </a:defRPr>
            </a:pPr>
            <a:r>
              <a:rPr sz="5925" b="1">
                <a:solidFill>
                  <a:srgbClr val="63A1DB"/>
                </a:solidFill>
                <a:latin typeface="Arial"/>
                <a:ea typeface="Arial"/>
                <a:cs typeface="Arial"/>
              </a:rPr>
              <a:t>6.50 LYD</a:t>
            </a:r>
          </a:p>
        </p:txBody>
      </p:sp>
      <p:sp>
        <p:nvSpPr>
          <p:cNvPr id="5" name="">
            <a:extLst xmlns:a="http://schemas.openxmlformats.org/drawingml/2006/main">
              <a:ext uri="{FF2B5EF4-FFF2-40B4-BE49-F238E27FC236}">
                <a16:creationId xmlns:a16="http://schemas.microsoft.com/office/drawing/2014/main" id="{D34BD0AD-BF1D-448F-8ED8-7B7184FA04C5}"/>
              </a:ext>
            </a:extLst>
          </p:cNvPr>
          <p:cNvSpPr>
            <a:spLocks xmlns:a="http://schemas.openxmlformats.org/drawingml/2006/main" noGrp="1"/>
          </p:cNvSpPr>
          <p:nvPr/>
        </p:nvSpPr>
        <p:spPr>
          <a:xfrm xmlns:a="http://schemas.openxmlformats.org/drawingml/2006/main">
            <a:off x="714375" y="33337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Monthly contribution per active consumer</a:t>
            </a:r>
          </a:p>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at mature Year 3 assumptions</a:t>
            </a:r>
          </a:p>
        </p:txBody>
      </p:sp>
      <p:sp>
        <p:nvSpPr>
          <p:cNvPr id="6" name="">
            <a:extLst xmlns:a="http://schemas.openxmlformats.org/drawingml/2006/main">
              <a:ext uri="{FF2B5EF4-FFF2-40B4-BE49-F238E27FC236}">
                <a16:creationId xmlns:a16="http://schemas.microsoft.com/office/drawing/2014/main" id="{F4BDAA37-2B09-4D0D-982A-86D1BFFED722}"/>
              </a:ext>
            </a:extLst>
          </p:cNvPr>
          <p:cNvSpPr>
            <a:spLocks xmlns:a="http://schemas.openxmlformats.org/drawingml/2006/main" noGrp="1"/>
          </p:cNvSpPr>
          <p:nvPr/>
        </p:nvSpPr>
        <p:spPr>
          <a:xfrm xmlns:a="http://schemas.openxmlformats.org/drawingml/2006/main">
            <a:off x="8096250" y="2333625"/>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5F6F8"/>
                </a:solidFill>
                <a:latin typeface="Arial"/>
                <a:ea typeface="Arial"/>
                <a:cs typeface="Arial"/>
              </a:defRPr>
            </a:pPr>
            <a:r>
              <a:rPr sz="4650" b="1">
                <a:solidFill>
                  <a:srgbClr val="F5F6F8"/>
                </a:solidFill>
                <a:latin typeface="Arial"/>
                <a:ea typeface="Arial"/>
                <a:cs typeface="Arial"/>
              </a:rPr>
              <a:t>92,693</a:t>
            </a:r>
          </a:p>
        </p:txBody>
      </p:sp>
      <p:sp>
        <p:nvSpPr>
          <p:cNvPr id="7" name="">
            <a:extLst xmlns:a="http://schemas.openxmlformats.org/drawingml/2006/main">
              <a:ext uri="{FF2B5EF4-FFF2-40B4-BE49-F238E27FC236}">
                <a16:creationId xmlns:a16="http://schemas.microsoft.com/office/drawing/2014/main" id="{F5915168-08A0-4B87-89D0-E2DF2B2E1B8A}"/>
              </a:ext>
            </a:extLst>
          </p:cNvPr>
          <p:cNvSpPr>
            <a:spLocks xmlns:a="http://schemas.openxmlformats.org/drawingml/2006/main" noGrp="1"/>
          </p:cNvSpPr>
          <p:nvPr/>
        </p:nvSpPr>
        <p:spPr>
          <a:xfrm xmlns:a="http://schemas.openxmlformats.org/drawingml/2006/main">
            <a:off x="8096250" y="3429000"/>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EB9C7"/>
                </a:solidFill>
                <a:latin typeface="Arial"/>
                <a:ea typeface="Arial"/>
                <a:cs typeface="Arial"/>
              </a:defRPr>
            </a:pPr>
            <a:r>
              <a:rPr sz="1950" b="0">
                <a:solidFill>
                  <a:srgbClr val="AEB9C7"/>
                </a:solidFill>
                <a:latin typeface="Arial"/>
                <a:ea typeface="Arial"/>
                <a:cs typeface="Arial"/>
              </a:rPr>
              <a:t>Average active consumers</a:t>
            </a:r>
          </a:p>
          <a:p xmlns:a="http://schemas.openxmlformats.org/drawingml/2006/main">
            <a:pPr>
              <a:defRPr sz="1950" b="0">
                <a:solidFill>
                  <a:srgbClr val="AEB9C7"/>
                </a:solidFill>
                <a:latin typeface="Arial"/>
                <a:ea typeface="Arial"/>
                <a:cs typeface="Arial"/>
              </a:defRPr>
            </a:pPr>
            <a:r>
              <a:rPr sz="1950" b="0">
                <a:solidFill>
                  <a:srgbClr val="AEB9C7"/>
                </a:solidFill>
                <a:latin typeface="Arial"/>
                <a:ea typeface="Arial"/>
                <a:cs typeface="Arial"/>
              </a:rPr>
              <a:t>needed for operating</a:t>
            </a:r>
          </a:p>
          <a:p xmlns:a="http://schemas.openxmlformats.org/drawingml/2006/main">
            <a:pPr>
              <a:defRPr sz="1950" b="0">
                <a:solidFill>
                  <a:srgbClr val="AEB9C7"/>
                </a:solidFill>
                <a:latin typeface="Arial"/>
                <a:ea typeface="Arial"/>
                <a:cs typeface="Arial"/>
              </a:defRPr>
            </a:pPr>
            <a:r>
              <a:rPr sz="1950" b="0">
                <a:solidFill>
                  <a:srgbClr val="AEB9C7"/>
                </a:solidFill>
                <a:latin typeface="Arial"/>
                <a:ea typeface="Arial"/>
                <a:cs typeface="Arial"/>
              </a:rPr>
              <a:t>break-even</a:t>
            </a:r>
          </a:p>
        </p:txBody>
      </p:sp>
      <p:sp>
        <p:nvSpPr>
          <p:cNvPr id="8" name="">
            <a:extLst xmlns:a="http://schemas.openxmlformats.org/drawingml/2006/main">
              <a:ext uri="{FF2B5EF4-FFF2-40B4-BE49-F238E27FC236}">
                <a16:creationId xmlns:a16="http://schemas.microsoft.com/office/drawing/2014/main" id="{26D0C7B4-EE99-4069-A7DA-E260AD0446E8}"/>
              </a:ext>
            </a:extLst>
          </p:cNvPr>
          <p:cNvSpPr>
            <a:spLocks xmlns:a="http://schemas.openxmlformats.org/drawingml/2006/main" noGrp="1"/>
          </p:cNvSpPr>
          <p:nvPr/>
        </p:nvSpPr>
        <p:spPr>
          <a:xfrm xmlns:a="http://schemas.openxmlformats.org/drawingml/2006/main">
            <a:off x="666750" y="52673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EB9C7"/>
                </a:solidFill>
                <a:latin typeface="Arial"/>
                <a:ea typeface="Arial"/>
                <a:cs typeface="Arial"/>
              </a:defRPr>
            </a:pPr>
            <a:r>
              <a:rPr sz="1875" b="0">
                <a:solidFill>
                  <a:srgbClr val="AEB9C7"/>
                </a:solidFill>
                <a:latin typeface="Arial"/>
                <a:ea typeface="Arial"/>
                <a:cs typeface="Arial"/>
              </a:rPr>
              <a:t>Assumes 2,500 merchants and 700,000 LYD monthly fixed spending.</a:t>
            </a:r>
          </a:p>
        </p:txBody>
      </p:sp>
    </p:spTree>
    <p:extLst>
      <p:ext uri="{BB962C8B-B14F-4D97-AF65-F5344CB8AC3E}">
        <p14:creationId xmlns:p14="http://schemas.microsoft.com/office/powerpoint/2010/main" val="1810855642"/>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A16EBC-4413-4AF8-94D7-C03ABAAF5627}"/>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2737"/>
                </a:solidFill>
                <a:latin typeface="Arial"/>
                <a:ea typeface="Arial"/>
                <a:cs typeface="Arial"/>
              </a:defRPr>
            </a:pPr>
            <a:r>
              <a:rPr sz="3450" b="1">
                <a:solidFill>
                  <a:srgbClr val="192737"/>
                </a:solidFill>
                <a:latin typeface="Arial"/>
                <a:ea typeface="Arial"/>
                <a:cs typeface="Arial"/>
              </a:rPr>
              <a:t>Room for delays, but no blank cheque</a:t>
            </a:r>
          </a:p>
        </p:txBody>
      </p:sp>
      <p:sp>
        <p:nvSpPr>
          <p:cNvPr id="2" name="">
            <a:extLst xmlns:a="http://schemas.openxmlformats.org/drawingml/2006/main">
              <a:ext uri="{FF2B5EF4-FFF2-40B4-BE49-F238E27FC236}">
                <a16:creationId xmlns:a16="http://schemas.microsoft.com/office/drawing/2014/main" id="{C2A7B3AA-3CF6-4067-A9BE-C03548AF54FF}"/>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3" name="">
            <a:extLst xmlns:a="http://schemas.openxmlformats.org/drawingml/2006/main">
              <a:ext uri="{FF2B5EF4-FFF2-40B4-BE49-F238E27FC236}">
                <a16:creationId xmlns:a16="http://schemas.microsoft.com/office/drawing/2014/main" id="{278BA6A4-5A1D-41EE-8819-D1E68B3DAE07}"/>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FD8005E-DC91-4E9A-8548-143636AD26A7}"/>
              </a:ext>
            </a:extLst>
          </p:cNvPr>
          <p:cNvSpPr>
            <a:spLocks xmlns:a="http://schemas.openxmlformats.org/drawingml/2006/main" noGrp="1"/>
          </p:cNvSpPr>
          <p:nvPr/>
        </p:nvSpPr>
        <p:spPr>
          <a:xfrm xmlns:a="http://schemas.openxmlformats.org/drawingml/2006/main">
            <a:off x="666750" y="223837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Cost shock</a:t>
            </a:r>
          </a:p>
        </p:txBody>
      </p:sp>
      <p:sp>
        <p:nvSpPr>
          <p:cNvPr id="5" name="">
            <a:extLst xmlns:a="http://schemas.openxmlformats.org/drawingml/2006/main">
              <a:ext uri="{FF2B5EF4-FFF2-40B4-BE49-F238E27FC236}">
                <a16:creationId xmlns:a16="http://schemas.microsoft.com/office/drawing/2014/main" id="{A54FE173-E794-41B8-9738-368CC0F57BAB}"/>
              </a:ext>
            </a:extLst>
          </p:cNvPr>
          <p:cNvSpPr>
            <a:spLocks xmlns:a="http://schemas.openxmlformats.org/drawingml/2006/main" noGrp="1"/>
          </p:cNvSpPr>
          <p:nvPr/>
        </p:nvSpPr>
        <p:spPr>
          <a:xfrm xmlns:a="http://schemas.openxmlformats.org/drawingml/2006/main">
            <a:off x="3857625" y="223837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Six-month delay: 3.75m LYD. FX/vendor shock: 1.50m LYD. Together they consume the 5.25m contingency.</a:t>
            </a:r>
          </a:p>
        </p:txBody>
      </p:sp>
      <p:sp>
        <p:nvSpPr>
          <p:cNvPr id="6" name="">
            <a:extLst xmlns:a="http://schemas.openxmlformats.org/drawingml/2006/main">
              <a:ext uri="{FF2B5EF4-FFF2-40B4-BE49-F238E27FC236}">
                <a16:creationId xmlns:a16="http://schemas.microsoft.com/office/drawing/2014/main" id="{D1ADC7B5-E3E8-4BBD-B004-F43FD433C1F9}"/>
              </a:ext>
            </a:extLst>
          </p:cNvPr>
          <p:cNvSpPr>
            <a:spLocks xmlns:a="http://schemas.openxmlformats.org/drawingml/2006/main" noGrp="1"/>
          </p:cNvSpPr>
          <p:nvPr/>
        </p:nvSpPr>
        <p:spPr>
          <a:xfrm xmlns:a="http://schemas.openxmlformats.org/drawingml/2006/main">
            <a:off x="666750" y="361950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Demand downside</a:t>
            </a:r>
          </a:p>
        </p:txBody>
      </p:sp>
      <p:sp>
        <p:nvSpPr>
          <p:cNvPr id="7" name="">
            <a:extLst xmlns:a="http://schemas.openxmlformats.org/drawingml/2006/main">
              <a:ext uri="{FF2B5EF4-FFF2-40B4-BE49-F238E27FC236}">
                <a16:creationId xmlns:a16="http://schemas.microsoft.com/office/drawing/2014/main" id="{AE277705-E0C1-4B1A-934A-6DAF0734778B}"/>
              </a:ext>
            </a:extLst>
          </p:cNvPr>
          <p:cNvSpPr>
            <a:spLocks xmlns:a="http://schemas.openxmlformats.org/drawingml/2006/main" noGrp="1"/>
          </p:cNvSpPr>
          <p:nvPr/>
        </p:nvSpPr>
        <p:spPr>
          <a:xfrm xmlns:a="http://schemas.openxmlformats.org/drawingml/2006/main">
            <a:off x="3857625" y="36195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At 60,000 average active users and weaker monetisation, Year 3 loses 6.951m LYD.</a:t>
            </a:r>
          </a:p>
        </p:txBody>
      </p:sp>
      <p:sp>
        <p:nvSpPr>
          <p:cNvPr id="8" name="">
            <a:extLst xmlns:a="http://schemas.openxmlformats.org/drawingml/2006/main">
              <a:ext uri="{FF2B5EF4-FFF2-40B4-BE49-F238E27FC236}">
                <a16:creationId xmlns:a16="http://schemas.microsoft.com/office/drawing/2014/main" id="{8F9E9AA6-B77C-4AE8-9590-EB82F0044D77}"/>
              </a:ext>
            </a:extLst>
          </p:cNvPr>
          <p:cNvSpPr>
            <a:spLocks xmlns:a="http://schemas.openxmlformats.org/drawingml/2006/main" noGrp="1"/>
          </p:cNvSpPr>
          <p:nvPr/>
        </p:nvSpPr>
        <p:spPr>
          <a:xfrm xmlns:a="http://schemas.openxmlformats.org/drawingml/2006/main">
            <a:off x="666750" y="500062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92737"/>
                </a:solidFill>
                <a:latin typeface="Arial"/>
                <a:ea typeface="Arial"/>
                <a:cs typeface="Arial"/>
              </a:defRPr>
            </a:pPr>
            <a:r>
              <a:rPr sz="1875" b="1">
                <a:solidFill>
                  <a:srgbClr val="192737"/>
                </a:solidFill>
                <a:latin typeface="Arial"/>
                <a:ea typeface="Arial"/>
                <a:cs typeface="Arial"/>
              </a:rPr>
              <a:t>Settlement risk</a:t>
            </a:r>
          </a:p>
        </p:txBody>
      </p:sp>
      <p:sp>
        <p:nvSpPr>
          <p:cNvPr id="9" name="">
            <a:extLst xmlns:a="http://schemas.openxmlformats.org/drawingml/2006/main">
              <a:ext uri="{FF2B5EF4-FFF2-40B4-BE49-F238E27FC236}">
                <a16:creationId xmlns:a16="http://schemas.microsoft.com/office/drawing/2014/main" id="{2BAE7910-2507-433A-ABA1-C5713B6FC861}"/>
              </a:ext>
            </a:extLst>
          </p:cNvPr>
          <p:cNvSpPr>
            <a:spLocks xmlns:a="http://schemas.openxmlformats.org/drawingml/2006/main" noGrp="1"/>
          </p:cNvSpPr>
          <p:nvPr/>
        </p:nvSpPr>
        <p:spPr>
          <a:xfrm xmlns:a="http://schemas.openxmlformats.org/drawingml/2006/main">
            <a:off x="3857625" y="50006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B5B6C"/>
                </a:solidFill>
                <a:latin typeface="Arial"/>
                <a:ea typeface="Arial"/>
                <a:cs typeface="Arial"/>
              </a:defRPr>
            </a:pPr>
            <a:r>
              <a:rPr sz="1875" b="0">
                <a:solidFill>
                  <a:srgbClr val="4B5B6C"/>
                </a:solidFill>
                <a:latin typeface="Arial"/>
                <a:ea typeface="Arial"/>
                <a:cs typeface="Arial"/>
              </a:rPr>
              <a:t>Two days of full prefunding at Year 3 volume would need about 7.89m LYD. Resize the initial reserve.</a:t>
            </a:r>
          </a:p>
        </p:txBody>
      </p:sp>
    </p:spTree>
    <p:extLst>
      <p:ext uri="{BB962C8B-B14F-4D97-AF65-F5344CB8AC3E}">
        <p14:creationId xmlns:p14="http://schemas.microsoft.com/office/powerpoint/2010/main" val="1371592002"/>
      </p:ext>
    </p:extLst>
  </p:cSld>
</p:sld>
</file>

<file path=ppt/slides/slide14.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8737BE-C5EB-4410-9ACF-10956FEBC6C4}"/>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Crypto and remittance expansion</a:t>
            </a:r>
          </a:p>
        </p:txBody>
      </p:sp>
      <p:sp>
        <p:nvSpPr>
          <p:cNvPr id="2" name="">
            <a:extLst xmlns:a="http://schemas.openxmlformats.org/drawingml/2006/main">
              <a:ext uri="{FF2B5EF4-FFF2-40B4-BE49-F238E27FC236}">
                <a16:creationId xmlns:a16="http://schemas.microsoft.com/office/drawing/2014/main" id="{B8D939D5-DABA-45CE-B289-99FE85E2E70A}"/>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Optional budget outside the domestic 30 million LYD base case</a:t>
            </a:r>
          </a:p>
        </p:txBody>
      </p:sp>
      <p:sp>
        <p:nvSpPr>
          <p:cNvPr id="3" name="">
            <a:extLst xmlns:a="http://schemas.openxmlformats.org/drawingml/2006/main">
              <a:ext uri="{FF2B5EF4-FFF2-40B4-BE49-F238E27FC236}">
                <a16:creationId xmlns:a16="http://schemas.microsoft.com/office/drawing/2014/main" id="{0E7A0727-85D6-41DB-A0C4-43AC15A0808E}"/>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01426672-56BF-4098-8E12-9A557258462F}"/>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C9F509B-E5B8-461D-9C90-AA6E45C9D0B7}"/>
              </a:ext>
            </a:extLst>
          </p:cNvPr>
          <p:cNvSpPr>
            <a:spLocks xmlns:a="http://schemas.openxmlformats.org/drawingml/2006/main" noGrp="1"/>
          </p:cNvSpPr>
          <p:nvPr/>
        </p:nvSpPr>
        <p:spPr>
          <a:xfrm xmlns:a="http://schemas.openxmlformats.org/drawingml/2006/main">
            <a:off x="666750" y="22860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63A1DB"/>
                </a:solidFill>
                <a:latin typeface="Arial"/>
                <a:ea typeface="Arial"/>
                <a:cs typeface="Arial"/>
              </a:defRPr>
            </a:pPr>
            <a:r>
              <a:rPr sz="5400" b="1">
                <a:solidFill>
                  <a:srgbClr val="63A1DB"/>
                </a:solidFill>
                <a:latin typeface="Arial"/>
                <a:ea typeface="Arial"/>
                <a:cs typeface="Arial"/>
              </a:rPr>
              <a:t>4.05m LYD</a:t>
            </a:r>
          </a:p>
        </p:txBody>
      </p:sp>
      <p:sp>
        <p:nvSpPr>
          <p:cNvPr id="6" name="">
            <a:extLst xmlns:a="http://schemas.openxmlformats.org/drawingml/2006/main">
              <a:ext uri="{FF2B5EF4-FFF2-40B4-BE49-F238E27FC236}">
                <a16:creationId xmlns:a16="http://schemas.microsoft.com/office/drawing/2014/main" id="{D59368F5-19F1-4DAC-9495-1AE26E003C01}"/>
              </a:ext>
            </a:extLst>
          </p:cNvPr>
          <p:cNvSpPr>
            <a:spLocks xmlns:a="http://schemas.openxmlformats.org/drawingml/2006/main" noGrp="1"/>
          </p:cNvSpPr>
          <p:nvPr/>
        </p:nvSpPr>
        <p:spPr>
          <a:xfrm xmlns:a="http://schemas.openxmlformats.org/drawingml/2006/main">
            <a:off x="714375" y="34290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3.00m setup and specialist operations</a:t>
            </a:r>
          </a:p>
          <a:p xmlns:a="http://schemas.openxmlformats.org/drawingml/2006/main">
            <a:pPr>
              <a:defRPr sz="2100" b="0">
                <a:solidFill>
                  <a:srgbClr val="F5F6F8"/>
                </a:solidFill>
                <a:latin typeface="Arial"/>
                <a:ea typeface="Arial"/>
                <a:cs typeface="Arial"/>
              </a:defRPr>
            </a:pPr>
            <a:r>
              <a:rPr sz="2100" b="0">
                <a:solidFill>
                  <a:srgbClr val="F5F6F8"/>
                </a:solidFill>
                <a:latin typeface="Arial"/>
                <a:ea typeface="Arial"/>
                <a:cs typeface="Arial"/>
              </a:rPr>
              <a:t>+ 35% contingency</a:t>
            </a:r>
          </a:p>
        </p:txBody>
      </p:sp>
      <p:sp>
        <p:nvSpPr>
          <p:cNvPr id="7" name="">
            <a:extLst xmlns:a="http://schemas.openxmlformats.org/drawingml/2006/main">
              <a:ext uri="{FF2B5EF4-FFF2-40B4-BE49-F238E27FC236}">
                <a16:creationId xmlns:a16="http://schemas.microsoft.com/office/drawing/2014/main" id="{26E374D0-CDFE-49EC-BCFA-9EF85C153988}"/>
              </a:ext>
            </a:extLst>
          </p:cNvPr>
          <p:cNvSpPr>
            <a:spLocks xmlns:a="http://schemas.openxmlformats.org/drawingml/2006/main" noGrp="1"/>
          </p:cNvSpPr>
          <p:nvPr/>
        </p:nvSpPr>
        <p:spPr>
          <a:xfrm xmlns:a="http://schemas.openxmlformats.org/drawingml/2006/main">
            <a:off x="8096250" y="2524125"/>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5F6F8"/>
                </a:solidFill>
                <a:latin typeface="Arial"/>
                <a:ea typeface="Arial"/>
                <a:cs typeface="Arial"/>
              </a:defRPr>
            </a:pPr>
            <a:r>
              <a:rPr sz="2925" b="1">
                <a:solidFill>
                  <a:srgbClr val="F5F6F8"/>
                </a:solidFill>
                <a:latin typeface="Arial"/>
                <a:ea typeface="Arial"/>
                <a:cs typeface="Arial"/>
              </a:rPr>
              <a:t>34.05m LYD</a:t>
            </a:r>
          </a:p>
        </p:txBody>
      </p:sp>
      <p:sp>
        <p:nvSpPr>
          <p:cNvPr id="8" name="">
            <a:extLst xmlns:a="http://schemas.openxmlformats.org/drawingml/2006/main">
              <a:ext uri="{FF2B5EF4-FFF2-40B4-BE49-F238E27FC236}">
                <a16:creationId xmlns:a16="http://schemas.microsoft.com/office/drawing/2014/main" id="{3BABB2FB-5D48-48F0-BAD9-407396BC0AC3}"/>
              </a:ext>
            </a:extLst>
          </p:cNvPr>
          <p:cNvSpPr>
            <a:spLocks xmlns:a="http://schemas.openxmlformats.org/drawingml/2006/main" noGrp="1"/>
          </p:cNvSpPr>
          <p:nvPr/>
        </p:nvSpPr>
        <p:spPr>
          <a:xfrm xmlns:a="http://schemas.openxmlformats.org/drawingml/2006/main">
            <a:off x="8096250" y="347662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EB9C7"/>
                </a:solidFill>
                <a:latin typeface="Arial"/>
                <a:ea typeface="Arial"/>
                <a:cs typeface="Arial"/>
              </a:defRPr>
            </a:pPr>
            <a:r>
              <a:rPr sz="1800" b="0">
                <a:solidFill>
                  <a:srgbClr val="AEB9C7"/>
                </a:solidFill>
                <a:latin typeface="Arial"/>
                <a:ea typeface="Arial"/>
                <a:cs typeface="Arial"/>
              </a:rPr>
              <a:t>Combined planning envelope</a:t>
            </a:r>
          </a:p>
          <a:p xmlns:a="http://schemas.openxmlformats.org/drawingml/2006/main">
            <a:pPr>
              <a:defRPr sz="1800" b="0">
                <a:solidFill>
                  <a:srgbClr val="AEB9C7"/>
                </a:solidFill>
                <a:latin typeface="Arial"/>
                <a:ea typeface="Arial"/>
                <a:cs typeface="Arial"/>
              </a:defRPr>
            </a:pPr>
            <a:r>
              <a:rPr sz="1800" b="0">
                <a:solidFill>
                  <a:srgbClr val="AEB9C7"/>
                </a:solidFill>
                <a:latin typeface="Arial"/>
                <a:ea typeface="Arial"/>
                <a:cs typeface="Arial"/>
              </a:rPr>
              <a:t>Extra foreign capital and</a:t>
            </a:r>
          </a:p>
          <a:p xmlns:a="http://schemas.openxmlformats.org/drawingml/2006/main">
            <a:pPr>
              <a:defRPr sz="1800" b="0">
                <a:solidFill>
                  <a:srgbClr val="AEB9C7"/>
                </a:solidFill>
                <a:latin typeface="Arial"/>
                <a:ea typeface="Arial"/>
                <a:cs typeface="Arial"/>
              </a:defRPr>
            </a:pPr>
            <a:r>
              <a:rPr sz="1800" b="0">
                <a:solidFill>
                  <a:srgbClr val="AEB9C7"/>
                </a:solidFill>
                <a:latin typeface="Arial"/>
                <a:ea typeface="Arial"/>
                <a:cs typeface="Arial"/>
              </a:rPr>
              <a:t>liquidity still unpriced</a:t>
            </a:r>
          </a:p>
        </p:txBody>
      </p:sp>
      <p:sp>
        <p:nvSpPr>
          <p:cNvPr id="9" name="">
            <a:extLst xmlns:a="http://schemas.openxmlformats.org/drawingml/2006/main">
              <a:ext uri="{FF2B5EF4-FFF2-40B4-BE49-F238E27FC236}">
                <a16:creationId xmlns:a16="http://schemas.microsoft.com/office/drawing/2014/main" id="{9A475504-1780-4710-9908-A6CAE58CE32F}"/>
              </a:ext>
            </a:extLst>
          </p:cNvPr>
          <p:cNvSpPr>
            <a:spLocks xmlns:a="http://schemas.openxmlformats.org/drawingml/2006/main" noGrp="1"/>
          </p:cNvSpPr>
          <p:nvPr/>
        </p:nvSpPr>
        <p:spPr>
          <a:xfrm xmlns:a="http://schemas.openxmlformats.org/drawingml/2006/main">
            <a:off x="666750" y="50958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EB9C7"/>
                </a:solidFill>
                <a:latin typeface="Arial"/>
                <a:ea typeface="Arial"/>
                <a:cs typeface="Arial"/>
              </a:defRPr>
            </a:pPr>
            <a:r>
              <a:rPr sz="1950" b="0">
                <a:solidFill>
                  <a:srgbClr val="AEB9C7"/>
                </a:solidFill>
                <a:latin typeface="Arial"/>
                <a:ea typeface="Arial"/>
                <a:cs typeface="Arial"/>
              </a:rPr>
              <a:t>Custody, transaction screening, corridor counsel, security and payout integrations.</a:t>
            </a:r>
          </a:p>
        </p:txBody>
      </p:sp>
      <p:sp>
        <p:nvSpPr>
          <p:cNvPr id="10" name="">
            <a:extLst xmlns:a="http://schemas.openxmlformats.org/drawingml/2006/main">
              <a:ext uri="{FF2B5EF4-FFF2-40B4-BE49-F238E27FC236}">
                <a16:creationId xmlns:a16="http://schemas.microsoft.com/office/drawing/2014/main" id="{199CCDA1-294B-4A71-8FBB-F1FE976A1E5F}"/>
              </a:ext>
            </a:extLst>
          </p:cNvPr>
          <p:cNvSpPr>
            <a:spLocks xmlns:a="http://schemas.openxmlformats.org/drawingml/2006/main" noGrp="1"/>
          </p:cNvSpPr>
          <p:nvPr/>
        </p:nvSpPr>
        <p:spPr>
          <a:xfrm xmlns:a="http://schemas.openxmlformats.org/drawingml/2006/main">
            <a:off x="666750" y="59055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3A1DB"/>
                </a:solidFill>
                <a:latin typeface="Arial"/>
                <a:ea typeface="Arial"/>
                <a:cs typeface="Arial"/>
              </a:defRPr>
            </a:pPr>
            <a:r>
              <a:rPr sz="1650" b="0">
                <a:solidFill>
                  <a:srgbClr val="63A1DB"/>
                </a:solidFill>
                <a:latin typeface="Arial"/>
                <a:ea typeface="Arial"/>
                <a:cs typeface="Arial"/>
              </a:rPr>
              <a:t>Launch only where current law and contracted providers permit.</a:t>
            </a:r>
          </a:p>
        </p:txBody>
      </p:sp>
    </p:spTree>
    <p:extLst>
      <p:ext uri="{BB962C8B-B14F-4D97-AF65-F5344CB8AC3E}">
        <p14:creationId xmlns:p14="http://schemas.microsoft.com/office/powerpoint/2010/main" val="1809210787"/>
      </p:ext>
    </p:extLst>
  </p:cSld>
</p:sld>
</file>

<file path=ppt/slides/slide15.xml><?xml version="1.0" encoding="utf-8"?>
<p:sld xmlns:p="http://schemas.openxmlformats.org/presentationml/2006/main">
  <p:cSld>
    <p:bg>
      <p:bgPr>
        <a:solidFill xmlns:a="http://schemas.openxmlformats.org/drawingml/2006/main">
          <a:srgbClr val="1618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910B0D-A2CD-4E85-8210-4C88C4CCA22E}"/>
              </a:ext>
            </a:extLst>
          </p:cNvPr>
          <p:cNvSpPr>
            <a:spLocks xmlns:a="http://schemas.openxmlformats.org/drawingml/2006/main" noGrp="1"/>
          </p:cNvSpPr>
          <p:nvPr/>
        </p:nvSpPr>
        <p:spPr>
          <a:xfrm xmlns:a="http://schemas.openxmlformats.org/drawingml/2006/main">
            <a:off x="647700" y="523875"/>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6F8"/>
                </a:solidFill>
                <a:latin typeface="Arial"/>
                <a:ea typeface="Arial"/>
                <a:cs typeface="Arial"/>
              </a:defRPr>
            </a:pPr>
            <a:r>
              <a:rPr sz="3450" b="1">
                <a:solidFill>
                  <a:srgbClr val="F5F6F8"/>
                </a:solidFill>
                <a:latin typeface="Arial"/>
                <a:ea typeface="Arial"/>
                <a:cs typeface="Arial"/>
              </a:rPr>
              <a:t>Funding follows evidence</a:t>
            </a:r>
          </a:p>
        </p:txBody>
      </p:sp>
      <p:sp>
        <p:nvSpPr>
          <p:cNvPr id="2" name="">
            <a:extLst xmlns:a="http://schemas.openxmlformats.org/drawingml/2006/main">
              <a:ext uri="{FF2B5EF4-FFF2-40B4-BE49-F238E27FC236}">
                <a16:creationId xmlns:a16="http://schemas.microsoft.com/office/drawing/2014/main" id="{D5C48602-726B-438F-BEF9-C1580F576CA2}"/>
              </a:ext>
            </a:extLst>
          </p:cNvPr>
          <p:cNvSpPr>
            <a:spLocks xmlns:a="http://schemas.openxmlformats.org/drawingml/2006/main" noGrp="1"/>
          </p:cNvSpPr>
          <p:nvPr/>
        </p:nvSpPr>
        <p:spPr>
          <a:xfrm xmlns:a="http://schemas.openxmlformats.org/drawingml/2006/main">
            <a:off x="6667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EB9C7"/>
                </a:solidFill>
                <a:latin typeface="Arial"/>
                <a:ea typeface="Arial"/>
                <a:cs typeface="Arial"/>
              </a:defRPr>
            </a:pPr>
            <a:r>
              <a:rPr sz="1650" b="0">
                <a:solidFill>
                  <a:srgbClr val="AEB9C7"/>
                </a:solidFill>
                <a:latin typeface="Arial"/>
                <a:ea typeface="Arial"/>
                <a:cs typeface="Arial"/>
              </a:rPr>
              <a:t>Proposed investment releases within the 30 million LYD envelope</a:t>
            </a:r>
          </a:p>
        </p:txBody>
      </p:sp>
      <p:sp>
        <p:nvSpPr>
          <p:cNvPr id="3" name="">
            <a:extLst xmlns:a="http://schemas.openxmlformats.org/drawingml/2006/main">
              <a:ext uri="{FF2B5EF4-FFF2-40B4-BE49-F238E27FC236}">
                <a16:creationId xmlns:a16="http://schemas.microsoft.com/office/drawing/2014/main" id="{5D748C00-E3A5-4112-B4ED-54704D832362}"/>
              </a:ext>
            </a:extLst>
          </p:cNvPr>
          <p:cNvSpPr>
            <a:spLocks xmlns:a="http://schemas.openxmlformats.org/drawingml/2006/main" noGrp="1"/>
          </p:cNvSpPr>
          <p:nvPr/>
        </p:nvSpPr>
        <p:spPr>
          <a:xfrm xmlns:a="http://schemas.openxmlformats.org/drawingml/2006/main">
            <a:off x="666750" y="64008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3A1DB"/>
                </a:solidFill>
                <a:latin typeface="Arial"/>
                <a:ea typeface="Arial"/>
                <a:cs typeface="Arial"/>
              </a:defRPr>
            </a:pPr>
            <a:r>
              <a:rPr sz="1200" b="1">
                <a:solidFill>
                  <a:srgbClr val="63A1DB"/>
                </a:solidFill>
                <a:latin typeface="Arial"/>
                <a:ea typeface="Arial"/>
                <a:cs typeface="Arial"/>
              </a:rPr>
              <a:t>tazdan</a:t>
            </a:r>
          </a:p>
        </p:txBody>
      </p:sp>
      <p:sp>
        <p:nvSpPr>
          <p:cNvPr id="4" name="">
            <a:extLst xmlns:a="http://schemas.openxmlformats.org/drawingml/2006/main">
              <a:ext uri="{FF2B5EF4-FFF2-40B4-BE49-F238E27FC236}">
                <a16:creationId xmlns:a16="http://schemas.microsoft.com/office/drawing/2014/main" id="{214581DA-585A-4656-BC66-3B8E875B553C}"/>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A1DB"/>
                </a:solidFill>
                <a:latin typeface="Arial"/>
                <a:ea typeface="Arial"/>
                <a:cs typeface="Arial"/>
              </a:defRPr>
            </a:pPr>
            <a:r>
              <a:rPr sz="1125" b="0">
                <a:solidFill>
                  <a:srgbClr val="63A1DB"/>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B3E5D94-6147-425D-822F-65A71FFB4CBE}"/>
              </a:ext>
            </a:extLst>
          </p:cNvPr>
          <p:cNvSpPr>
            <a:spLocks xmlns:a="http://schemas.openxmlformats.org/drawingml/2006/main" noGrp="1"/>
          </p:cNvSpPr>
          <p:nvPr/>
        </p:nvSpPr>
        <p:spPr>
          <a:xfrm xmlns:a="http://schemas.openxmlformats.org/drawingml/2006/main">
            <a:off x="666750" y="228600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5m LYD</a:t>
            </a:r>
          </a:p>
        </p:txBody>
      </p:sp>
      <p:sp>
        <p:nvSpPr>
          <p:cNvPr id="6" name="">
            <a:extLst xmlns:a="http://schemas.openxmlformats.org/drawingml/2006/main">
              <a:ext uri="{FF2B5EF4-FFF2-40B4-BE49-F238E27FC236}">
                <a16:creationId xmlns:a16="http://schemas.microsoft.com/office/drawing/2014/main" id="{632F9126-A933-4FE0-BF72-1E9326967B27}"/>
              </a:ext>
            </a:extLst>
          </p:cNvPr>
          <p:cNvSpPr>
            <a:spLocks xmlns:a="http://schemas.openxmlformats.org/drawingml/2006/main" noGrp="1"/>
          </p:cNvSpPr>
          <p:nvPr/>
        </p:nvSpPr>
        <p:spPr>
          <a:xfrm xmlns:a="http://schemas.openxmlformats.org/drawingml/2006/main">
            <a:off x="3857625" y="2286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Discovery, local counsel, partner procurement and early engineering.</a:t>
            </a:r>
          </a:p>
        </p:txBody>
      </p:sp>
      <p:sp>
        <p:nvSpPr>
          <p:cNvPr id="7" name="">
            <a:extLst xmlns:a="http://schemas.openxmlformats.org/drawingml/2006/main">
              <a:ext uri="{FF2B5EF4-FFF2-40B4-BE49-F238E27FC236}">
                <a16:creationId xmlns:a16="http://schemas.microsoft.com/office/drawing/2014/main" id="{9C3F638B-6C6D-4A54-93A6-252D4FA2FAFC}"/>
              </a:ext>
            </a:extLst>
          </p:cNvPr>
          <p:cNvSpPr>
            <a:spLocks xmlns:a="http://schemas.openxmlformats.org/drawingml/2006/main" noGrp="1"/>
          </p:cNvSpPr>
          <p:nvPr/>
        </p:nvSpPr>
        <p:spPr>
          <a:xfrm xmlns:a="http://schemas.openxmlformats.org/drawingml/2006/main">
            <a:off x="666750" y="3476625"/>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10m LYD</a:t>
            </a:r>
          </a:p>
        </p:txBody>
      </p:sp>
      <p:sp>
        <p:nvSpPr>
          <p:cNvPr id="8" name="">
            <a:extLst xmlns:a="http://schemas.openxmlformats.org/drawingml/2006/main">
              <a:ext uri="{FF2B5EF4-FFF2-40B4-BE49-F238E27FC236}">
                <a16:creationId xmlns:a16="http://schemas.microsoft.com/office/drawing/2014/main" id="{B2B5E21C-E40C-4717-B7E0-FD50111DA119}"/>
              </a:ext>
            </a:extLst>
          </p:cNvPr>
          <p:cNvSpPr>
            <a:spLocks xmlns:a="http://schemas.openxmlformats.org/drawingml/2006/main" noGrp="1"/>
          </p:cNvSpPr>
          <p:nvPr/>
        </p:nvSpPr>
        <p:spPr>
          <a:xfrm xmlns:a="http://schemas.openxmlformats.org/drawingml/2006/main">
            <a:off x="3857625" y="34766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After a viable authorisation route, costed partners and an approved technical design.</a:t>
            </a:r>
          </a:p>
        </p:txBody>
      </p:sp>
      <p:sp>
        <p:nvSpPr>
          <p:cNvPr id="9" name="">
            <a:extLst xmlns:a="http://schemas.openxmlformats.org/drawingml/2006/main">
              <a:ext uri="{FF2B5EF4-FFF2-40B4-BE49-F238E27FC236}">
                <a16:creationId xmlns:a16="http://schemas.microsoft.com/office/drawing/2014/main" id="{6072468D-6D2C-4056-9EDB-D02D6B4D016B}"/>
              </a:ext>
            </a:extLst>
          </p:cNvPr>
          <p:cNvSpPr>
            <a:spLocks xmlns:a="http://schemas.openxmlformats.org/drawingml/2006/main" noGrp="1"/>
          </p:cNvSpPr>
          <p:nvPr/>
        </p:nvSpPr>
        <p:spPr>
          <a:xfrm xmlns:a="http://schemas.openxmlformats.org/drawingml/2006/main">
            <a:off x="666750" y="46672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3A1DB"/>
                </a:solidFill>
                <a:latin typeface="Arial"/>
                <a:ea typeface="Arial"/>
                <a:cs typeface="Arial"/>
              </a:defRPr>
            </a:pPr>
            <a:r>
              <a:rPr sz="1875" b="1">
                <a:solidFill>
                  <a:srgbClr val="63A1DB"/>
                </a:solidFill>
                <a:latin typeface="Arial"/>
                <a:ea typeface="Arial"/>
                <a:cs typeface="Arial"/>
              </a:rPr>
              <a:t>15m LYD</a:t>
            </a:r>
          </a:p>
        </p:txBody>
      </p:sp>
      <p:sp>
        <p:nvSpPr>
          <p:cNvPr id="10" name="">
            <a:extLst xmlns:a="http://schemas.openxmlformats.org/drawingml/2006/main">
              <a:ext uri="{FF2B5EF4-FFF2-40B4-BE49-F238E27FC236}">
                <a16:creationId xmlns:a16="http://schemas.microsoft.com/office/drawing/2014/main" id="{10FEC1F2-EAEA-4AA5-A93D-2F0FDB00998E}"/>
              </a:ext>
            </a:extLst>
          </p:cNvPr>
          <p:cNvSpPr>
            <a:spLocks xmlns:a="http://schemas.openxmlformats.org/drawingml/2006/main" noGrp="1"/>
          </p:cNvSpPr>
          <p:nvPr/>
        </p:nvSpPr>
        <p:spPr>
          <a:xfrm xmlns:a="http://schemas.openxmlformats.org/drawingml/2006/main">
            <a:off x="3857625" y="46672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6F8"/>
                </a:solidFill>
                <a:latin typeface="Arial"/>
                <a:ea typeface="Arial"/>
                <a:cs typeface="Arial"/>
              </a:defRPr>
            </a:pPr>
            <a:r>
              <a:rPr sz="1875" b="0">
                <a:solidFill>
                  <a:srgbClr val="F5F6F8"/>
                </a:solidFill>
                <a:latin typeface="Arial"/>
                <a:ea typeface="Arial"/>
                <a:cs typeface="Arial"/>
              </a:rPr>
              <a:t>After security acceptance, pilot permission and confirmed capital requirements.</a:t>
            </a:r>
          </a:p>
        </p:txBody>
      </p:sp>
      <p:sp>
        <p:nvSpPr>
          <p:cNvPr id="11" name="">
            <a:extLst xmlns:a="http://schemas.openxmlformats.org/drawingml/2006/main">
              <a:ext uri="{FF2B5EF4-FFF2-40B4-BE49-F238E27FC236}">
                <a16:creationId xmlns:a16="http://schemas.microsoft.com/office/drawing/2014/main" id="{16D6F0E5-7FE4-4916-BED3-2A37EF6C7040}"/>
              </a:ext>
            </a:extLst>
          </p:cNvPr>
          <p:cNvSpPr>
            <a:spLocks xmlns:a="http://schemas.openxmlformats.org/drawingml/2006/main" noGrp="1"/>
          </p:cNvSpPr>
          <p:nvPr/>
        </p:nvSpPr>
        <p:spPr>
          <a:xfrm xmlns:a="http://schemas.openxmlformats.org/drawingml/2006/main">
            <a:off x="666750" y="5876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3A1DB"/>
                </a:solidFill>
                <a:latin typeface="Arial"/>
                <a:ea typeface="Arial"/>
                <a:cs typeface="Arial"/>
              </a:defRPr>
            </a:pPr>
            <a:r>
              <a:rPr sz="1875" b="0">
                <a:solidFill>
                  <a:srgbClr val="63A1DB"/>
                </a:solidFill>
                <a:latin typeface="Arial"/>
                <a:ea typeface="Arial"/>
                <a:cs typeface="Arial"/>
              </a:rPr>
              <a:t>30m LYD base envelope + 4.05m LYD optional crypto/remittance budget.</a:t>
            </a:r>
          </a:p>
        </p:txBody>
      </p:sp>
    </p:spTree>
    <p:extLst>
      <p:ext uri="{BB962C8B-B14F-4D97-AF65-F5344CB8AC3E}">
        <p14:creationId xmlns:p14="http://schemas.microsoft.com/office/powerpoint/2010/main" val="1124540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2026-09-21T18:51:51.8400000Z</dcterms:created>
  <dcterms:modified xsi:type="dcterms:W3CDTF">2026-09-21T18:51:51.8400000Z</dcterms:modified>
</coreProperties>
</file>