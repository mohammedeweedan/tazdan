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14e76ad34504121" /><Relationship Type="http://schemas.openxmlformats.org/officeDocument/2006/relationships/extended-properties" Target="/docProps/app.xml" Id="R3a1a491a90be4852" /><Relationship Type="http://schemas.openxmlformats.org/officeDocument/2006/relationships/officeDocument" Target="/ppt/presentation.xml" Id="R1962de0379274f0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8fe63845e3b425f"/>
  </p:sldMasterIdLst>
  <p:notesMasterIdLst>
    <p:notesMasterId xmlns:r="http://schemas.openxmlformats.org/officeDocument/2006/relationships" r:id="Rc6ce7250f2194445"/>
  </p:notesMasterIdLst>
  <p:sldIdLst>
    <p:sldId xmlns:r="http://schemas.openxmlformats.org/officeDocument/2006/relationships" id="256" r:id="R7aca17ae3b3a4a2f"/>
    <p:sldId xmlns:r="http://schemas.openxmlformats.org/officeDocument/2006/relationships" id="257" r:id="Raf1cb0e87e8f4e8b"/>
    <p:sldId xmlns:r="http://schemas.openxmlformats.org/officeDocument/2006/relationships" id="258" r:id="R4db39be56c1e41a0"/>
    <p:sldId xmlns:r="http://schemas.openxmlformats.org/officeDocument/2006/relationships" id="259" r:id="Rc7db0f0416e14456"/>
    <p:sldId xmlns:r="http://schemas.openxmlformats.org/officeDocument/2006/relationships" id="260" r:id="Rf1b2fcf45e0b4ee2"/>
    <p:sldId xmlns:r="http://schemas.openxmlformats.org/officeDocument/2006/relationships" id="261" r:id="R676121c2b8da47ce"/>
    <p:sldId xmlns:r="http://schemas.openxmlformats.org/officeDocument/2006/relationships" id="262" r:id="R2588fc1d8c43432e"/>
    <p:sldId xmlns:r="http://schemas.openxmlformats.org/officeDocument/2006/relationships" id="263" r:id="Rd21ca62bf120469a"/>
    <p:sldId xmlns:r="http://schemas.openxmlformats.org/officeDocument/2006/relationships" id="264" r:id="R04c37567a8604d0e"/>
    <p:sldId xmlns:r="http://schemas.openxmlformats.org/officeDocument/2006/relationships" id="265" r:id="R2b8f5e859396426b"/>
    <p:sldId xmlns:r="http://schemas.openxmlformats.org/officeDocument/2006/relationships" id="266" r:id="R44cb8ae47e364c56"/>
    <p:sldId xmlns:r="http://schemas.openxmlformats.org/officeDocument/2006/relationships" id="267" r:id="R297fa3d65e8b46d0"/>
    <p:sldId xmlns:r="http://schemas.openxmlformats.org/officeDocument/2006/relationships" id="268" r:id="R7e4e4fc636844ea6"/>
    <p:sldId xmlns:r="http://schemas.openxmlformats.org/officeDocument/2006/relationships" id="269" r:id="Rfe9aa682147c4f49"/>
    <p:sldId xmlns:r="http://schemas.openxmlformats.org/officeDocument/2006/relationships" id="270" r:id="Rf099c47f7e03461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d5acf01072b472b" /><Relationship Type="http://schemas.openxmlformats.org/officeDocument/2006/relationships/slideMaster" Target="/ppt/slideMasters/slideMaster1.xml" Id="Re8fe63845e3b425f" /><Relationship Type="http://schemas.openxmlformats.org/officeDocument/2006/relationships/notesMaster" Target="/ppt/notesMasters/notesMaster1.xml" Id="Rc6ce7250f2194445" /><Relationship Type="http://schemas.openxmlformats.org/officeDocument/2006/relationships/presProps" Target="/ppt/presProps.xml" Id="R5fd42ce7fdc74cac" /><Relationship Type="http://schemas.openxmlformats.org/officeDocument/2006/relationships/tableStyles" Target="/ppt/tableStyles.xml" Id="R30244430e2bb406e" /><Relationship Type="http://schemas.openxmlformats.org/officeDocument/2006/relationships/slide" Target="/ppt/slides/slide1.xml" Id="R7aca17ae3b3a4a2f" /><Relationship Type="http://schemas.openxmlformats.org/officeDocument/2006/relationships/slide" Target="/ppt/slides/slide2.xml" Id="Raf1cb0e87e8f4e8b" /><Relationship Type="http://schemas.openxmlformats.org/officeDocument/2006/relationships/slide" Target="/ppt/slides/slide3.xml" Id="R4db39be56c1e41a0" /><Relationship Type="http://schemas.openxmlformats.org/officeDocument/2006/relationships/slide" Target="/ppt/slides/slide4.xml" Id="Rc7db0f0416e14456" /><Relationship Type="http://schemas.openxmlformats.org/officeDocument/2006/relationships/slide" Target="/ppt/slides/slide5.xml" Id="Rf1b2fcf45e0b4ee2" /><Relationship Type="http://schemas.openxmlformats.org/officeDocument/2006/relationships/slide" Target="/ppt/slides/slide6.xml" Id="R676121c2b8da47ce" /><Relationship Type="http://schemas.openxmlformats.org/officeDocument/2006/relationships/slide" Target="/ppt/slides/slide7.xml" Id="R2588fc1d8c43432e" /><Relationship Type="http://schemas.openxmlformats.org/officeDocument/2006/relationships/slide" Target="/ppt/slides/slide8.xml" Id="Rd21ca62bf120469a" /><Relationship Type="http://schemas.openxmlformats.org/officeDocument/2006/relationships/slide" Target="/ppt/slides/slide9.xml" Id="R04c37567a8604d0e" /><Relationship Type="http://schemas.openxmlformats.org/officeDocument/2006/relationships/slide" Target="/ppt/slides/slide10.xml" Id="R2b8f5e859396426b" /><Relationship Type="http://schemas.openxmlformats.org/officeDocument/2006/relationships/slide" Target="/ppt/slides/slide11.xml" Id="R44cb8ae47e364c56" /><Relationship Type="http://schemas.openxmlformats.org/officeDocument/2006/relationships/slide" Target="/ppt/slides/slide12.xml" Id="R297fa3d65e8b46d0" /><Relationship Type="http://schemas.openxmlformats.org/officeDocument/2006/relationships/slide" Target="/ppt/slides/slide13.xml" Id="R7e4e4fc636844ea6" /><Relationship Type="http://schemas.openxmlformats.org/officeDocument/2006/relationships/slide" Target="/ppt/slides/slide14.xml" Id="Rfe9aa682147c4f49" /><Relationship Type="http://schemas.openxmlformats.org/officeDocument/2006/relationships/slide" Target="/ppt/slides/slide15.xml" Id="Rf099c47f7e03461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63f23fdb8ef4f7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e5ec449726a477d" /><Relationship Type="http://schemas.openxmlformats.org/officeDocument/2006/relationships/notesMaster" Target="/ppt/notesMasters/notesMaster1.xml" Id="R9c72a613eae8436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088317cde694641" /><Relationship Type="http://schemas.openxmlformats.org/officeDocument/2006/relationships/notesMaster" Target="/ppt/notesMasters/notesMaster1.xml" Id="Rc689de13d4ba473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5b354fbecf644a3" /><Relationship Type="http://schemas.openxmlformats.org/officeDocument/2006/relationships/notesMaster" Target="/ppt/notesMasters/notesMaster1.xml" Id="R2f1978fb9db84b1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8d8f2d93a4343f9" /><Relationship Type="http://schemas.openxmlformats.org/officeDocument/2006/relationships/notesMaster" Target="/ppt/notesMasters/notesMaster1.xml" Id="Rd24857df39a1479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e1806dbd8d84bdf" /><Relationship Type="http://schemas.openxmlformats.org/officeDocument/2006/relationships/notesMaster" Target="/ppt/notesMasters/notesMaster1.xml" Id="Rc9177cd1ef16464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769e6bbc9e54d59" /><Relationship Type="http://schemas.openxmlformats.org/officeDocument/2006/relationships/notesMaster" Target="/ppt/notesMasters/notesMaster1.xml" Id="R557f77e181034ac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1c268c618c24d94" /><Relationship Type="http://schemas.openxmlformats.org/officeDocument/2006/relationships/notesMaster" Target="/ppt/notesMasters/notesMaster1.xml" Id="Rde3ee32d45764b0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49349d4b6ef464c" /><Relationship Type="http://schemas.openxmlformats.org/officeDocument/2006/relationships/notesMaster" Target="/ppt/notesMasters/notesMaster1.xml" Id="Rfbef50a112954f0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6cf057c9e4e428b" /><Relationship Type="http://schemas.openxmlformats.org/officeDocument/2006/relationships/notesMaster" Target="/ppt/notesMasters/notesMaster1.xml" Id="Rbaaad37be435406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22340e93fb94346" /><Relationship Type="http://schemas.openxmlformats.org/officeDocument/2006/relationships/notesMaster" Target="/ppt/notesMasters/notesMaster1.xml" Id="Rf1b2731921c24f3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dedddab7b3c492d" /><Relationship Type="http://schemas.openxmlformats.org/officeDocument/2006/relationships/notesMaster" Target="/ppt/notesMasters/notesMaster1.xml" Id="Ra1c465eecb6c4ba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6a5219125c243e2" /><Relationship Type="http://schemas.openxmlformats.org/officeDocument/2006/relationships/notesMaster" Target="/ppt/notesMasters/notesMaster1.xml" Id="R0c5851f2d65f447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7faf9890e284718" /><Relationship Type="http://schemas.openxmlformats.org/officeDocument/2006/relationships/notesMaster" Target="/ppt/notesMasters/notesMaster1.xml" Id="R7bacdafa18f843f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fbc41f9498c4c34" /><Relationship Type="http://schemas.openxmlformats.org/officeDocument/2006/relationships/notesMaster" Target="/ppt/notesMasters/notesMaster1.xml" Id="R480c62371e2e49d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2a6d9383a43409e" /><Relationship Type="http://schemas.openxmlformats.org/officeDocument/2006/relationships/notesMaster" Target="/ppt/notesMasters/notesMaster1.xml" Id="Rda34e99e484746e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مشروع في مرحلة التخطيط. لا يفترض هذا العرض وجود ترخيص أو شراكات موقّعة أو عملاء فعليين. جميع المبالغ بالدينار الليبي، والأرقام المالية افتراضات للتخطيط.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احتياجات العملاء هنا فرضيات بحثية، وليست نتائج دراسة ميدانية مكتملة. يلزم التحقق قبل تثبيت النطاق والتسعير.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المصدر S3، الصفحة 6. بيانات وطنية تاريخية، وليست أرقام تزدان أو حجم السوق الحالي.</a:t>
            </a:r>
          </a:p>
          <a:p xmlns:a="http://schemas.openxmlformats.org/drawingml/2006/main">
            <a:r>
              <a:t>S1: Central Bank of Libya, electronic payments and approved providers directory</a:t>
            </a:r>
          </a:p>
          <a:p xmlns:a="http://schemas.openxmlformats.org/drawingml/2006/main">
            <a:r>
              <a:t>https://cbl.gov.ly/electronic-payment/</a:t>
            </a:r>
          </a:p>
          <a:p xmlns:a="http://schemas.openxmlformats.org/drawingml/2006/main">
            <a:r>
              <a:t>Accessed 21 September 2026. Licence categories and listed expiry dates require direct reconfirmation.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S2: Central Bank of Libya, National Financial Inclusion Strategy 2025–2029 announcement</a:t>
            </a:r>
          </a:p>
          <a:p xmlns:a="http://schemas.openxmlformats.org/drawingml/2006/main">
            <a:r>
              <a:t>https://cbl.gov.ly/en/governor-of-the-central-bank-of-libya-announces-from-tripoli-the-launch-of-the-national-financial-inclusion-strategy-and-a-number-of-transformative-projects-during-the-opening-of-the-electronic-paymen/</a:t>
            </a:r>
          </a:p>
          <a:p xmlns:a="http://schemas.openxmlformats.org/drawingml/2006/main">
            <a:r>
              <a:t>Accessed 21 September 2026. Policy direction does not confer authorisation on tazdan.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S3: Central Bank of Libya, revenue and expenditure statement through 30 November 2025, page 6</a:t>
            </a:r>
          </a:p>
          <a:p xmlns:a="http://schemas.openxmlformats.org/drawingml/2006/main">
            <a:r>
              <a:t>https://cbl.gov.ly/en/wp-content/uploads/sites/4/2025/12/Revenue-and-Expenditure-Statemen-from-1st-Jan-to-30-Nov-2025.pdf</a:t>
            </a:r>
          </a:p>
          <a:p xmlns:a="http://schemas.openxmlformats.org/drawingml/2006/main">
            <a:r>
              <a:t>Historical baseline, not a September 2026 market count.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S4: IMF, Libya 2025 Article IV Consultation, Informational Annex</a:t>
            </a:r>
          </a:p>
          <a:p xmlns:a="http://schemas.openxmlformats.org/drawingml/2006/main">
            <a:r>
              <a:t>https://www.elibrary.imf.org/view/journals/002/2025/148/article-A002-en.xml</a:t>
            </a:r>
          </a:p>
          <a:p xmlns:a="http://schemas.openxmlformats.org/drawingml/2006/main">
            <a:r>
              <a:t>Published 25 June 2025. Historical description of exchange restrictions, not a current transaction permission.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S5: Central Bank of Libya, Regulatory Rules of the Libyan National Payment Scheme</a:t>
            </a:r>
          </a:p>
          <a:p xmlns:a="http://schemas.openxmlformats.org/drawingml/2006/main">
            <a:r>
              <a:t>https://cbl.gov.ly/micifaf/2024/01/القواعد-التنظيمية-لشبكة-الدفع-المحلية-الليبية.pdf</a:t>
            </a:r>
          </a:p>
          <a:p xmlns:a="http://schemas.openxmlformats.org/drawingml/2006/main">
            <a:r>
              <a:t>Published on the CBL site in January 2024. Partner scope and subsequent amendments need counsel confirmation.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S7: FATF, virtual assets and virtual asset service providers</a:t>
            </a:r>
          </a:p>
          <a:p xmlns:a="http://schemas.openxmlformats.org/drawingml/2006/main">
            <a:r>
              <a:t>https://www.fatf-gafi.org/en/topics/virtual-assets.html</a:t>
            </a:r>
          </a:p>
          <a:p xmlns:a="http://schemas.openxmlformats.org/drawingml/2006/main">
            <a:r>
              <a:t>Accessed 21 September 2026. International AML standard-setting guidance, not a Libyan operating licence.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S8: Libyan News Agency, financial inclusion strategy announcement</a:t>
            </a:r>
          </a:p>
          <a:p xmlns:a="http://schemas.openxmlformats.org/drawingml/2006/main">
            <a:r>
              <a:t>https://lana.gov.ly/post.php?id=334548&amp;lang=en</a:t>
            </a:r>
          </a:p>
          <a:p xmlns:a="http://schemas.openxmlformats.org/drawingml/2006/main">
            <a:r>
              <a:t>15 June 2025. Reports preparation of a digital-currency framework, not permission to launch a crypto service.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S9: Libya Herald, CBL warning on virtual currencies</a:t>
            </a:r>
          </a:p>
          <a:p xmlns:a="http://schemas.openxmlformats.org/drawingml/2006/main">
            <a:r>
              <a:t>https://libyaherald.com/2018/05/cbl-warns-that-dealing-in-virtual-currencies-such-as-bitcoin-are-illegal-in-libya/</a:t>
            </a:r>
          </a:p>
          <a:p xmlns:a="http://schemas.openxmlformats.org/drawingml/2006/main">
            <a:r>
              <a:t>17 May 2018. Historical secondary reporting. Requires current primary legal confirmation.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S6: World Bank, Libya Economic Monitor release</a:t>
            </a:r>
          </a:p>
          <a:p xmlns:a="http://schemas.openxmlformats.org/drawingml/2006/main">
            <a:r>
              <a:t>https://www.worldbank.org/en/news/press-release/2025/12/17/libya-sustained-strong-growth-requires-structural-change-to-improve-transparency-and-public-financial-management</a:t>
            </a:r>
          </a:p>
          <a:p xmlns:a="http://schemas.openxmlformats.org/drawingml/2006/main">
            <a:r>
              <a:t>Published 17 December 2025. Macroeconomic context, not a forecast of payment-app revenue.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حُفظت لقطة التطبيق الأصلية كما هي. المدفوعات المحلية هي أساس النموذج المالي، بينما يتطلب الكريبتو والتحويل الدولي موافقات مستقلة.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المراحل مقترحة. لا تعني صلاحية الدفع المحلي صلاحية تقديم الحفظ أو التحويل الدولي أو العملات الرقمية.</a:t>
            </a:r>
          </a:p>
          <a:p xmlns:a="http://schemas.openxmlformats.org/drawingml/2006/main">
            <a:r>
              <a:t>S1: Central Bank of Libya, electronic payments and approved providers directory</a:t>
            </a:r>
          </a:p>
          <a:p xmlns:a="http://schemas.openxmlformats.org/drawingml/2006/main">
            <a:r>
              <a:t>https://cbl.gov.ly/electronic-payment/</a:t>
            </a:r>
          </a:p>
          <a:p xmlns:a="http://schemas.openxmlformats.org/drawingml/2006/main">
            <a:r>
              <a:t>Accessed 21 September 2026. Licence categories and listed expiry dates require direct reconfirmation.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S2: Central Bank of Libya, National Financial Inclusion Strategy 2025–2029 announcement</a:t>
            </a:r>
          </a:p>
          <a:p xmlns:a="http://schemas.openxmlformats.org/drawingml/2006/main">
            <a:r>
              <a:t>https://cbl.gov.ly/en/governor-of-the-central-bank-of-libya-announces-from-tripoli-the-launch-of-the-national-financial-inclusion-strategy-and-a-number-of-transformative-projects-during-the-opening-of-the-electronic-paymen/</a:t>
            </a:r>
          </a:p>
          <a:p xmlns:a="http://schemas.openxmlformats.org/drawingml/2006/main">
            <a:r>
              <a:t>Accessed 21 September 2026. Policy direction does not confer authorisation on tazdan.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S3: Central Bank of Libya, revenue and expenditure statement through 30 November 2025, page 6</a:t>
            </a:r>
          </a:p>
          <a:p xmlns:a="http://schemas.openxmlformats.org/drawingml/2006/main">
            <a:r>
              <a:t>https://cbl.gov.ly/en/wp-content/uploads/sites/4/2025/12/Revenue-and-Expenditure-Statemen-from-1st-Jan-to-30-Nov-2025.pdf</a:t>
            </a:r>
          </a:p>
          <a:p xmlns:a="http://schemas.openxmlformats.org/drawingml/2006/main">
            <a:r>
              <a:t>Historical baseline, not a September 2026 market count.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S4: IMF, Libya 2025 Article IV Consultation, Informational Annex</a:t>
            </a:r>
          </a:p>
          <a:p xmlns:a="http://schemas.openxmlformats.org/drawingml/2006/main">
            <a:r>
              <a:t>https://www.elibrary.imf.org/view/journals/002/2025/148/article-A002-en.xml</a:t>
            </a:r>
          </a:p>
          <a:p xmlns:a="http://schemas.openxmlformats.org/drawingml/2006/main">
            <a:r>
              <a:t>Published 25 June 2025. Historical description of exchange restrictions, not a current transaction permission.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S5: Central Bank of Libya, Regulatory Rules of the Libyan National Payment Scheme</a:t>
            </a:r>
          </a:p>
          <a:p xmlns:a="http://schemas.openxmlformats.org/drawingml/2006/main">
            <a:r>
              <a:t>https://cbl.gov.ly/micifaf/2024/01/القواعد-التنظيمية-لشبكة-الدفع-المحلية-الليبية.pdf</a:t>
            </a:r>
          </a:p>
          <a:p xmlns:a="http://schemas.openxmlformats.org/drawingml/2006/main">
            <a:r>
              <a:t>Published on the CBL site in January 2024. Partner scope and subsequent amendments need counsel confirmation.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S7: FATF, virtual assets and virtual asset service providers</a:t>
            </a:r>
          </a:p>
          <a:p xmlns:a="http://schemas.openxmlformats.org/drawingml/2006/main">
            <a:r>
              <a:t>https://www.fatf-gafi.org/en/topics/virtual-assets.html</a:t>
            </a:r>
          </a:p>
          <a:p xmlns:a="http://schemas.openxmlformats.org/drawingml/2006/main">
            <a:r>
              <a:t>Accessed 21 September 2026. International AML standard-setting guidance, not a Libyan operating licence.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S8: Libyan News Agency, financial inclusion strategy announcement</a:t>
            </a:r>
          </a:p>
          <a:p xmlns:a="http://schemas.openxmlformats.org/drawingml/2006/main">
            <a:r>
              <a:t>https://lana.gov.ly/post.php?id=334548&amp;lang=en</a:t>
            </a:r>
          </a:p>
          <a:p xmlns:a="http://schemas.openxmlformats.org/drawingml/2006/main">
            <a:r>
              <a:t>15 June 2025. Reports preparation of a digital-currency framework, not permission to launch a crypto service.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S9: Libya Herald, CBL warning on virtual currencies</a:t>
            </a:r>
          </a:p>
          <a:p xmlns:a="http://schemas.openxmlformats.org/drawingml/2006/main">
            <a:r>
              <a:t>https://libyaherald.com/2018/05/cbl-warns-that-dealing-in-virtual-currencies-such-as-bitcoin-are-illegal-in-libya/</a:t>
            </a:r>
          </a:p>
          <a:p xmlns:a="http://schemas.openxmlformats.org/drawingml/2006/main">
            <a:r>
              <a:t>17 May 2018. Historical secondary reporting. Requires current primary legal confirmation.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S6: World Bank, Libya Economic Monitor release</a:t>
            </a:r>
          </a:p>
          <a:p xmlns:a="http://schemas.openxmlformats.org/drawingml/2006/main">
            <a:r>
              <a:t>https://www.worldbank.org/en/news/press-release/2025/12/17/libya-sustained-strong-growth-requires-structural-change-to-improve-transparency-and-public-financial-management</a:t>
            </a:r>
          </a:p>
          <a:p xmlns:a="http://schemas.openxmlformats.org/drawingml/2006/main">
            <a:r>
              <a:t>Published 17 December 2025. Macroeconomic context, not a forecast of payment-app revenue.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المدن والأهداف افتراضات تخطيطية. ميزانية التسويق وحدها لا تكفي لتحقيق التوسع المفترض؛ يجب إثبات قنوات الشركاء والاحتفاظ العضوي.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الأسعار متسقة مع الموقع ودراسة الجدوى. الانضمام إلى قائمة الانتظار مجاني. هذه ليست تعرفة معتمدة لخدمة حية.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لا تحدد المصادر العامة الترخيص الدقيق لتزدان أو رسومه أو رأسماله. يلزم رأي قانوني محلي حديث وتأكيد مكتوب من الجهات والشركاء.</a:t>
            </a:r>
          </a:p>
          <a:p xmlns:a="http://schemas.openxmlformats.org/drawingml/2006/main">
            <a:r>
              <a:t>S1: Central Bank of Libya, electronic payments and approved providers directory</a:t>
            </a:r>
          </a:p>
          <a:p xmlns:a="http://schemas.openxmlformats.org/drawingml/2006/main">
            <a:r>
              <a:t>https://cbl.gov.ly/electronic-payment/</a:t>
            </a:r>
          </a:p>
          <a:p xmlns:a="http://schemas.openxmlformats.org/drawingml/2006/main">
            <a:r>
              <a:t>Accessed 21 September 2026. Licence categories and listed expiry dates require direct reconfirmation.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S2: Central Bank of Libya, National Financial Inclusion Strategy 2025–2029 announcement</a:t>
            </a:r>
          </a:p>
          <a:p xmlns:a="http://schemas.openxmlformats.org/drawingml/2006/main">
            <a:r>
              <a:t>https://cbl.gov.ly/en/governor-of-the-central-bank-of-libya-announces-from-tripoli-the-launch-of-the-national-financial-inclusion-strategy-and-a-number-of-transformative-projects-during-the-opening-of-the-electronic-paymen/</a:t>
            </a:r>
          </a:p>
          <a:p xmlns:a="http://schemas.openxmlformats.org/drawingml/2006/main">
            <a:r>
              <a:t>Accessed 21 September 2026. Policy direction does not confer authorisation on tazdan.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S3: Central Bank of Libya, revenue and expenditure statement through 30 November 2025, page 6</a:t>
            </a:r>
          </a:p>
          <a:p xmlns:a="http://schemas.openxmlformats.org/drawingml/2006/main">
            <a:r>
              <a:t>https://cbl.gov.ly/en/wp-content/uploads/sites/4/2025/12/Revenue-and-Expenditure-Statemen-from-1st-Jan-to-30-Nov-2025.pdf</a:t>
            </a:r>
          </a:p>
          <a:p xmlns:a="http://schemas.openxmlformats.org/drawingml/2006/main">
            <a:r>
              <a:t>Historical baseline, not a September 2026 market count.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S4: IMF, Libya 2025 Article IV Consultation, Informational Annex</a:t>
            </a:r>
          </a:p>
          <a:p xmlns:a="http://schemas.openxmlformats.org/drawingml/2006/main">
            <a:r>
              <a:t>https://www.elibrary.imf.org/view/journals/002/2025/148/article-A002-en.xml</a:t>
            </a:r>
          </a:p>
          <a:p xmlns:a="http://schemas.openxmlformats.org/drawingml/2006/main">
            <a:r>
              <a:t>Published 25 June 2025. Historical description of exchange restrictions, not a current transaction permission.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S5: Central Bank of Libya, Regulatory Rules of the Libyan National Payment Scheme</a:t>
            </a:r>
          </a:p>
          <a:p xmlns:a="http://schemas.openxmlformats.org/drawingml/2006/main">
            <a:r>
              <a:t>https://cbl.gov.ly/micifaf/2024/01/القواعد-التنظيمية-لشبكة-الدفع-المحلية-الليبية.pdf</a:t>
            </a:r>
          </a:p>
          <a:p xmlns:a="http://schemas.openxmlformats.org/drawingml/2006/main">
            <a:r>
              <a:t>Published on the CBL site in January 2024. Partner scope and subsequent amendments need counsel confirmation.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S7: FATF, virtual assets and virtual asset service providers</a:t>
            </a:r>
          </a:p>
          <a:p xmlns:a="http://schemas.openxmlformats.org/drawingml/2006/main">
            <a:r>
              <a:t>https://www.fatf-gafi.org/en/topics/virtual-assets.html</a:t>
            </a:r>
          </a:p>
          <a:p xmlns:a="http://schemas.openxmlformats.org/drawingml/2006/main">
            <a:r>
              <a:t>Accessed 21 September 2026. International AML standard-setting guidance, not a Libyan operating licence.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S8: Libyan News Agency, financial inclusion strategy announcement</a:t>
            </a:r>
          </a:p>
          <a:p xmlns:a="http://schemas.openxmlformats.org/drawingml/2006/main">
            <a:r>
              <a:t>https://lana.gov.ly/post.php?id=334548&amp;lang=en</a:t>
            </a:r>
          </a:p>
          <a:p xmlns:a="http://schemas.openxmlformats.org/drawingml/2006/main">
            <a:r>
              <a:t>15 June 2025. Reports preparation of a digital-currency framework, not permission to launch a crypto service.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S9: Libya Herald, CBL warning on virtual currencies</a:t>
            </a:r>
          </a:p>
          <a:p xmlns:a="http://schemas.openxmlformats.org/drawingml/2006/main">
            <a:r>
              <a:t>https://libyaherald.com/2018/05/cbl-warns-that-dealing-in-virtual-currencies-such-as-bitcoin-are-illegal-in-libya/</a:t>
            </a:r>
          </a:p>
          <a:p xmlns:a="http://schemas.openxmlformats.org/drawingml/2006/main">
            <a:r>
              <a:t>17 May 2018. Historical secondary reporting. Requires current primary legal confirmation.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S6: World Bank, Libya Economic Monitor release</a:t>
            </a:r>
          </a:p>
          <a:p xmlns:a="http://schemas.openxmlformats.org/drawingml/2006/main">
            <a:r>
              <a:t>https://www.worldbank.org/en/news/press-release/2025/12/17/libya-sustained-strong-growth-requires-structural-change-to-improve-transparency-and-public-financial-management</a:t>
            </a:r>
          </a:p>
          <a:p xmlns:a="http://schemas.openxmlformats.org/drawingml/2006/main">
            <a:r>
              <a:t>Published 17 December 2025. Macroeconomic context, not a forecast of payment-app revenue.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القانون والترخيص 1.50، الأمن 0.90، تكامل الشركاء 0.90 = 3.30 مليون. السحابة 1.20، النمو 1.50، الإدارة 0.60 = 3.30 مليون. السنة الأولى 8.40 والثانية 6.60 مليون.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مخصص رأسمال 5 ملايين ليس حداً قانونياً مؤكداً. رأس المال والضمانات مخصصات في الميزانية وليست مصروفات تشغيلية. أموال العملاء ليست تمويلاً للشركة.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متوسطات العملاء سنوية. نسب بلس 10% و15% و20%؛ التجار 200 و800 و2500؛ الإنفاق الشهري 600 و800 و1000 دينار؛ العائد الإجمالي 0.6% و0.7% و0.8%. تكلفة المعالجة والخسائر 0.3%، خدمة العميل 1.5 دينار شهرياً وخدمة التاجر 10 دنانير.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مساهمة العميل = 1000×0.008 + 0.20×15 −1000×0.003 −1.5 =6.5 دينار. مساهمة التاجر =49−10=39 دينار. التعادل =(700000−2500×39)÷6.5، ويقرّب إلى 92693 عميلاً. لا تشمل المساهمة كلفة الاستحواذ أو الضرائب.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تأخير: 625 ألفاً شهرياً ×6. صدمة موردين: 25% على 40% من 15 مليون. السيناريو الضعيف: إيراد 4.407 وتكاليف متغيرة 2.958 وثابتة 8.4 مليون. التسوية: 1.44 مليار ÷365×2.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المخصصات بالمليون: حفظ ومحافظ 0.45؛ تحليل السلسلة وقاعدة السفر 0.60؛ قانون وفحص الشركاء 0.75؛ أمن 0.60؛ تكامل مدفوعات 0.60. المجموع 3.00 +35%=4.05. خمسة آلاف تحويل شهري بمتوسط ألف دينار ورسوم 1.5% وكلفة 0.9% ودينارين للتحويل تعطي مساهمة 20 ألف دينار قبل الثابت؛ لا تبرر وحدها الاستثمار. الوضع القانوني الحالي للكريبتو في ليبيا غير مثبت.</a:t>
            </a:r>
          </a:p>
          <a:p xmlns:a="http://schemas.openxmlformats.org/drawingml/2006/main">
            <a:r>
              <a:t>S1: Central Bank of Libya, electronic payments and approved providers directory</a:t>
            </a:r>
          </a:p>
          <a:p xmlns:a="http://schemas.openxmlformats.org/drawingml/2006/main">
            <a:r>
              <a:t>https://cbl.gov.ly/electronic-payment/</a:t>
            </a:r>
          </a:p>
          <a:p xmlns:a="http://schemas.openxmlformats.org/drawingml/2006/main">
            <a:r>
              <a:t>Accessed 21 September 2026. Licence categories and listed expiry dates require direct reconfirmation.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S2: Central Bank of Libya, National Financial Inclusion Strategy 2025–2029 announcement</a:t>
            </a:r>
          </a:p>
          <a:p xmlns:a="http://schemas.openxmlformats.org/drawingml/2006/main">
            <a:r>
              <a:t>https://cbl.gov.ly/en/governor-of-the-central-bank-of-libya-announces-from-tripoli-the-launch-of-the-national-financial-inclusion-strategy-and-a-number-of-transformative-projects-during-the-opening-of-the-electronic-paymen/</a:t>
            </a:r>
          </a:p>
          <a:p xmlns:a="http://schemas.openxmlformats.org/drawingml/2006/main">
            <a:r>
              <a:t>Accessed 21 September 2026. Policy direction does not confer authorisation on tazdan.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S3: Central Bank of Libya, revenue and expenditure statement through 30 November 2025, page 6</a:t>
            </a:r>
          </a:p>
          <a:p xmlns:a="http://schemas.openxmlformats.org/drawingml/2006/main">
            <a:r>
              <a:t>https://cbl.gov.ly/en/wp-content/uploads/sites/4/2025/12/Revenue-and-Expenditure-Statemen-from-1st-Jan-to-30-Nov-2025.pdf</a:t>
            </a:r>
          </a:p>
          <a:p xmlns:a="http://schemas.openxmlformats.org/drawingml/2006/main">
            <a:r>
              <a:t>Historical baseline, not a September 2026 market count.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S4: IMF, Libya 2025 Article IV Consultation, Informational Annex</a:t>
            </a:r>
          </a:p>
          <a:p xmlns:a="http://schemas.openxmlformats.org/drawingml/2006/main">
            <a:r>
              <a:t>https://www.elibrary.imf.org/view/journals/002/2025/148/article-A002-en.xml</a:t>
            </a:r>
          </a:p>
          <a:p xmlns:a="http://schemas.openxmlformats.org/drawingml/2006/main">
            <a:r>
              <a:t>Published 25 June 2025. Historical description of exchange restrictions, not a current transaction permission.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S5: Central Bank of Libya, Regulatory Rules of the Libyan National Payment Scheme</a:t>
            </a:r>
          </a:p>
          <a:p xmlns:a="http://schemas.openxmlformats.org/drawingml/2006/main">
            <a:r>
              <a:t>https://cbl.gov.ly/micifaf/2024/01/القواعد-التنظيمية-لشبكة-الدفع-المحلية-الليبية.pdf</a:t>
            </a:r>
          </a:p>
          <a:p xmlns:a="http://schemas.openxmlformats.org/drawingml/2006/main">
            <a:r>
              <a:t>Published on the CBL site in January 2024. Partner scope and subsequent amendments need counsel confirmation.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S7: FATF, virtual assets and virtual asset service providers</a:t>
            </a:r>
          </a:p>
          <a:p xmlns:a="http://schemas.openxmlformats.org/drawingml/2006/main">
            <a:r>
              <a:t>https://www.fatf-gafi.org/en/topics/virtual-assets.html</a:t>
            </a:r>
          </a:p>
          <a:p xmlns:a="http://schemas.openxmlformats.org/drawingml/2006/main">
            <a:r>
              <a:t>Accessed 21 September 2026. International AML standard-setting guidance, not a Libyan operating licence.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S8: Libyan News Agency, financial inclusion strategy announcement</a:t>
            </a:r>
          </a:p>
          <a:p xmlns:a="http://schemas.openxmlformats.org/drawingml/2006/main">
            <a:r>
              <a:t>https://lana.gov.ly/post.php?id=334548&amp;lang=en</a:t>
            </a:r>
          </a:p>
          <a:p xmlns:a="http://schemas.openxmlformats.org/drawingml/2006/main">
            <a:r>
              <a:t>15 June 2025. Reports preparation of a digital-currency framework, not permission to launch a crypto service.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S9: Libya Herald, CBL warning on virtual currencies</a:t>
            </a:r>
          </a:p>
          <a:p xmlns:a="http://schemas.openxmlformats.org/drawingml/2006/main">
            <a:r>
              <a:t>https://libyaherald.com/2018/05/cbl-warns-that-dealing-in-virtual-currencies-such-as-bitcoin-are-illegal-in-libya/</a:t>
            </a:r>
          </a:p>
          <a:p xmlns:a="http://schemas.openxmlformats.org/drawingml/2006/main">
            <a:r>
              <a:t>17 May 2018. Historical secondary reporting. Requires current primary legal confirmation.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S6: World Bank, Libya Economic Monitor release</a:t>
            </a:r>
          </a:p>
          <a:p xmlns:a="http://schemas.openxmlformats.org/drawingml/2006/main">
            <a:r>
              <a:t>https://www.worldbank.org/en/news/press-release/2025/12/17/libya-sustained-strong-growth-requires-structural-change-to-improve-transparency-and-public-financial-management</a:t>
            </a:r>
          </a:p>
          <a:p xmlns:a="http://schemas.openxmlformats.org/drawingml/2006/main">
            <a:r>
              <a:t>Published 17 December 2025. Macroeconomic context, not a forecast of payment-app revenue.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الدفعات مقترحة وليست التزامات تمويلية. لا تُقبل أموال العملاء قبل اكتمال النطاق المعتمد وضوابط حماية الأموال. الأرقام والنماذج المفصلة في دراسة الجدوى المصاحبة.</a:t>
            </a:r>
          </a:p>
          <a:p xmlns:a="http://schemas.openxmlformats.org/drawingml/2006/main">
            <a:r>
              <a:t>S1: Central Bank of Libya, electronic payments and approved providers directory</a:t>
            </a:r>
          </a:p>
          <a:p xmlns:a="http://schemas.openxmlformats.org/drawingml/2006/main">
            <a:r>
              <a:t>https://cbl.gov.ly/electronic-payment/</a:t>
            </a:r>
          </a:p>
          <a:p xmlns:a="http://schemas.openxmlformats.org/drawingml/2006/main">
            <a:r>
              <a:t>Accessed 21 September 2026. Licence categories and listed expiry dates require direct reconfirmation.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S2: Central Bank of Libya, National Financial Inclusion Strategy 2025–2029 announcement</a:t>
            </a:r>
          </a:p>
          <a:p xmlns:a="http://schemas.openxmlformats.org/drawingml/2006/main">
            <a:r>
              <a:t>https://cbl.gov.ly/en/governor-of-the-central-bank-of-libya-announces-from-tripoli-the-launch-of-the-national-financial-inclusion-strategy-and-a-number-of-transformative-projects-during-the-opening-of-the-electronic-paymen/</a:t>
            </a:r>
          </a:p>
          <a:p xmlns:a="http://schemas.openxmlformats.org/drawingml/2006/main">
            <a:r>
              <a:t>Accessed 21 September 2026. Policy direction does not confer authorisation on tazdan.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S3: Central Bank of Libya, revenue and expenditure statement through 30 November 2025, page 6</a:t>
            </a:r>
          </a:p>
          <a:p xmlns:a="http://schemas.openxmlformats.org/drawingml/2006/main">
            <a:r>
              <a:t>https://cbl.gov.ly/en/wp-content/uploads/sites/4/2025/12/Revenue-and-Expenditure-Statemen-from-1st-Jan-to-30-Nov-2025.pdf</a:t>
            </a:r>
          </a:p>
          <a:p xmlns:a="http://schemas.openxmlformats.org/drawingml/2006/main">
            <a:r>
              <a:t>Historical baseline, not a September 2026 market count.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S4: IMF, Libya 2025 Article IV Consultation, Informational Annex</a:t>
            </a:r>
          </a:p>
          <a:p xmlns:a="http://schemas.openxmlformats.org/drawingml/2006/main">
            <a:r>
              <a:t>https://www.elibrary.imf.org/view/journals/002/2025/148/article-A002-en.xml</a:t>
            </a:r>
          </a:p>
          <a:p xmlns:a="http://schemas.openxmlformats.org/drawingml/2006/main">
            <a:r>
              <a:t>Published 25 June 2025. Historical description of exchange restrictions, not a current transaction permission.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S5: Central Bank of Libya, Regulatory Rules of the Libyan National Payment Scheme</a:t>
            </a:r>
          </a:p>
          <a:p xmlns:a="http://schemas.openxmlformats.org/drawingml/2006/main">
            <a:r>
              <a:t>https://cbl.gov.ly/micifaf/2024/01/القواعد-التنظيمية-لشبكة-الدفع-المحلية-الليبية.pdf</a:t>
            </a:r>
          </a:p>
          <a:p xmlns:a="http://schemas.openxmlformats.org/drawingml/2006/main">
            <a:r>
              <a:t>Published on the CBL site in January 2024. Partner scope and subsequent amendments need counsel confirmation.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S7: FATF, virtual assets and virtual asset service providers</a:t>
            </a:r>
          </a:p>
          <a:p xmlns:a="http://schemas.openxmlformats.org/drawingml/2006/main">
            <a:r>
              <a:t>https://www.fatf-gafi.org/en/topics/virtual-assets.html</a:t>
            </a:r>
          </a:p>
          <a:p xmlns:a="http://schemas.openxmlformats.org/drawingml/2006/main">
            <a:r>
              <a:t>Accessed 21 September 2026. International AML standard-setting guidance, not a Libyan operating licence.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S8: Libyan News Agency, financial inclusion strategy announcement</a:t>
            </a:r>
          </a:p>
          <a:p xmlns:a="http://schemas.openxmlformats.org/drawingml/2006/main">
            <a:r>
              <a:t>https://lana.gov.ly/post.php?id=334548&amp;lang=en</a:t>
            </a:r>
          </a:p>
          <a:p xmlns:a="http://schemas.openxmlformats.org/drawingml/2006/main">
            <a:r>
              <a:t>15 June 2025. Reports preparation of a digital-currency framework, not permission to launch a crypto service.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S9: Libya Herald, CBL warning on virtual currencies</a:t>
            </a:r>
          </a:p>
          <a:p xmlns:a="http://schemas.openxmlformats.org/drawingml/2006/main">
            <a:r>
              <a:t>https://libyaherald.com/2018/05/cbl-warns-that-dealing-in-virtual-currencies-such-as-bitcoin-are-illegal-in-libya/</a:t>
            </a:r>
          </a:p>
          <a:p xmlns:a="http://schemas.openxmlformats.org/drawingml/2006/main">
            <a:r>
              <a:t>17 May 2018. Historical secondary reporting. Requires current primary legal confirmation.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S6: World Bank, Libya Economic Monitor release</a:t>
            </a:r>
          </a:p>
          <a:p xmlns:a="http://schemas.openxmlformats.org/drawingml/2006/main">
            <a:r>
              <a:t>https://www.worldbank.org/en/news/press-release/2025/12/17/libya-sustained-strong-growth-requires-structural-change-to-improve-transparency-and-public-financial-management</a:t>
            </a:r>
          </a:p>
          <a:p xmlns:a="http://schemas.openxmlformats.org/drawingml/2006/main">
            <a:r>
              <a:t>Published 17 December 2025. Macroeconomic context, not a forecast of payment-app revenue.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2e1259caef40e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cfd8e721bc542b2" /><Relationship Type="http://schemas.openxmlformats.org/officeDocument/2006/relationships/slideLayout" Target="/ppt/slideLayouts/slideLayout1.xml" Id="R83aee42e9375410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3aee42e9375410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a9c9078f1e4ebb" /><Relationship Type="http://schemas.openxmlformats.org/officeDocument/2006/relationships/image" Target="/ppt/media/image.png" Id="R0e7c651780684022" /><Relationship Type="http://schemas.openxmlformats.org/officeDocument/2006/relationships/notesSlide" Target="/ppt/notesSlides/notesSlide1.xml" Id="R5e18152e722049d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d431728d544677" /><Relationship Type="http://schemas.openxmlformats.org/officeDocument/2006/relationships/notesSlide" Target="/ppt/notesSlides/notesSlide2.xml" Id="Rd54cd0df637d42c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0186fac6e844b4" /><Relationship Type="http://schemas.openxmlformats.org/officeDocument/2006/relationships/notesSlide" Target="/ppt/notesSlides/notesSlide3.xml" Id="R68711690a37f40d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3b64e191894635" /><Relationship Type="http://schemas.openxmlformats.org/officeDocument/2006/relationships/image" Target="/ppt/media/image2.png" Id="Rf91b601bf4ea4c82" /><Relationship Type="http://schemas.openxmlformats.org/officeDocument/2006/relationships/notesSlide" Target="/ppt/notesSlides/notesSlide4.xml" Id="R585f5f1f646941f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5cec6457b84d4d" /><Relationship Type="http://schemas.openxmlformats.org/officeDocument/2006/relationships/notesSlide" Target="/ppt/notesSlides/notesSlide5.xml" Id="R8e7ffd8e5bcb41b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ebc69463474e40" /><Relationship Type="http://schemas.openxmlformats.org/officeDocument/2006/relationships/notesSlide" Target="/ppt/notesSlides/notesSlide6.xml" Id="Re26c5237d36f45e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e797f6941c40dd" /><Relationship Type="http://schemas.openxmlformats.org/officeDocument/2006/relationships/notesSlide" Target="/ppt/notesSlides/notesSlide7.xml" Id="R9fa3db3d6c1a483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d5a93e27274846" /><Relationship Type="http://schemas.openxmlformats.org/officeDocument/2006/relationships/notesSlide" Target="/ppt/notesSlides/notesSlide8.xml" Id="Rd5f83797f28042b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8662309d6745b9" /><Relationship Type="http://schemas.openxmlformats.org/officeDocument/2006/relationships/notesSlide" Target="/ppt/notesSlides/notesSlide9.xml" Id="R9ca7de7f46ad471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192d9833b642f8" /><Relationship Type="http://schemas.openxmlformats.org/officeDocument/2006/relationships/notesSlide" Target="/ppt/notesSlides/notesSlide10.xml" Id="Rbe604749b64440f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228fc408bb4abe" /><Relationship Type="http://schemas.openxmlformats.org/officeDocument/2006/relationships/notesSlide" Target="/ppt/notesSlides/notesSlide11.xml" Id="R6f4ef23456f1445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8cdfb304e04432" /><Relationship Type="http://schemas.openxmlformats.org/officeDocument/2006/relationships/notesSlide" Target="/ppt/notesSlides/notesSlide12.xml" Id="R9aed1963b80c4c7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5a0d4a78714605" /><Relationship Type="http://schemas.openxmlformats.org/officeDocument/2006/relationships/notesSlide" Target="/ppt/notesSlides/notesSlide13.xml" Id="Rd6e8b89b4b59431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2d5f24a5074c27" /><Relationship Type="http://schemas.openxmlformats.org/officeDocument/2006/relationships/notesSlide" Target="/ppt/notesSlides/notesSlide14.xml" Id="Re8d01cfd591847e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495f569c484f93" /><Relationship Type="http://schemas.openxmlformats.org/officeDocument/2006/relationships/notesSlide" Target="/ppt/notesSlides/notesSlide15.xml" Id="Raeb32575ad96417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618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1B2B84-CAA1-4E1F-AB5F-8519BF96F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19850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3A1DB"/>
                </a:solidFill>
                <a:latin typeface="Cairo"/>
                <a:ea typeface="Cairo"/>
                <a:cs typeface="Cairo"/>
              </a:defRPr>
            </a:pPr>
            <a:r>
              <a:rPr sz="1200" b="1">
                <a:solidFill>
                  <a:srgbClr val="63A1DB"/>
                </a:solidFill>
                <a:latin typeface="Cairo"/>
                <a:ea typeface="Cairo"/>
                <a:cs typeface="Cairo"/>
              </a:rPr>
              <a:t>tazdan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6BC480-557A-4402-B2BA-8073E378A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3A1DB"/>
                </a:solidFill>
                <a:latin typeface="Cairo"/>
                <a:ea typeface="Cairo"/>
                <a:cs typeface="Cairo"/>
              </a:defRPr>
            </a:pPr>
            <a:r>
              <a:rPr sz="1125" b="0">
                <a:solidFill>
                  <a:srgbClr val="63A1DB"/>
                </a:solidFill>
                <a:latin typeface="Cairo"/>
                <a:ea typeface="Cairo"/>
                <a:cs typeface="Cairo"/>
              </a:rPr>
              <a:t>01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7c651780684022"/>
          <a:stretch xmlns:a="http://schemas.openxmlformats.org/drawingml/2006/main"/>
        </p:blipFill>
        <p:spPr>
          <a:xfrm xmlns:a="http://schemas.openxmlformats.org/drawingml/2006/main">
            <a:off x="8620125" y="687761"/>
            <a:ext cx="2905125" cy="672353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1D2CC5-064B-48A5-8D87-10D2321BE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1057275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5475" b="1">
                <a:solidFill>
                  <a:srgbClr val="F5F6F8"/>
                </a:solidFill>
                <a:latin typeface="Cairo"/>
                <a:ea typeface="Cairo"/>
                <a:cs typeface="Cairo"/>
              </a:defRPr>
            </a:pPr>
            <a:r>
              <a:rPr sz="5475" b="1">
                <a:solidFill>
                  <a:srgbClr val="F5F6F8"/>
                </a:solidFill>
                <a:latin typeface="Cairo"/>
                <a:ea typeface="Cairo"/>
                <a:cs typeface="Cairo"/>
              </a:rPr>
              <a:t>ليبيا. كريبتو.</a:t>
            </a:r>
          </a:p>
          <a:p xmlns:a="http://schemas.openxmlformats.org/drawingml/2006/main">
            <a:pPr algn="r">
              <a:defRPr sz="5475" b="1">
                <a:solidFill>
                  <a:srgbClr val="F5F6F8"/>
                </a:solidFill>
                <a:latin typeface="Cairo"/>
                <a:ea typeface="Cairo"/>
                <a:cs typeface="Cairo"/>
              </a:defRPr>
            </a:pPr>
            <a:r>
              <a:rPr sz="5475" b="1">
                <a:solidFill>
                  <a:srgbClr val="F5F6F8"/>
                </a:solidFill>
                <a:latin typeface="Cairo"/>
                <a:ea typeface="Cairo"/>
                <a:cs typeface="Cairo"/>
              </a:rPr>
              <a:t>عالم أقرب.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DC72AC-F41F-4A16-AFD6-9E8F2BF05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05325"/>
            <a:ext cx="10001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250" b="0">
                <a:solidFill>
                  <a:srgbClr val="AEB9C7"/>
                </a:solidFill>
                <a:latin typeface="Cairo"/>
                <a:ea typeface="Cairo"/>
                <a:cs typeface="Cairo"/>
              </a:defRPr>
            </a:pPr>
            <a:r>
              <a:rPr sz="2250" b="0">
                <a:solidFill>
                  <a:srgbClr val="AEB9C7"/>
                </a:solidFill>
                <a:latin typeface="Cairo"/>
                <a:ea typeface="Cairo"/>
                <a:cs typeface="Cairo"/>
              </a:rPr>
              <a:t>جذور عربية. أصول رقمية. تحويلات دولية.</a:t>
            </a:r>
          </a:p>
          <a:p xmlns:a="http://schemas.openxmlformats.org/drawingml/2006/main">
            <a:pPr algn="r">
              <a:defRPr sz="2250" b="0">
                <a:solidFill>
                  <a:srgbClr val="AEB9C7"/>
                </a:solidFill>
                <a:latin typeface="Cairo"/>
                <a:ea typeface="Cairo"/>
                <a:cs typeface="Cairo"/>
              </a:defRPr>
            </a:pPr>
            <a:r>
              <a:rPr sz="2250" b="0">
                <a:solidFill>
                  <a:srgbClr val="AEB9C7"/>
                </a:solidFill>
                <a:latin typeface="Cairo"/>
                <a:ea typeface="Cairo"/>
                <a:cs typeface="Cairo"/>
              </a:rPr>
              <a:t>تجربة مالية واحدة تربطك بعالمك.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45A3DA-EBE1-47F8-AAFC-912A9637F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0">
                <a:solidFill>
                  <a:srgbClr val="63A1DB"/>
                </a:solidFill>
                <a:latin typeface="Cairo"/>
                <a:ea typeface="Cairo"/>
                <a:cs typeface="Cairo"/>
              </a:defRPr>
            </a:pPr>
            <a:r>
              <a:rPr sz="1575" b="0">
                <a:solidFill>
                  <a:srgbClr val="63A1DB"/>
                </a:solidFill>
                <a:latin typeface="Cairo"/>
                <a:ea typeface="Cairo"/>
                <a:cs typeface="Cairo"/>
              </a:rPr>
              <a:t>عرض استثماري  /  سبتمبر 2026  /  مرحلة ما قبل الإطلاق</a:t>
            </a:r>
          </a:p>
        </p:txBody>
      </p:sp>
    </p:spTree>
    <p:extLst>
      <p:ext uri="{BB962C8B-B14F-4D97-AF65-F5344CB8AC3E}">
        <p14:creationId xmlns:p14="http://schemas.microsoft.com/office/powerpoint/2010/main" val="405703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618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ACBC00-C2C9-4F94-92DE-C19941744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0896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3225" b="1">
                <a:solidFill>
                  <a:srgbClr val="F5F6F8"/>
                </a:solidFill>
                <a:latin typeface="Cairo"/>
                <a:ea typeface="Cairo"/>
                <a:cs typeface="Cairo"/>
              </a:defRPr>
            </a:pPr>
            <a:r>
              <a:rPr sz="3225" b="1">
                <a:solidFill>
                  <a:srgbClr val="F5F6F8"/>
                </a:solidFill>
                <a:latin typeface="Cairo"/>
                <a:ea typeface="Cairo"/>
                <a:cs typeface="Cairo"/>
              </a:rPr>
              <a:t>المال اليومي يحتاج تجربة أبسط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981C80-290E-4B5C-A61C-FADCBE96A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AEB9C7"/>
                </a:solidFill>
                <a:latin typeface="Cairo"/>
                <a:ea typeface="Cairo"/>
                <a:cs typeface="Cairo"/>
              </a:defRPr>
            </a:pPr>
            <a:r>
              <a:rPr sz="1650" b="0">
                <a:solidFill>
                  <a:srgbClr val="AEB9C7"/>
                </a:solidFill>
                <a:latin typeface="Cairo"/>
                <a:ea typeface="Cairo"/>
                <a:cs typeface="Cairo"/>
              </a:rPr>
              <a:t>فرضية نختبرها مع المستهلكين والتجار في ليبيا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837498-97EB-48C6-9A36-2E5855A3F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19850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3A1DB"/>
                </a:solidFill>
                <a:latin typeface="Cairo"/>
                <a:ea typeface="Cairo"/>
                <a:cs typeface="Cairo"/>
              </a:defRPr>
            </a:pPr>
            <a:r>
              <a:rPr sz="1200" b="1">
                <a:solidFill>
                  <a:srgbClr val="63A1DB"/>
                </a:solidFill>
                <a:latin typeface="Cairo"/>
                <a:ea typeface="Cairo"/>
                <a:cs typeface="Cairo"/>
              </a:rPr>
              <a:t>tazdan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DB0CBE-CF32-4E0F-9243-F20840142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3A1DB"/>
                </a:solidFill>
                <a:latin typeface="Cairo"/>
                <a:ea typeface="Cairo"/>
                <a:cs typeface="Cairo"/>
              </a:defRPr>
            </a:pPr>
            <a:r>
              <a:rPr sz="1125" b="0">
                <a:solidFill>
                  <a:srgbClr val="63A1DB"/>
                </a:solidFill>
                <a:latin typeface="Cairo"/>
                <a:ea typeface="Cairo"/>
                <a:cs typeface="Cairo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602C8D-A994-411A-B3F8-E75AA757B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400300"/>
            <a:ext cx="3000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63A1DB"/>
                </a:solidFill>
                <a:latin typeface="Cairo"/>
                <a:ea typeface="Cairo"/>
                <a:cs typeface="Cairo"/>
              </a:defRPr>
            </a:pPr>
            <a:r>
              <a:rPr sz="1875" b="1">
                <a:solidFill>
                  <a:srgbClr val="63A1DB"/>
                </a:solidFill>
                <a:latin typeface="Cairo"/>
                <a:ea typeface="Cairo"/>
                <a:cs typeface="Cairo"/>
              </a:rPr>
              <a:t>للأفراد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7811C1-A238-4A90-A5C8-C2C59D39E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0300"/>
            <a:ext cx="7334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875" b="0">
                <a:solidFill>
                  <a:srgbClr val="F5F6F8"/>
                </a:solidFill>
                <a:latin typeface="Cairo"/>
                <a:ea typeface="Cairo"/>
                <a:cs typeface="Cairo"/>
              </a:defRPr>
            </a:pPr>
            <a:r>
              <a:rPr sz="1875" b="0">
                <a:solidFill>
                  <a:srgbClr val="F5F6F8"/>
                </a:solidFill>
                <a:latin typeface="Cairo"/>
                <a:ea typeface="Cairo"/>
                <a:cs typeface="Cairo"/>
              </a:rPr>
              <a:t>المصروف اليومي، دعم العائلة، وأهداف الادخار؛ كلّها واضحة في تطبيق واحد.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84EDAE-A1D0-428D-B2DC-2A8885B04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762375"/>
            <a:ext cx="3000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63A1DB"/>
                </a:solidFill>
                <a:latin typeface="Cairo"/>
                <a:ea typeface="Cairo"/>
                <a:cs typeface="Cairo"/>
              </a:defRPr>
            </a:pPr>
            <a:r>
              <a:rPr sz="1875" b="1">
                <a:solidFill>
                  <a:srgbClr val="63A1DB"/>
                </a:solidFill>
                <a:latin typeface="Cairo"/>
                <a:ea typeface="Cairo"/>
                <a:cs typeface="Cairo"/>
              </a:rPr>
              <a:t>للتجار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3B1A32-4CBF-4BA7-B64B-836235E54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62375"/>
            <a:ext cx="7334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875" b="0">
                <a:solidFill>
                  <a:srgbClr val="F5F6F8"/>
                </a:solidFill>
                <a:latin typeface="Cairo"/>
                <a:ea typeface="Cairo"/>
                <a:cs typeface="Cairo"/>
              </a:defRPr>
            </a:pPr>
            <a:r>
              <a:rPr sz="1875" b="0">
                <a:solidFill>
                  <a:srgbClr val="F5F6F8"/>
                </a:solidFill>
                <a:latin typeface="Cairo"/>
                <a:ea typeface="Cairo"/>
                <a:cs typeface="Cairo"/>
              </a:rPr>
              <a:t>استلام المال هو البداية. تسوية واضحة وسجل مبيعات مفيد يصنعان الفرق.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1803CE-6769-4253-B799-AED5310F6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7687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950" b="0">
                <a:solidFill>
                  <a:srgbClr val="63A1DB"/>
                </a:solidFill>
                <a:latin typeface="Cairo"/>
                <a:ea typeface="Cairo"/>
                <a:cs typeface="Cairo"/>
              </a:defRPr>
            </a:pPr>
            <a:r>
              <a:rPr sz="1950" b="0">
                <a:solidFill>
                  <a:srgbClr val="63A1DB"/>
                </a:solidFill>
                <a:latin typeface="Cairo"/>
                <a:ea typeface="Cairo"/>
                <a:cs typeface="Cairo"/>
              </a:rPr>
              <a:t>أول خطوة للتحقق: مقابلة 100 مستهلك و30 تاجراً.</a:t>
            </a:r>
          </a:p>
        </p:txBody>
      </p:sp>
    </p:spTree>
    <p:extLst>
      <p:ext uri="{BB962C8B-B14F-4D97-AF65-F5344CB8AC3E}">
        <p14:creationId xmlns:p14="http://schemas.microsoft.com/office/powerpoint/2010/main" val="18491487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6105DF-0570-4E90-9B84-AE424B7A1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0896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3225" b="1">
                <a:solidFill>
                  <a:srgbClr val="192737"/>
                </a:solidFill>
                <a:latin typeface="Cairo"/>
                <a:ea typeface="Cairo"/>
                <a:cs typeface="Cairo"/>
              </a:defRPr>
            </a:pPr>
            <a:r>
              <a:rPr sz="3225" b="1">
                <a:solidFill>
                  <a:srgbClr val="192737"/>
                </a:solidFill>
                <a:latin typeface="Cairo"/>
                <a:ea typeface="Cairo"/>
                <a:cs typeface="Cairo"/>
              </a:rPr>
              <a:t>ليبيا تمتلك بالفعل بنية للدفع الرقمي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7791C0-AD34-42DD-A02F-111AC4C1B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586879"/>
                </a:solidFill>
                <a:latin typeface="Cairo"/>
                <a:ea typeface="Cairo"/>
                <a:cs typeface="Cairo"/>
              </a:defRPr>
            </a:pPr>
            <a:r>
              <a:rPr sz="1650" b="0">
                <a:solidFill>
                  <a:srgbClr val="586879"/>
                </a:solidFill>
                <a:latin typeface="Cairo"/>
                <a:ea typeface="Cairo"/>
                <a:cs typeface="Cairo"/>
              </a:rPr>
              <a:t>مؤشرات تاريخية من مصرف ليبيا المركزي حتى نوفمبر 2025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FBA407-4CB8-4345-B58A-44DCE1E7E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19850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3A1DB"/>
                </a:solidFill>
                <a:latin typeface="Cairo"/>
                <a:ea typeface="Cairo"/>
                <a:cs typeface="Cairo"/>
              </a:defRPr>
            </a:pPr>
            <a:r>
              <a:rPr sz="1200" b="1">
                <a:solidFill>
                  <a:srgbClr val="63A1DB"/>
                </a:solidFill>
                <a:latin typeface="Cairo"/>
                <a:ea typeface="Cairo"/>
                <a:cs typeface="Cairo"/>
              </a:rPr>
              <a:t>tazdan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D124F9-A360-4912-A735-0434FE656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3A1DB"/>
                </a:solidFill>
                <a:latin typeface="Cairo"/>
                <a:ea typeface="Cairo"/>
                <a:cs typeface="Cairo"/>
              </a:defRPr>
            </a:pPr>
            <a:r>
              <a:rPr sz="1125" b="0">
                <a:solidFill>
                  <a:srgbClr val="63A1DB"/>
                </a:solidFill>
                <a:latin typeface="Cairo"/>
                <a:ea typeface="Cairo"/>
                <a:cs typeface="Cairo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A28B55-63CE-455C-ABDB-1586106C6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333625"/>
            <a:ext cx="6000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5925" b="1">
                <a:solidFill>
                  <a:srgbClr val="192737"/>
                </a:solidFill>
                <a:latin typeface="Cairo"/>
                <a:ea typeface="Cairo"/>
                <a:cs typeface="Cairo"/>
              </a:defRPr>
            </a:pPr>
            <a:r>
              <a:rPr sz="5925" b="1">
                <a:solidFill>
                  <a:srgbClr val="192737"/>
                </a:solidFill>
                <a:latin typeface="Cairo"/>
                <a:ea typeface="Cairo"/>
                <a:cs typeface="Cairo"/>
              </a:rPr>
              <a:t>328.0 مليار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6B7185-3B9C-42D3-856E-D0AA416C4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571875"/>
            <a:ext cx="5857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0">
                <a:solidFill>
                  <a:srgbClr val="566778"/>
                </a:solidFill>
                <a:latin typeface="Cairo"/>
                <a:ea typeface="Cairo"/>
                <a:cs typeface="Cairo"/>
              </a:defRPr>
            </a:pPr>
            <a:r>
              <a:rPr sz="2100" b="0">
                <a:solidFill>
                  <a:srgbClr val="566778"/>
                </a:solidFill>
                <a:latin typeface="Cairo"/>
                <a:ea typeface="Cairo"/>
                <a:cs typeface="Cairo"/>
              </a:rPr>
              <a:t>دينار ليبي قيمة المدفوعات الإلكترونية</a:t>
            </a:r>
          </a:p>
          <a:p xmlns:a="http://schemas.openxmlformats.org/drawingml/2006/main">
            <a:pPr algn="r">
              <a:defRPr sz="2100" b="0">
                <a:solidFill>
                  <a:srgbClr val="566778"/>
                </a:solidFill>
                <a:latin typeface="Cairo"/>
                <a:ea typeface="Cairo"/>
                <a:cs typeface="Cairo"/>
              </a:defRPr>
            </a:pPr>
            <a:r>
              <a:rPr sz="2100" b="0">
                <a:solidFill>
                  <a:srgbClr val="566778"/>
                </a:solidFill>
                <a:latin typeface="Cairo"/>
                <a:ea typeface="Cairo"/>
                <a:cs typeface="Cairo"/>
              </a:rPr>
              <a:t>من يناير إلى نوفمبر 2025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9FEC30-8265-482B-8A98-A0CDA22A9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3476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4125" b="1">
                <a:solidFill>
                  <a:srgbClr val="63A1DB"/>
                </a:solidFill>
                <a:latin typeface="Cairo"/>
                <a:ea typeface="Cairo"/>
                <a:cs typeface="Cairo"/>
              </a:defRPr>
            </a:pPr>
            <a:r>
              <a:rPr sz="4125" b="1">
                <a:solidFill>
                  <a:srgbClr val="63A1DB"/>
                </a:solidFill>
                <a:latin typeface="Cairo"/>
                <a:ea typeface="Cairo"/>
                <a:cs typeface="Cairo"/>
              </a:rPr>
              <a:t>150,019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4005D4-9F32-40E9-963A-E7435EFE2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57550"/>
            <a:ext cx="347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875" b="0">
                <a:solidFill>
                  <a:srgbClr val="192737"/>
                </a:solidFill>
                <a:latin typeface="Cairo"/>
                <a:ea typeface="Cairo"/>
                <a:cs typeface="Cairo"/>
              </a:defRPr>
            </a:pPr>
            <a:r>
              <a:rPr sz="1875" b="0">
                <a:solidFill>
                  <a:srgbClr val="192737"/>
                </a:solidFill>
                <a:latin typeface="Cairo"/>
                <a:ea typeface="Cairo"/>
                <a:cs typeface="Cairo"/>
              </a:rPr>
              <a:t>جهاز نقطة بيع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43E964-9D4E-44DC-9EEC-762972470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0"/>
            <a:ext cx="3476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4125" b="1">
                <a:solidFill>
                  <a:srgbClr val="63A1DB"/>
                </a:solidFill>
                <a:latin typeface="Cairo"/>
                <a:ea typeface="Cairo"/>
                <a:cs typeface="Cairo"/>
              </a:defRPr>
            </a:pPr>
            <a:r>
              <a:rPr sz="4125" b="1">
                <a:solidFill>
                  <a:srgbClr val="63A1DB"/>
                </a:solidFill>
                <a:latin typeface="Cairo"/>
                <a:ea typeface="Cairo"/>
                <a:cs typeface="Cairo"/>
              </a:rPr>
              <a:t>183,435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5B7D5A-E1DA-4938-9AE6-A43732D8B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67300"/>
            <a:ext cx="347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875" b="0">
                <a:solidFill>
                  <a:srgbClr val="192737"/>
                </a:solidFill>
                <a:latin typeface="Cairo"/>
                <a:ea typeface="Cairo"/>
                <a:cs typeface="Cairo"/>
              </a:defRPr>
            </a:pPr>
            <a:r>
              <a:rPr sz="1875" b="0">
                <a:solidFill>
                  <a:srgbClr val="192737"/>
                </a:solidFill>
                <a:latin typeface="Cairo"/>
                <a:ea typeface="Cairo"/>
                <a:cs typeface="Cairo"/>
              </a:rPr>
              <a:t>محفظة إلكترونية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48EEEC-5F4D-4F65-829B-E618C3C8A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6740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0">
                <a:solidFill>
                  <a:srgbClr val="647283"/>
                </a:solidFill>
                <a:latin typeface="Cairo"/>
                <a:ea typeface="Cairo"/>
                <a:cs typeface="Cairo"/>
              </a:defRPr>
            </a:pPr>
            <a:r>
              <a:rPr sz="1575" b="0">
                <a:solidFill>
                  <a:srgbClr val="647283"/>
                </a:solidFill>
                <a:latin typeface="Cairo"/>
                <a:ea typeface="Cairo"/>
                <a:cs typeface="Cairo"/>
              </a:rPr>
              <a:t>مقاييس مختلفة؛ لا تُجمع كسوق واحدة ولا تمثل عدد مستخدمين فريدين.</a:t>
            </a:r>
          </a:p>
        </p:txBody>
      </p:sp>
    </p:spTree>
    <p:extLst>
      <p:ext uri="{BB962C8B-B14F-4D97-AF65-F5344CB8AC3E}">
        <p14:creationId xmlns:p14="http://schemas.microsoft.com/office/powerpoint/2010/main" val="6700724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618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E6C804-75E8-4392-9CFF-DEADDC9FF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0896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3225" b="1">
                <a:solidFill>
                  <a:srgbClr val="F5F6F8"/>
                </a:solidFill>
                <a:latin typeface="Cairo"/>
                <a:ea typeface="Cairo"/>
                <a:cs typeface="Cairo"/>
              </a:defRPr>
            </a:pPr>
            <a:r>
              <a:rPr sz="3225" b="1">
                <a:solidFill>
                  <a:srgbClr val="F5F6F8"/>
                </a:solidFill>
                <a:latin typeface="Cairo"/>
                <a:ea typeface="Cairo"/>
                <a:cs typeface="Cairo"/>
              </a:rPr>
              <a:t>الدينار والكريبتو، جنباً إلى جنب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A617F9-F2F8-43E3-8E50-4D195AA90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AEB9C7"/>
                </a:solidFill>
                <a:latin typeface="Cairo"/>
                <a:ea typeface="Cairo"/>
                <a:cs typeface="Cairo"/>
              </a:defRPr>
            </a:pPr>
            <a:r>
              <a:rPr sz="1650" b="0">
                <a:solidFill>
                  <a:srgbClr val="AEB9C7"/>
                </a:solidFill>
                <a:latin typeface="Cairo"/>
                <a:ea typeface="Cairo"/>
                <a:cs typeface="Cairo"/>
              </a:rPr>
              <a:t>تجربة تبدأ بالعربية وتربط الحياة في ليبيا بالعالم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2B3BCC-4BA1-4EF8-8F83-3FD50DFEC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19850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3A1DB"/>
                </a:solidFill>
                <a:latin typeface="Cairo"/>
                <a:ea typeface="Cairo"/>
                <a:cs typeface="Cairo"/>
              </a:defRPr>
            </a:pPr>
            <a:r>
              <a:rPr sz="1200" b="1">
                <a:solidFill>
                  <a:srgbClr val="63A1DB"/>
                </a:solidFill>
                <a:latin typeface="Cairo"/>
                <a:ea typeface="Cairo"/>
                <a:cs typeface="Cairo"/>
              </a:rPr>
              <a:t>tazdan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754BA9-97AB-4045-B645-B213E4D95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3A1DB"/>
                </a:solidFill>
                <a:latin typeface="Cairo"/>
                <a:ea typeface="Cairo"/>
                <a:cs typeface="Cairo"/>
              </a:defRPr>
            </a:pPr>
            <a:r>
              <a:rPr sz="1125" b="0">
                <a:solidFill>
                  <a:srgbClr val="63A1DB"/>
                </a:solidFill>
                <a:latin typeface="Cairo"/>
                <a:ea typeface="Cairo"/>
                <a:cs typeface="Cairo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391F0C-2404-46CC-8120-D3862F18F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333625"/>
            <a:ext cx="571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475" b="1">
                <a:solidFill>
                  <a:srgbClr val="63A1DB"/>
                </a:solidFill>
                <a:latin typeface="Cairo"/>
                <a:ea typeface="Cairo"/>
                <a:cs typeface="Cairo"/>
              </a:defRPr>
            </a:pPr>
            <a:r>
              <a:rPr sz="2475" b="1">
                <a:solidFill>
                  <a:srgbClr val="63A1DB"/>
                </a:solidFill>
                <a:latin typeface="Cairo"/>
                <a:ea typeface="Cairo"/>
                <a:cs typeface="Cairo"/>
              </a:rPr>
              <a:t>ادفع محلياً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7DCD5C-68FA-4943-A080-3B81E4553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057525"/>
            <a:ext cx="5810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0">
                <a:solidFill>
                  <a:srgbClr val="F5F6F8"/>
                </a:solidFill>
                <a:latin typeface="Cairo"/>
                <a:ea typeface="Cairo"/>
                <a:cs typeface="Cairo"/>
              </a:defRPr>
            </a:pPr>
            <a:r>
              <a:rPr sz="2100" b="0">
                <a:solidFill>
                  <a:srgbClr val="F5F6F8"/>
                </a:solidFill>
                <a:latin typeface="Cairo"/>
                <a:ea typeface="Cairo"/>
                <a:cs typeface="Cairo"/>
              </a:rPr>
              <a:t>محفظة بالدينار، إيصالات واضحة، ومدفوعات للأفراد والتجار.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9C58EF-7183-4F8D-A441-3192C6BB0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267200"/>
            <a:ext cx="581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475" b="1">
                <a:solidFill>
                  <a:srgbClr val="63A1DB"/>
                </a:solidFill>
                <a:latin typeface="Cairo"/>
                <a:ea typeface="Cairo"/>
                <a:cs typeface="Cairo"/>
              </a:defRPr>
            </a:pPr>
            <a:r>
              <a:rPr sz="2475" b="1">
                <a:solidFill>
                  <a:srgbClr val="63A1DB"/>
                </a:solidFill>
                <a:latin typeface="Cairo"/>
                <a:ea typeface="Cairo"/>
                <a:cs typeface="Cairo"/>
              </a:rPr>
              <a:t>تواصل عبر الحدود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038D7B-C5B6-42DB-8808-DA48E5CC4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981575"/>
            <a:ext cx="58578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0">
                <a:solidFill>
                  <a:srgbClr val="F5F6F8"/>
                </a:solidFill>
                <a:latin typeface="Cairo"/>
                <a:ea typeface="Cairo"/>
                <a:cs typeface="Cairo"/>
              </a:defRPr>
            </a:pPr>
            <a:r>
              <a:rPr sz="2025" b="0">
                <a:solidFill>
                  <a:srgbClr val="F5F6F8"/>
                </a:solidFill>
                <a:latin typeface="Cairo"/>
                <a:ea typeface="Cairo"/>
                <a:cs typeface="Cairo"/>
              </a:rPr>
              <a:t>أصول رقمية مدعومة، تحويلات للعائلة، وأموالك اليومية في تجربة مألوفة.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1b601bf4ea4c82"/>
          <a:stretch xmlns:a="http://schemas.openxmlformats.org/drawingml/2006/main"/>
        </p:blipFill>
        <p:spPr>
          <a:xfrm xmlns:a="http://schemas.openxmlformats.org/drawingml/2006/main">
            <a:off x="1889069" y="1857375"/>
            <a:ext cx="1889237" cy="40957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A1E816-FA31-4B2A-9CE3-1347D1A3C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048375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EB9C7"/>
                </a:solidFill>
                <a:latin typeface="Cairo"/>
                <a:ea typeface="Cairo"/>
                <a:cs typeface="Cairo"/>
              </a:defRPr>
            </a:pPr>
            <a:r>
              <a:rPr sz="1050" b="0">
                <a:solidFill>
                  <a:srgbClr val="AEB9C7"/>
                </a:solidFill>
                <a:latin typeface="Cairo"/>
                <a:ea typeface="Cairo"/>
                <a:cs typeface="Cairo"/>
              </a:rPr>
              <a:t>واجهة توضيحية؛ الأرصدة القديمة ليست عرضاً حياً.</a:t>
            </a:r>
          </a:p>
        </p:txBody>
      </p:sp>
    </p:spTree>
    <p:extLst>
      <p:ext uri="{BB962C8B-B14F-4D97-AF65-F5344CB8AC3E}">
        <p14:creationId xmlns:p14="http://schemas.microsoft.com/office/powerpoint/2010/main" val="8454635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8C1D78-67A8-40AB-8EA7-F0F76786B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0896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3225" b="1">
                <a:solidFill>
                  <a:srgbClr val="192737"/>
                </a:solidFill>
                <a:latin typeface="Cairo"/>
                <a:ea typeface="Cairo"/>
                <a:cs typeface="Cairo"/>
              </a:defRPr>
            </a:pPr>
            <a:r>
              <a:rPr sz="3225" b="1">
                <a:solidFill>
                  <a:srgbClr val="192737"/>
                </a:solidFill>
                <a:latin typeface="Cairo"/>
                <a:ea typeface="Cairo"/>
                <a:cs typeface="Cairo"/>
              </a:rPr>
              <a:t>رؤية واحدة، وتنفيذ على مراحل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74B936-5FF2-4D64-90E9-43589877A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19850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3A1DB"/>
                </a:solidFill>
                <a:latin typeface="Cairo"/>
                <a:ea typeface="Cairo"/>
                <a:cs typeface="Cairo"/>
              </a:defRPr>
            </a:pPr>
            <a:r>
              <a:rPr sz="1200" b="1">
                <a:solidFill>
                  <a:srgbClr val="63A1DB"/>
                </a:solidFill>
                <a:latin typeface="Cairo"/>
                <a:ea typeface="Cairo"/>
                <a:cs typeface="Cairo"/>
              </a:rPr>
              <a:t>tazdan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1E9DA7-DC58-4B62-BC9C-C2390E976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3A1DB"/>
                </a:solidFill>
                <a:latin typeface="Cairo"/>
                <a:ea typeface="Cairo"/>
                <a:cs typeface="Cairo"/>
              </a:defRPr>
            </a:pPr>
            <a:r>
              <a:rPr sz="1125" b="0">
                <a:solidFill>
                  <a:srgbClr val="63A1DB"/>
                </a:solidFill>
                <a:latin typeface="Cairo"/>
                <a:ea typeface="Cairo"/>
                <a:cs typeface="Cairo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F3FF75-FAD1-476F-BB6B-F7235E39F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190750"/>
            <a:ext cx="3000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192737"/>
                </a:solidFill>
                <a:latin typeface="Cairo"/>
                <a:ea typeface="Cairo"/>
                <a:cs typeface="Cairo"/>
              </a:defRPr>
            </a:pPr>
            <a:r>
              <a:rPr sz="1875" b="1">
                <a:solidFill>
                  <a:srgbClr val="192737"/>
                </a:solidFill>
                <a:latin typeface="Cairo"/>
                <a:ea typeface="Cairo"/>
                <a:cs typeface="Cairo"/>
              </a:rPr>
              <a:t>تجربة محلية محدودة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096F79-0881-4EC9-B2F6-C67399C0C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7334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875" b="0">
                <a:solidFill>
                  <a:srgbClr val="4B5B6C"/>
                </a:solidFill>
                <a:latin typeface="Cairo"/>
                <a:ea typeface="Cairo"/>
                <a:cs typeface="Cairo"/>
              </a:defRPr>
            </a:pPr>
            <a:r>
              <a:rPr sz="1875" b="0">
                <a:solidFill>
                  <a:srgbClr val="4B5B6C"/>
                </a:solidFill>
                <a:latin typeface="Cairo"/>
                <a:ea typeface="Cairo"/>
                <a:cs typeface="Cairo"/>
              </a:rPr>
              <a:t>عملاء موثّقون، محفظة بالدينار، مدفوعات للتجار، إيصالات ودعم.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ACDCCA-1BD2-4ADE-BCEF-1B374A38E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505200"/>
            <a:ext cx="3000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192737"/>
                </a:solidFill>
                <a:latin typeface="Cairo"/>
                <a:ea typeface="Cairo"/>
                <a:cs typeface="Cairo"/>
              </a:defRPr>
            </a:pPr>
            <a:r>
              <a:rPr sz="1875" b="1">
                <a:solidFill>
                  <a:srgbClr val="192737"/>
                </a:solidFill>
                <a:latin typeface="Cairo"/>
                <a:ea typeface="Cairo"/>
                <a:cs typeface="Cairo"/>
              </a:rPr>
              <a:t>توسّع محلي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455997-130E-4944-AD77-1E9A1AB89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05200"/>
            <a:ext cx="7334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875" b="0">
                <a:solidFill>
                  <a:srgbClr val="4B5B6C"/>
                </a:solidFill>
                <a:latin typeface="Cairo"/>
                <a:ea typeface="Cairo"/>
                <a:cs typeface="Cairo"/>
              </a:defRPr>
            </a:pPr>
            <a:r>
              <a:rPr sz="1875" b="0">
                <a:solidFill>
                  <a:srgbClr val="4B5B6C"/>
                </a:solidFill>
                <a:latin typeface="Cairo"/>
                <a:ea typeface="Cairo"/>
                <a:cs typeface="Cairo"/>
              </a:rPr>
              <a:t>روابط دفع ورموز QR، جيوب ادخار وتقارير أفضل بعد نجاح التجربة.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3F9A83-E35D-424F-817B-6C9684502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810125"/>
            <a:ext cx="3000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192737"/>
                </a:solidFill>
                <a:latin typeface="Cairo"/>
                <a:ea typeface="Cairo"/>
                <a:cs typeface="Cairo"/>
              </a:defRPr>
            </a:pPr>
            <a:r>
              <a:rPr sz="1875" b="1">
                <a:solidFill>
                  <a:srgbClr val="192737"/>
                </a:solidFill>
                <a:latin typeface="Cairo"/>
                <a:ea typeface="Cairo"/>
                <a:cs typeface="Cairo"/>
              </a:rPr>
              <a:t>كريبتو وتحويلات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8A75A4-BFE0-4A95-B2BB-F5CE18D84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10125"/>
            <a:ext cx="7334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875" b="0">
                <a:solidFill>
                  <a:srgbClr val="4B5B6C"/>
                </a:solidFill>
                <a:latin typeface="Cairo"/>
                <a:ea typeface="Cairo"/>
                <a:cs typeface="Cairo"/>
              </a:defRPr>
            </a:pPr>
            <a:r>
              <a:rPr sz="1875" b="0">
                <a:solidFill>
                  <a:srgbClr val="4B5B6C"/>
                </a:solidFill>
                <a:latin typeface="Cairo"/>
                <a:ea typeface="Cairo"/>
                <a:cs typeface="Cairo"/>
              </a:rPr>
              <a:t>أصول مدعومة وتحويلات دولية بعد استيفاء المتطلبات القانونية وموافقات الشركاء والممرات.</a:t>
            </a:r>
          </a:p>
        </p:txBody>
      </p:sp>
    </p:spTree>
    <p:extLst>
      <p:ext uri="{BB962C8B-B14F-4D97-AF65-F5344CB8AC3E}">
        <p14:creationId xmlns:p14="http://schemas.microsoft.com/office/powerpoint/2010/main" val="6273975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618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56D082-522D-4FC0-9184-6769DE600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0896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3225" b="1">
                <a:solidFill>
                  <a:srgbClr val="F5F6F8"/>
                </a:solidFill>
                <a:latin typeface="Cairo"/>
                <a:ea typeface="Cairo"/>
                <a:cs typeface="Cairo"/>
              </a:defRPr>
            </a:pPr>
            <a:r>
              <a:rPr sz="3225" b="1">
                <a:solidFill>
                  <a:srgbClr val="F5F6F8"/>
                </a:solidFill>
                <a:latin typeface="Cairo"/>
                <a:ea typeface="Cairo"/>
                <a:cs typeface="Cairo"/>
              </a:rPr>
              <a:t>الانتشار يبدأ بالاستخدام المحلي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80DCD7-B69B-4B52-BFA5-6EBD9118A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AEB9C7"/>
                </a:solidFill>
                <a:latin typeface="Cairo"/>
                <a:ea typeface="Cairo"/>
                <a:cs typeface="Cairo"/>
              </a:defRPr>
            </a:pPr>
            <a:r>
              <a:rPr sz="1650" b="0">
                <a:solidFill>
                  <a:srgbClr val="AEB9C7"/>
                </a:solidFill>
                <a:latin typeface="Cairo"/>
                <a:ea typeface="Cairo"/>
                <a:cs typeface="Cairo"/>
              </a:rPr>
              <a:t>طرابلس وبنغازي سوقان مقترحان للتجربة الأولى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314967-790C-49E4-A6EA-0F1649B2F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19850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3A1DB"/>
                </a:solidFill>
                <a:latin typeface="Cairo"/>
                <a:ea typeface="Cairo"/>
                <a:cs typeface="Cairo"/>
              </a:defRPr>
            </a:pPr>
            <a:r>
              <a:rPr sz="1200" b="1">
                <a:solidFill>
                  <a:srgbClr val="63A1DB"/>
                </a:solidFill>
                <a:latin typeface="Cairo"/>
                <a:ea typeface="Cairo"/>
                <a:cs typeface="Cairo"/>
              </a:rPr>
              <a:t>tazdan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F28D00-4DC9-4DE6-8088-E3285C8EE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3A1DB"/>
                </a:solidFill>
                <a:latin typeface="Cairo"/>
                <a:ea typeface="Cairo"/>
                <a:cs typeface="Cairo"/>
              </a:defRPr>
            </a:pPr>
            <a:r>
              <a:rPr sz="1125" b="0">
                <a:solidFill>
                  <a:srgbClr val="63A1DB"/>
                </a:solidFill>
                <a:latin typeface="Cairo"/>
                <a:ea typeface="Cairo"/>
                <a:cs typeface="Cairo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FC1D6D-46AB-4E37-8C70-E4C88001F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238375"/>
            <a:ext cx="3000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63A1DB"/>
                </a:solidFill>
                <a:latin typeface="Cairo"/>
                <a:ea typeface="Cairo"/>
                <a:cs typeface="Cairo"/>
              </a:defRPr>
            </a:pPr>
            <a:r>
              <a:rPr sz="1875" b="1">
                <a:solidFill>
                  <a:srgbClr val="63A1DB"/>
                </a:solidFill>
                <a:latin typeface="Cairo"/>
                <a:ea typeface="Cairo"/>
                <a:cs typeface="Cairo"/>
              </a:rPr>
              <a:t>تجمعات التجار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C6AE4E-C7D1-44EE-B13C-F00FB6430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7334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875" b="0">
                <a:solidFill>
                  <a:srgbClr val="F5F6F8"/>
                </a:solidFill>
                <a:latin typeface="Cairo"/>
                <a:ea typeface="Cairo"/>
                <a:cs typeface="Cairo"/>
              </a:defRPr>
            </a:pPr>
            <a:r>
              <a:rPr sz="1875" b="0">
                <a:solidFill>
                  <a:srgbClr val="F5F6F8"/>
                </a:solidFill>
                <a:latin typeface="Cairo"/>
                <a:ea typeface="Cairo"/>
                <a:cs typeface="Cairo"/>
              </a:rPr>
              <a:t>ابدأ بمتاجر الأحياء والمطاعم. درّب التجار وأثبت انتظام التسوية.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31CF8E-BD3E-4216-9962-313392E36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476625"/>
            <a:ext cx="3000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63A1DB"/>
                </a:solidFill>
                <a:latin typeface="Cairo"/>
                <a:ea typeface="Cairo"/>
                <a:cs typeface="Cairo"/>
              </a:defRPr>
            </a:pPr>
            <a:r>
              <a:rPr sz="1875" b="1">
                <a:solidFill>
                  <a:srgbClr val="63A1DB"/>
                </a:solidFill>
                <a:latin typeface="Cairo"/>
                <a:ea typeface="Cairo"/>
                <a:cs typeface="Cairo"/>
              </a:rPr>
              <a:t>العملاء اليوميون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18BD5E-8B56-448A-ACC4-78823C8FD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76625"/>
            <a:ext cx="7334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875" b="0">
                <a:solidFill>
                  <a:srgbClr val="F5F6F8"/>
                </a:solidFill>
                <a:latin typeface="Cairo"/>
                <a:ea typeface="Cairo"/>
                <a:cs typeface="Cairo"/>
              </a:defRPr>
            </a:pPr>
            <a:r>
              <a:rPr sz="1875" b="0">
                <a:solidFill>
                  <a:srgbClr val="F5F6F8"/>
                </a:solidFill>
                <a:latin typeface="Cairo"/>
                <a:ea typeface="Cairo"/>
                <a:cs typeface="Cairo"/>
              </a:rPr>
              <a:t>الوصول عبر جهات العمل والمجتمعات وإحالات التجار، مع التحقق من الهوية.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2CDE2A-7331-45F8-BBDC-A40BE2F7E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762500"/>
            <a:ext cx="3000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63A1DB"/>
                </a:solidFill>
                <a:latin typeface="Cairo"/>
                <a:ea typeface="Cairo"/>
                <a:cs typeface="Cairo"/>
              </a:defRPr>
            </a:pPr>
            <a:r>
              <a:rPr sz="1875" b="1">
                <a:solidFill>
                  <a:srgbClr val="63A1DB"/>
                </a:solidFill>
                <a:latin typeface="Cairo"/>
                <a:ea typeface="Cairo"/>
                <a:cs typeface="Cairo"/>
              </a:rPr>
              <a:t>الدليل قبل التوسّع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3F1A95-6602-4C5A-88E9-D2DF2F767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7334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875" b="0">
                <a:solidFill>
                  <a:srgbClr val="F5F6F8"/>
                </a:solidFill>
                <a:latin typeface="Cairo"/>
                <a:ea typeface="Cairo"/>
                <a:cs typeface="Cairo"/>
              </a:defRPr>
            </a:pPr>
            <a:r>
              <a:rPr sz="1875" b="0">
                <a:solidFill>
                  <a:srgbClr val="F5F6F8"/>
                </a:solidFill>
                <a:latin typeface="Cairo"/>
                <a:ea typeface="Cairo"/>
                <a:cs typeface="Cairo"/>
              </a:rPr>
              <a:t>هدف تجريبي: من 1,000 إلى 2,000 عميل نشط، ومن 50 إلى 100 تاجر نشط.</a:t>
            </a:r>
          </a:p>
        </p:txBody>
      </p:sp>
    </p:spTree>
    <p:extLst>
      <p:ext uri="{BB962C8B-B14F-4D97-AF65-F5344CB8AC3E}">
        <p14:creationId xmlns:p14="http://schemas.microsoft.com/office/powerpoint/2010/main" val="100200731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3C7772-2F46-45F1-A72D-77EA167C9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0896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3225" b="1">
                <a:solidFill>
                  <a:srgbClr val="192737"/>
                </a:solidFill>
                <a:latin typeface="Cairo"/>
                <a:ea typeface="Cairo"/>
                <a:cs typeface="Cairo"/>
              </a:defRPr>
            </a:pPr>
            <a:r>
              <a:rPr sz="3225" b="1">
                <a:solidFill>
                  <a:srgbClr val="192737"/>
                </a:solidFill>
                <a:latin typeface="Cairo"/>
                <a:ea typeface="Cairo"/>
                <a:cs typeface="Cairo"/>
              </a:rPr>
              <a:t>تسعير مقترح وواضح بالدينار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9BA33E-D122-44F0-9564-6B6AAC5D4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586879"/>
                </a:solidFill>
                <a:latin typeface="Cairo"/>
                <a:ea typeface="Cairo"/>
                <a:cs typeface="Cairo"/>
              </a:defRPr>
            </a:pPr>
            <a:r>
              <a:rPr sz="1650" b="0">
                <a:solidFill>
                  <a:srgbClr val="586879"/>
                </a:solidFill>
                <a:latin typeface="Cairo"/>
                <a:ea typeface="Cairo"/>
                <a:cs typeface="Cairo"/>
              </a:rPr>
              <a:t>الاشتراكات منفصلة عن رسوم المعالجة والخدمات الأخرى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B9D3AE-E880-4D7F-8D48-DFEDC2687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19850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3A1DB"/>
                </a:solidFill>
                <a:latin typeface="Cairo"/>
                <a:ea typeface="Cairo"/>
                <a:cs typeface="Cairo"/>
              </a:defRPr>
            </a:pPr>
            <a:r>
              <a:rPr sz="1200" b="1">
                <a:solidFill>
                  <a:srgbClr val="63A1DB"/>
                </a:solidFill>
                <a:latin typeface="Cairo"/>
                <a:ea typeface="Cairo"/>
                <a:cs typeface="Cairo"/>
              </a:rPr>
              <a:t>tazdan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09D25C-D3DD-49D4-BE91-B97690B5B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3A1DB"/>
                </a:solidFill>
                <a:latin typeface="Cairo"/>
                <a:ea typeface="Cairo"/>
                <a:cs typeface="Cairo"/>
              </a:defRPr>
            </a:pPr>
            <a:r>
              <a:rPr sz="1125" b="0">
                <a:solidFill>
                  <a:srgbClr val="63A1DB"/>
                </a:solidFill>
                <a:latin typeface="Cairo"/>
                <a:ea typeface="Cairo"/>
                <a:cs typeface="Cairo"/>
              </a:rPr>
              <a:t>07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66750" y="2333625"/>
          <a:ext xmlns:a="http://schemas.openxmlformats.org/drawingml/2006/main" cx="10858500" cy="2095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286500"/>
                <a:gridCol w="2190750"/>
                <a:gridCol w="2381250"/>
              </a:tblGrid>
              <a:tr h="523875">
                <a:tc>
                  <a:txBody>
                    <a:bodyPr/>
                    <a:lstStyle/>
                    <a:p>
                      <a:pPr algn="r"/>
                      <a:r>
                        <a:rPr sz="1875" b="1">
                          <a:solidFill>
                            <a:srgbClr val="192737"/>
                          </a:solidFill>
                          <a:latin typeface="Cairo"/>
                          <a:ea typeface="Cairo"/>
                          <a:cs typeface="Cairo"/>
                        </a:rPr>
                        <a:t>الغرض</a:t>
                      </a:r>
                    </a:p>
                  </a:txBody>
                  <a:tcPr marL="152400" marR="152400" marT="76200" marB="76200">
                    <a:solidFill>
                      <a:srgbClr val="E4ED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75" b="1">
                          <a:solidFill>
                            <a:srgbClr val="192737"/>
                          </a:solidFill>
                          <a:latin typeface="Cairo"/>
                          <a:ea typeface="Cairo"/>
                          <a:cs typeface="Cairo"/>
                        </a:rPr>
                        <a:t>شهرياً بالدينار</a:t>
                      </a:r>
                    </a:p>
                  </a:txBody>
                  <a:tcPr marL="152400" marR="152400" marT="76200" marB="76200">
                    <a:solidFill>
                      <a:srgbClr val="E4ED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75" b="1">
                          <a:solidFill>
                            <a:srgbClr val="192737"/>
                          </a:solidFill>
                          <a:latin typeface="Cairo"/>
                          <a:ea typeface="Cairo"/>
                          <a:cs typeface="Cairo"/>
                        </a:rPr>
                        <a:t>الباقة</a:t>
                      </a:r>
                    </a:p>
                  </a:txBody>
                  <a:tcPr marL="152400" marR="152400" marT="76200" marB="76200">
                    <a:solidFill>
                      <a:srgbClr val="E4EDF6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r"/>
                      <a:r>
                        <a:rPr sz="1875">
                          <a:solidFill>
                            <a:srgbClr val="192737"/>
                          </a:solidFill>
                          <a:latin typeface="Cairo"/>
                          <a:ea typeface="Cairo"/>
                          <a:cs typeface="Cairo"/>
                        </a:rPr>
                        <a:t>المحفظة والمدفوعات المحلية</a:t>
                      </a:r>
                    </a:p>
                  </a:txBody>
                  <a:tcPr marL="152400" marR="1524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75">
                          <a:solidFill>
                            <a:srgbClr val="192737"/>
                          </a:solidFill>
                          <a:latin typeface="Cairo"/>
                          <a:ea typeface="Cairo"/>
                          <a:cs typeface="Cairo"/>
                        </a:rPr>
                        <a:t>0</a:t>
                      </a:r>
                    </a:p>
                  </a:txBody>
                  <a:tcPr marL="152400" marR="1524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75">
                          <a:solidFill>
                            <a:srgbClr val="192737"/>
                          </a:solidFill>
                          <a:latin typeface="Cairo"/>
                          <a:ea typeface="Cairo"/>
                          <a:cs typeface="Cairo"/>
                        </a:rPr>
                        <a:t>اليومية</a:t>
                      </a:r>
                    </a:p>
                  </a:txBody>
                  <a:tcPr marL="152400" marR="152400" marT="76200" marB="76200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r"/>
                      <a:r>
                        <a:rPr sz="1875">
                          <a:solidFill>
                            <a:srgbClr val="192737"/>
                          </a:solidFill>
                          <a:latin typeface="Cairo"/>
                          <a:ea typeface="Cairo"/>
                          <a:cs typeface="Cairo"/>
                        </a:rPr>
                        <a:t>جيوب ادخار ودعم بالأولوية</a:t>
                      </a:r>
                    </a:p>
                  </a:txBody>
                  <a:tcPr marL="152400" marR="1524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75">
                          <a:solidFill>
                            <a:srgbClr val="192737"/>
                          </a:solidFill>
                          <a:latin typeface="Cairo"/>
                          <a:ea typeface="Cairo"/>
                          <a:cs typeface="Cairo"/>
                        </a:rPr>
                        <a:t>15</a:t>
                      </a:r>
                    </a:p>
                  </a:txBody>
                  <a:tcPr marL="152400" marR="1524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75">
                          <a:solidFill>
                            <a:srgbClr val="192737"/>
                          </a:solidFill>
                          <a:latin typeface="Cairo"/>
                          <a:ea typeface="Cairo"/>
                          <a:cs typeface="Cairo"/>
                        </a:rPr>
                        <a:t>بلس</a:t>
                      </a:r>
                    </a:p>
                  </a:txBody>
                  <a:tcPr marL="152400" marR="152400" marT="76200" marB="76200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r"/>
                      <a:r>
                        <a:rPr sz="1875">
                          <a:solidFill>
                            <a:srgbClr val="192737"/>
                          </a:solidFill>
                          <a:latin typeface="Cairo"/>
                          <a:ea typeface="Cairo"/>
                          <a:cs typeface="Cairo"/>
                        </a:rPr>
                        <a:t>طلبات دفع وتقارير للتجار</a:t>
                      </a:r>
                    </a:p>
                  </a:txBody>
                  <a:tcPr marL="152400" marR="1524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75">
                          <a:solidFill>
                            <a:srgbClr val="192737"/>
                          </a:solidFill>
                          <a:latin typeface="Cairo"/>
                          <a:ea typeface="Cairo"/>
                          <a:cs typeface="Cairo"/>
                        </a:rPr>
                        <a:t>49</a:t>
                      </a:r>
                    </a:p>
                  </a:txBody>
                  <a:tcPr marL="152400" marR="1524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75">
                          <a:solidFill>
                            <a:srgbClr val="192737"/>
                          </a:solidFill>
                          <a:latin typeface="Cairo"/>
                          <a:ea typeface="Cairo"/>
                          <a:cs typeface="Cairo"/>
                        </a:rPr>
                        <a:t>الأعمال</a:t>
                      </a:r>
                    </a:p>
                  </a:txBody>
                  <a:tcPr marL="152400" marR="152400" marT="76200" marB="762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27E44D-6D9F-4C91-A17C-E1E57EBDC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6732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875" b="0">
                <a:solidFill>
                  <a:srgbClr val="586879"/>
                </a:solidFill>
                <a:latin typeface="Cairo"/>
                <a:ea typeface="Cairo"/>
                <a:cs typeface="Cairo"/>
              </a:defRPr>
            </a:pPr>
            <a:r>
              <a:rPr sz="1875" b="0">
                <a:solidFill>
                  <a:srgbClr val="586879"/>
                </a:solidFill>
                <a:latin typeface="Cairo"/>
                <a:ea typeface="Cairo"/>
                <a:cs typeface="Cairo"/>
              </a:rPr>
              <a:t>أسعار مقترحة للإطلاق. الرسوم والحدود والأهلية تحتاج تأكيداً.</a:t>
            </a:r>
          </a:p>
        </p:txBody>
      </p:sp>
    </p:spTree>
    <p:extLst>
      <p:ext uri="{BB962C8B-B14F-4D97-AF65-F5344CB8AC3E}">
        <p14:creationId xmlns:p14="http://schemas.microsoft.com/office/powerpoint/2010/main" val="124873264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618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33326C-286D-4E88-BAF7-789D21BB7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0896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3225" b="1">
                <a:solidFill>
                  <a:srgbClr val="F5F6F8"/>
                </a:solidFill>
                <a:latin typeface="Cairo"/>
                <a:ea typeface="Cairo"/>
                <a:cs typeface="Cairo"/>
              </a:defRPr>
            </a:pPr>
            <a:r>
              <a:rPr sz="3225" b="1">
                <a:solidFill>
                  <a:srgbClr val="F5F6F8"/>
                </a:solidFill>
                <a:latin typeface="Cairo"/>
                <a:ea typeface="Cairo"/>
                <a:cs typeface="Cairo"/>
              </a:rPr>
              <a:t>المسار التنظيمي هو البوابة الأولى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9C5DD6-ECEF-4116-9099-83629E2B5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AEB9C7"/>
                </a:solidFill>
                <a:latin typeface="Cairo"/>
                <a:ea typeface="Cairo"/>
                <a:cs typeface="Cairo"/>
              </a:defRPr>
            </a:pPr>
            <a:r>
              <a:rPr sz="1650" b="0">
                <a:solidFill>
                  <a:srgbClr val="AEB9C7"/>
                </a:solidFill>
                <a:latin typeface="Cairo"/>
                <a:ea typeface="Cairo"/>
                <a:cs typeface="Cairo"/>
              </a:rPr>
              <a:t>الشريك المرخّص جزء من المسار، ولا يغني وحده عن موافقات المشروع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2ADF42-32FC-4CD7-BB93-F39D86E19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19850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3A1DB"/>
                </a:solidFill>
                <a:latin typeface="Cairo"/>
                <a:ea typeface="Cairo"/>
                <a:cs typeface="Cairo"/>
              </a:defRPr>
            </a:pPr>
            <a:r>
              <a:rPr sz="1200" b="1">
                <a:solidFill>
                  <a:srgbClr val="63A1DB"/>
                </a:solidFill>
                <a:latin typeface="Cairo"/>
                <a:ea typeface="Cairo"/>
                <a:cs typeface="Cairo"/>
              </a:rPr>
              <a:t>tazdan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4B6C19-D39C-40AF-87C0-A9B653C8F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3A1DB"/>
                </a:solidFill>
                <a:latin typeface="Cairo"/>
                <a:ea typeface="Cairo"/>
                <a:cs typeface="Cairo"/>
              </a:defRPr>
            </a:pPr>
            <a:r>
              <a:rPr sz="1125" b="0">
                <a:solidFill>
                  <a:srgbClr val="63A1DB"/>
                </a:solidFill>
                <a:latin typeface="Cairo"/>
                <a:ea typeface="Cairo"/>
                <a:cs typeface="Cairo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1F0378-CEC5-4B7A-B361-77C8F1D7B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238375"/>
            <a:ext cx="3000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63A1DB"/>
                </a:solidFill>
                <a:latin typeface="Cairo"/>
                <a:ea typeface="Cairo"/>
                <a:cs typeface="Cairo"/>
              </a:defRPr>
            </a:pPr>
            <a:r>
              <a:rPr sz="1875" b="1">
                <a:solidFill>
                  <a:srgbClr val="63A1DB"/>
                </a:solidFill>
                <a:latin typeface="Cairo"/>
                <a:ea typeface="Cairo"/>
                <a:cs typeface="Cairo"/>
              </a:rPr>
              <a:t>قبل أموال العملاء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3C9B02-0C48-4E1D-8ED1-B89D8BB9F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7334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875" b="0">
                <a:solidFill>
                  <a:srgbClr val="F5F6F8"/>
                </a:solidFill>
                <a:latin typeface="Cairo"/>
                <a:ea typeface="Cairo"/>
                <a:cs typeface="Cairo"/>
              </a:defRPr>
            </a:pPr>
            <a:r>
              <a:rPr sz="1875" b="0">
                <a:solidFill>
                  <a:srgbClr val="F5F6F8"/>
                </a:solidFill>
                <a:latin typeface="Cairo"/>
                <a:ea typeface="Cairo"/>
                <a:cs typeface="Cairo"/>
              </a:rPr>
              <a:t>تأكيد نطاق الترخيص، حماية الأموال، حسابات التسوية وشروط العملاء.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78F67A-452F-4420-A88C-78F4F1E64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476625"/>
            <a:ext cx="3000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63A1DB"/>
                </a:solidFill>
                <a:latin typeface="Cairo"/>
                <a:ea typeface="Cairo"/>
                <a:cs typeface="Cairo"/>
              </a:defRPr>
            </a:pPr>
            <a:r>
              <a:rPr sz="1875" b="1">
                <a:solidFill>
                  <a:srgbClr val="63A1DB"/>
                </a:solidFill>
                <a:latin typeface="Cairo"/>
                <a:ea typeface="Cairo"/>
                <a:cs typeface="Cairo"/>
              </a:rPr>
              <a:t>قبل الإطلاق العام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FDCE37-AB87-4CDD-8097-8EE987C43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76625"/>
            <a:ext cx="7334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875" b="0">
                <a:solidFill>
                  <a:srgbClr val="F5F6F8"/>
                </a:solidFill>
                <a:latin typeface="Cairo"/>
                <a:ea typeface="Cairo"/>
                <a:cs typeface="Cairo"/>
              </a:defRPr>
            </a:pPr>
            <a:r>
              <a:rPr sz="1875" b="0">
                <a:solidFill>
                  <a:srgbClr val="F5F6F8"/>
                </a:solidFill>
                <a:latin typeface="Cairo"/>
                <a:ea typeface="Cairo"/>
                <a:cs typeface="Cairo"/>
              </a:rPr>
              <a:t>اعتماد التحقق من الهوية، مراقبة العمليات، الشكاوى والفحص الأمني المستقل.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F92114-FED1-4968-B355-530D0E046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714875"/>
            <a:ext cx="3000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63A1DB"/>
                </a:solidFill>
                <a:latin typeface="Cairo"/>
                <a:ea typeface="Cairo"/>
                <a:cs typeface="Cairo"/>
              </a:defRPr>
            </a:pPr>
            <a:r>
              <a:rPr sz="1875" b="1">
                <a:solidFill>
                  <a:srgbClr val="63A1DB"/>
                </a:solidFill>
                <a:latin typeface="Cairo"/>
                <a:ea typeface="Cairo"/>
                <a:cs typeface="Cairo"/>
              </a:rPr>
              <a:t>قبل الوصول الدولي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FB6A49-8C01-43D5-B868-A0DC10BF7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14875"/>
            <a:ext cx="7334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875" b="0">
                <a:solidFill>
                  <a:srgbClr val="F5F6F8"/>
                </a:solidFill>
                <a:latin typeface="Cairo"/>
                <a:ea typeface="Cairo"/>
                <a:cs typeface="Cairo"/>
              </a:defRPr>
            </a:pPr>
            <a:r>
              <a:rPr sz="1875" b="0">
                <a:solidFill>
                  <a:srgbClr val="F5F6F8"/>
                </a:solidFill>
                <a:latin typeface="Cairo"/>
                <a:ea typeface="Cairo"/>
                <a:cs typeface="Cairo"/>
              </a:rPr>
              <a:t>تأكيد أهلية المُصدر ومتطلبات الصرف وكل ممر تحويل مدعوم.</a:t>
            </a:r>
          </a:p>
        </p:txBody>
      </p:sp>
    </p:spTree>
    <p:extLst>
      <p:ext uri="{BB962C8B-B14F-4D97-AF65-F5344CB8AC3E}">
        <p14:creationId xmlns:p14="http://schemas.microsoft.com/office/powerpoint/2010/main" val="194689793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83F7BD-46FC-47BE-B99F-8DB4E7E0D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0896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3225" b="1">
                <a:solidFill>
                  <a:srgbClr val="192737"/>
                </a:solidFill>
                <a:latin typeface="Cairo"/>
                <a:ea typeface="Cairo"/>
                <a:cs typeface="Cairo"/>
              </a:defRPr>
            </a:pPr>
            <a:r>
              <a:rPr sz="3225" b="1">
                <a:solidFill>
                  <a:srgbClr val="192737"/>
                </a:solidFill>
                <a:latin typeface="Cairo"/>
                <a:ea typeface="Cairo"/>
                <a:cs typeface="Cairo"/>
              </a:rPr>
              <a:t>ميزانية حذرة لمدة 24 شهراً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1BC4ED-7B80-484E-A3F8-6F5C2FA27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586879"/>
                </a:solidFill>
                <a:latin typeface="Cairo"/>
                <a:ea typeface="Cairo"/>
                <a:cs typeface="Cairo"/>
              </a:defRPr>
            </a:pPr>
            <a:r>
              <a:rPr sz="1650" b="0">
                <a:solidFill>
                  <a:srgbClr val="586879"/>
                </a:solidFill>
                <a:latin typeface="Cairo"/>
                <a:ea typeface="Cairo"/>
                <a:cs typeface="Cairo"/>
              </a:rPr>
              <a:t>الإنفاق الثابت بمليون دينار. تقديرات تخطيطية وليست عروض موردين.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8701E0-7D84-4C26-B1AD-3597ADE6B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19850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3A1DB"/>
                </a:solidFill>
                <a:latin typeface="Cairo"/>
                <a:ea typeface="Cairo"/>
                <a:cs typeface="Cairo"/>
              </a:defRPr>
            </a:pPr>
            <a:r>
              <a:rPr sz="1200" b="1">
                <a:solidFill>
                  <a:srgbClr val="63A1DB"/>
                </a:solidFill>
                <a:latin typeface="Cairo"/>
                <a:ea typeface="Cairo"/>
                <a:cs typeface="Cairo"/>
              </a:rPr>
              <a:t>tazdan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6C0598-3F26-42B6-AEEC-BA1269EA6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3A1DB"/>
                </a:solidFill>
                <a:latin typeface="Cairo"/>
                <a:ea typeface="Cairo"/>
                <a:cs typeface="Cairo"/>
              </a:defRPr>
            </a:pPr>
            <a:r>
              <a:rPr sz="1125" b="0">
                <a:solidFill>
                  <a:srgbClr val="63A1DB"/>
                </a:solidFill>
                <a:latin typeface="Cairo"/>
                <a:ea typeface="Cairo"/>
                <a:cs typeface="Cairo"/>
              </a:rPr>
              <a:t>09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66750" y="2190750"/>
          <a:ext xmlns:a="http://schemas.openxmlformats.org/drawingml/2006/main" cx="108585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8382000"/>
              </a:tblGrid>
              <a:tr h="523875">
                <a:tc>
                  <a:txBody>
                    <a:bodyPr/>
                    <a:lstStyle/>
                    <a:p>
                      <a:pPr algn="r"/>
                      <a:r>
                        <a:rPr sz="1875" b="1">
                          <a:solidFill>
                            <a:srgbClr val="192737"/>
                          </a:solidFill>
                          <a:latin typeface="Cairo"/>
                          <a:ea typeface="Cairo"/>
                          <a:cs typeface="Cairo"/>
                        </a:rPr>
                        <a:t>مليون دينار</a:t>
                      </a:r>
                    </a:p>
                  </a:txBody>
                  <a:tcPr marL="152400" marR="152400" marT="76200" marB="76200">
                    <a:solidFill>
                      <a:srgbClr val="E4ED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75" b="1">
                          <a:solidFill>
                            <a:srgbClr val="192737"/>
                          </a:solidFill>
                          <a:latin typeface="Cairo"/>
                          <a:ea typeface="Cairo"/>
                          <a:cs typeface="Cairo"/>
                        </a:rPr>
                        <a:t>مجال الإنفاق</a:t>
                      </a:r>
                    </a:p>
                  </a:txBody>
                  <a:tcPr marL="152400" marR="152400" marT="76200" marB="76200">
                    <a:solidFill>
                      <a:srgbClr val="E4EDF6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r"/>
                      <a:r>
                        <a:rPr sz="1875">
                          <a:solidFill>
                            <a:srgbClr val="192737"/>
                          </a:solidFill>
                          <a:latin typeface="Cairo"/>
                          <a:ea typeface="Cairo"/>
                          <a:cs typeface="Cairo"/>
                        </a:rPr>
                        <a:t>3.60</a:t>
                      </a:r>
                    </a:p>
                  </a:txBody>
                  <a:tcPr marL="152400" marR="1524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75">
                          <a:solidFill>
                            <a:srgbClr val="192737"/>
                          </a:solidFill>
                          <a:latin typeface="Cairo"/>
                          <a:ea typeface="Cairo"/>
                          <a:cs typeface="Cairo"/>
                        </a:rPr>
                        <a:t>الهندسة وتطوير المنتج</a:t>
                      </a:r>
                    </a:p>
                  </a:txBody>
                  <a:tcPr marL="152400" marR="152400" marT="76200" marB="76200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r"/>
                      <a:r>
                        <a:rPr sz="1875">
                          <a:solidFill>
                            <a:srgbClr val="192737"/>
                          </a:solidFill>
                          <a:latin typeface="Cairo"/>
                          <a:ea typeface="Cairo"/>
                          <a:cs typeface="Cairo"/>
                        </a:rPr>
                        <a:t>4.80</a:t>
                      </a:r>
                    </a:p>
                  </a:txBody>
                  <a:tcPr marL="152400" marR="1524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75">
                          <a:solidFill>
                            <a:srgbClr val="192737"/>
                          </a:solidFill>
                          <a:latin typeface="Cairo"/>
                          <a:ea typeface="Cairo"/>
                          <a:cs typeface="Cairo"/>
                        </a:rPr>
                        <a:t>فريق التشغيل والامتثال</a:t>
                      </a:r>
                    </a:p>
                  </a:txBody>
                  <a:tcPr marL="152400" marR="152400" marT="76200" marB="76200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r"/>
                      <a:r>
                        <a:rPr sz="1875">
                          <a:solidFill>
                            <a:srgbClr val="192737"/>
                          </a:solidFill>
                          <a:latin typeface="Cairo"/>
                          <a:ea typeface="Cairo"/>
                          <a:cs typeface="Cairo"/>
                        </a:rPr>
                        <a:t>3.30</a:t>
                      </a:r>
                    </a:p>
                  </a:txBody>
                  <a:tcPr marL="152400" marR="1524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75">
                          <a:solidFill>
                            <a:srgbClr val="192737"/>
                          </a:solidFill>
                          <a:latin typeface="Cairo"/>
                          <a:ea typeface="Cairo"/>
                          <a:cs typeface="Cairo"/>
                        </a:rPr>
                        <a:t>القانون والأمن وتجهيز الشركاء</a:t>
                      </a:r>
                    </a:p>
                  </a:txBody>
                  <a:tcPr marL="152400" marR="152400" marT="76200" marB="76200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r"/>
                      <a:r>
                        <a:rPr sz="1875">
                          <a:solidFill>
                            <a:srgbClr val="192737"/>
                          </a:solidFill>
                          <a:latin typeface="Cairo"/>
                          <a:ea typeface="Cairo"/>
                          <a:cs typeface="Cairo"/>
                        </a:rPr>
                        <a:t>3.30</a:t>
                      </a:r>
                    </a:p>
                  </a:txBody>
                  <a:tcPr marL="152400" marR="1524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75">
                          <a:solidFill>
                            <a:srgbClr val="192737"/>
                          </a:solidFill>
                          <a:latin typeface="Cairo"/>
                          <a:ea typeface="Cairo"/>
                          <a:cs typeface="Cairo"/>
                        </a:rPr>
                        <a:t>السحابة والنمو والإدارة</a:t>
                      </a:r>
                    </a:p>
                  </a:txBody>
                  <a:tcPr marL="152400" marR="152400" marT="76200" marB="76200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r"/>
                      <a:r>
                        <a:rPr sz="1875">
                          <a:solidFill>
                            <a:srgbClr val="192737"/>
                          </a:solidFill>
                          <a:latin typeface="Cairo"/>
                          <a:ea typeface="Cairo"/>
                          <a:cs typeface="Cairo"/>
                        </a:rPr>
                        <a:t>15.00</a:t>
                      </a:r>
                    </a:p>
                  </a:txBody>
                  <a:tcPr marL="152400" marR="1524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75">
                          <a:solidFill>
                            <a:srgbClr val="192737"/>
                          </a:solidFill>
                          <a:latin typeface="Cairo"/>
                          <a:ea typeface="Cairo"/>
                          <a:cs typeface="Cairo"/>
                        </a:rPr>
                        <a:t>إجمالي الإنفاق الثابت</a:t>
                      </a:r>
                    </a:p>
                  </a:txBody>
                  <a:tcPr marL="152400" marR="152400" marT="76200" marB="762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547133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618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539835-3E7C-45E4-908D-D4A6E6CFF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0896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3225" b="1">
                <a:solidFill>
                  <a:srgbClr val="F5F6F8"/>
                </a:solidFill>
                <a:latin typeface="Cairo"/>
                <a:ea typeface="Cairo"/>
                <a:cs typeface="Cairo"/>
              </a:defRPr>
            </a:pPr>
            <a:r>
              <a:rPr sz="3225" b="1">
                <a:solidFill>
                  <a:srgbClr val="F5F6F8"/>
                </a:solidFill>
                <a:latin typeface="Cairo"/>
                <a:ea typeface="Cairo"/>
                <a:cs typeface="Cairo"/>
              </a:rPr>
              <a:t>غلاف تمويلي أساسي: 30 مليون دينار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91B43A-884B-4058-A8B6-FA3F2176F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AEB9C7"/>
                </a:solidFill>
                <a:latin typeface="Cairo"/>
                <a:ea typeface="Cairo"/>
                <a:cs typeface="Cairo"/>
              </a:defRPr>
            </a:pPr>
            <a:r>
              <a:rPr sz="1650" b="0">
                <a:solidFill>
                  <a:srgbClr val="AEB9C7"/>
                </a:solidFill>
                <a:latin typeface="Cairo"/>
                <a:ea typeface="Cairo"/>
                <a:cs typeface="Cairo"/>
              </a:rPr>
              <a:t>الاحتياطي والأموال المقيّدة يظهران بصورة مستقلة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16D4E8-9CB1-4314-B1E9-C9511B31B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19850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3A1DB"/>
                </a:solidFill>
                <a:latin typeface="Cairo"/>
                <a:ea typeface="Cairo"/>
                <a:cs typeface="Cairo"/>
              </a:defRPr>
            </a:pPr>
            <a:r>
              <a:rPr sz="1200" b="1">
                <a:solidFill>
                  <a:srgbClr val="63A1DB"/>
                </a:solidFill>
                <a:latin typeface="Cairo"/>
                <a:ea typeface="Cairo"/>
                <a:cs typeface="Cairo"/>
              </a:rPr>
              <a:t>tazdan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6362EB-FB0C-46E0-8194-F7F01ABC5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3A1DB"/>
                </a:solidFill>
                <a:latin typeface="Cairo"/>
                <a:ea typeface="Cairo"/>
                <a:cs typeface="Cairo"/>
              </a:defRPr>
            </a:pPr>
            <a:r>
              <a:rPr sz="1125" b="0">
                <a:solidFill>
                  <a:srgbClr val="63A1DB"/>
                </a:solidFill>
                <a:latin typeface="Cairo"/>
                <a:ea typeface="Cairo"/>
                <a:cs typeface="Cairo"/>
              </a:rPr>
              <a:t>10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66750" y="2076450"/>
          <a:ext xmlns:a="http://schemas.openxmlformats.org/drawingml/2006/main" cx="10858500" cy="3667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8382000"/>
              </a:tblGrid>
              <a:tr h="523875">
                <a:tc>
                  <a:txBody>
                    <a:bodyPr/>
                    <a:lstStyle/>
                    <a:p>
                      <a:pPr algn="r"/>
                      <a:r>
                        <a:rPr sz="1725" b="1">
                          <a:solidFill>
                            <a:srgbClr val="63A1DB"/>
                          </a:solidFill>
                          <a:latin typeface="Cairo"/>
                          <a:ea typeface="Cairo"/>
                          <a:cs typeface="Cairo"/>
                        </a:rPr>
                        <a:t>مليون دينار</a:t>
                      </a:r>
                    </a:p>
                  </a:txBody>
                  <a:tcPr marL="152400" marR="152400" marT="76200" marB="76200">
                    <a:solidFill>
                      <a:srgbClr val="29374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1">
                          <a:solidFill>
                            <a:srgbClr val="63A1DB"/>
                          </a:solidFill>
                          <a:latin typeface="Cairo"/>
                          <a:ea typeface="Cairo"/>
                          <a:cs typeface="Cairo"/>
                        </a:rPr>
                        <a:t>استخدام التمويل</a:t>
                      </a:r>
                    </a:p>
                  </a:txBody>
                  <a:tcPr marL="152400" marR="152400" marT="76200" marB="76200">
                    <a:solidFill>
                      <a:srgbClr val="293749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r"/>
                      <a:r>
                        <a:rPr sz="1725">
                          <a:solidFill>
                            <a:srgbClr val="F5F6F8"/>
                          </a:solidFill>
                          <a:latin typeface="Cairo"/>
                          <a:ea typeface="Cairo"/>
                          <a:cs typeface="Cairo"/>
                        </a:rPr>
                        <a:t>15.00</a:t>
                      </a:r>
                    </a:p>
                  </a:txBody>
                  <a:tcPr marL="152400" marR="152400" marT="76200" marB="76200">
                    <a:solidFill>
                      <a:srgbClr val="20252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>
                          <a:solidFill>
                            <a:srgbClr val="F5F6F8"/>
                          </a:solidFill>
                          <a:latin typeface="Cairo"/>
                          <a:ea typeface="Cairo"/>
                          <a:cs typeface="Cairo"/>
                        </a:rPr>
                        <a:t>إنفاق ثابت لمدة 24 شهراً</a:t>
                      </a:r>
                    </a:p>
                  </a:txBody>
                  <a:tcPr marL="152400" marR="152400" marT="76200" marB="76200">
                    <a:solidFill>
                      <a:srgbClr val="20252D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r"/>
                      <a:r>
                        <a:rPr sz="1725">
                          <a:solidFill>
                            <a:srgbClr val="F5F6F8"/>
                          </a:solidFill>
                          <a:latin typeface="Cairo"/>
                          <a:ea typeface="Cairo"/>
                          <a:cs typeface="Cairo"/>
                        </a:rPr>
                        <a:t>5.25</a:t>
                      </a:r>
                    </a:p>
                  </a:txBody>
                  <a:tcPr marL="152400" marR="152400" marT="76200" marB="76200">
                    <a:solidFill>
                      <a:srgbClr val="20252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>
                          <a:solidFill>
                            <a:srgbClr val="F5F6F8"/>
                          </a:solidFill>
                          <a:latin typeface="Cairo"/>
                          <a:ea typeface="Cairo"/>
                          <a:cs typeface="Cairo"/>
                        </a:rPr>
                        <a:t>احتياطي تكاليف بنسبة 35%</a:t>
                      </a:r>
                    </a:p>
                  </a:txBody>
                  <a:tcPr marL="152400" marR="152400" marT="76200" marB="76200">
                    <a:solidFill>
                      <a:srgbClr val="20252D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r"/>
                      <a:r>
                        <a:rPr sz="1725">
                          <a:solidFill>
                            <a:srgbClr val="F5F6F8"/>
                          </a:solidFill>
                          <a:latin typeface="Cairo"/>
                          <a:ea typeface="Cairo"/>
                          <a:cs typeface="Cairo"/>
                        </a:rPr>
                        <a:t>5.00</a:t>
                      </a:r>
                    </a:p>
                  </a:txBody>
                  <a:tcPr marL="152400" marR="152400" marT="76200" marB="76200">
                    <a:solidFill>
                      <a:srgbClr val="20252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>
                          <a:solidFill>
                            <a:srgbClr val="F5F6F8"/>
                          </a:solidFill>
                          <a:latin typeface="Cairo"/>
                          <a:ea typeface="Cairo"/>
                          <a:cs typeface="Cairo"/>
                        </a:rPr>
                        <a:t>مخصص رأسمال تنظيمي مبدئي</a:t>
                      </a:r>
                    </a:p>
                  </a:txBody>
                  <a:tcPr marL="152400" marR="152400" marT="76200" marB="76200">
                    <a:solidFill>
                      <a:srgbClr val="20252D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r"/>
                      <a:r>
                        <a:rPr sz="1725">
                          <a:solidFill>
                            <a:srgbClr val="F5F6F8"/>
                          </a:solidFill>
                          <a:latin typeface="Cairo"/>
                          <a:ea typeface="Cairo"/>
                          <a:cs typeface="Cairo"/>
                        </a:rPr>
                        <a:t>2.00</a:t>
                      </a:r>
                    </a:p>
                  </a:txBody>
                  <a:tcPr marL="152400" marR="152400" marT="76200" marB="76200">
                    <a:solidFill>
                      <a:srgbClr val="20252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>
                          <a:solidFill>
                            <a:srgbClr val="F5F6F8"/>
                          </a:solidFill>
                          <a:latin typeface="Cairo"/>
                          <a:ea typeface="Cairo"/>
                          <a:cs typeface="Cairo"/>
                        </a:rPr>
                        <a:t>ضمانات الشركاء أو التسوية</a:t>
                      </a:r>
                    </a:p>
                  </a:txBody>
                  <a:tcPr marL="152400" marR="152400" marT="76200" marB="76200">
                    <a:solidFill>
                      <a:srgbClr val="20252D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r"/>
                      <a:r>
                        <a:rPr sz="1725">
                          <a:solidFill>
                            <a:srgbClr val="F5F6F8"/>
                          </a:solidFill>
                          <a:latin typeface="Cairo"/>
                          <a:ea typeface="Cairo"/>
                          <a:cs typeface="Cairo"/>
                        </a:rPr>
                        <a:t>2.75</a:t>
                      </a:r>
                    </a:p>
                  </a:txBody>
                  <a:tcPr marL="152400" marR="152400" marT="76200" marB="76200">
                    <a:solidFill>
                      <a:srgbClr val="20252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>
                          <a:solidFill>
                            <a:srgbClr val="F5F6F8"/>
                          </a:solidFill>
                          <a:latin typeface="Cairo"/>
                          <a:ea typeface="Cairo"/>
                          <a:cs typeface="Cairo"/>
                        </a:rPr>
                        <a:t>سيولة إضافية غير مقيّدة</a:t>
                      </a:r>
                    </a:p>
                  </a:txBody>
                  <a:tcPr marL="152400" marR="152400" marT="76200" marB="76200">
                    <a:solidFill>
                      <a:srgbClr val="20252D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r"/>
                      <a:r>
                        <a:rPr sz="1725">
                          <a:solidFill>
                            <a:srgbClr val="F5F6F8"/>
                          </a:solidFill>
                          <a:latin typeface="Cairo"/>
                          <a:ea typeface="Cairo"/>
                          <a:cs typeface="Cairo"/>
                        </a:rPr>
                        <a:t>30.00</a:t>
                      </a:r>
                    </a:p>
                  </a:txBody>
                  <a:tcPr marL="152400" marR="152400" marT="76200" marB="76200">
                    <a:solidFill>
                      <a:srgbClr val="20252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>
                          <a:solidFill>
                            <a:srgbClr val="F5F6F8"/>
                          </a:solidFill>
                          <a:latin typeface="Cairo"/>
                          <a:ea typeface="Cairo"/>
                          <a:cs typeface="Cairo"/>
                        </a:rPr>
                        <a:t>إجمالي التمويل المقترح</a:t>
                      </a:r>
                    </a:p>
                  </a:txBody>
                  <a:tcPr marL="152400" marR="152400" marT="76200" marB="76200">
                    <a:solidFill>
                      <a:srgbClr val="20252D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083431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19E37D-9038-48BD-AE9D-3DCC10A6A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0896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3225" b="1">
                <a:solidFill>
                  <a:srgbClr val="192737"/>
                </a:solidFill>
                <a:latin typeface="Cairo"/>
                <a:ea typeface="Cairo"/>
                <a:cs typeface="Cairo"/>
              </a:defRPr>
            </a:pPr>
            <a:r>
              <a:rPr sz="3225" b="1">
                <a:solidFill>
                  <a:srgbClr val="192737"/>
                </a:solidFill>
                <a:latin typeface="Cairo"/>
                <a:ea typeface="Cairo"/>
                <a:cs typeface="Cairo"/>
              </a:rPr>
              <a:t>الربحية التشغيلية تحتاج حجماً كافياً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FC4D3F-3C21-48A0-8583-9338C0F3C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586879"/>
                </a:solidFill>
                <a:latin typeface="Cairo"/>
                <a:ea typeface="Cairo"/>
                <a:cs typeface="Cairo"/>
              </a:defRPr>
            </a:pPr>
            <a:r>
              <a:rPr sz="1650" b="0">
                <a:solidFill>
                  <a:srgbClr val="586879"/>
                </a:solidFill>
                <a:latin typeface="Cairo"/>
                <a:ea typeface="Cairo"/>
                <a:cs typeface="Cairo"/>
              </a:rPr>
              <a:t>سيناريو أساسي افتراضي؛ الأرقام بمليون دينار ما لم يُذكر غير ذلك.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FCAA66-252F-4972-9752-B5C4C28EA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19850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3A1DB"/>
                </a:solidFill>
                <a:latin typeface="Cairo"/>
                <a:ea typeface="Cairo"/>
                <a:cs typeface="Cairo"/>
              </a:defRPr>
            </a:pPr>
            <a:r>
              <a:rPr sz="1200" b="1">
                <a:solidFill>
                  <a:srgbClr val="63A1DB"/>
                </a:solidFill>
                <a:latin typeface="Cairo"/>
                <a:ea typeface="Cairo"/>
                <a:cs typeface="Cairo"/>
              </a:rPr>
              <a:t>tazdan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F971F2-71B0-40CD-AFBC-FF00C9988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3A1DB"/>
                </a:solidFill>
                <a:latin typeface="Cairo"/>
                <a:ea typeface="Cairo"/>
                <a:cs typeface="Cairo"/>
              </a:defRPr>
            </a:pPr>
            <a:r>
              <a:rPr sz="1125" b="0">
                <a:solidFill>
                  <a:srgbClr val="63A1DB"/>
                </a:solidFill>
                <a:latin typeface="Cairo"/>
                <a:ea typeface="Cairo"/>
                <a:cs typeface="Cairo"/>
              </a:rPr>
              <a:t>11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66750" y="2190750"/>
          <a:ext xmlns:a="http://schemas.openxmlformats.org/drawingml/2006/main" cx="108585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05000"/>
                <a:gridCol w="1905000"/>
                <a:gridCol w="1905000"/>
                <a:gridCol w="5143500"/>
              </a:tblGrid>
              <a:tr h="523875">
                <a:tc>
                  <a:txBody>
                    <a:bodyPr/>
                    <a:lstStyle/>
                    <a:p>
                      <a:pPr algn="r"/>
                      <a:r>
                        <a:rPr sz="1725" b="1">
                          <a:solidFill>
                            <a:srgbClr val="192737"/>
                          </a:solidFill>
                          <a:latin typeface="Cairo"/>
                          <a:ea typeface="Cairo"/>
                          <a:cs typeface="Cairo"/>
                        </a:rPr>
                        <a:t>السنة 3</a:t>
                      </a:r>
                    </a:p>
                  </a:txBody>
                  <a:tcPr marL="152400" marR="152400" marT="76200" marB="76200">
                    <a:solidFill>
                      <a:srgbClr val="E4ED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1">
                          <a:solidFill>
                            <a:srgbClr val="192737"/>
                          </a:solidFill>
                          <a:latin typeface="Cairo"/>
                          <a:ea typeface="Cairo"/>
                          <a:cs typeface="Cairo"/>
                        </a:rPr>
                        <a:t>السنة 2</a:t>
                      </a:r>
                    </a:p>
                  </a:txBody>
                  <a:tcPr marL="152400" marR="152400" marT="76200" marB="76200">
                    <a:solidFill>
                      <a:srgbClr val="E4ED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1">
                          <a:solidFill>
                            <a:srgbClr val="192737"/>
                          </a:solidFill>
                          <a:latin typeface="Cairo"/>
                          <a:ea typeface="Cairo"/>
                          <a:cs typeface="Cairo"/>
                        </a:rPr>
                        <a:t>السنة 1</a:t>
                      </a:r>
                    </a:p>
                  </a:txBody>
                  <a:tcPr marL="152400" marR="152400" marT="76200" marB="76200">
                    <a:solidFill>
                      <a:srgbClr val="E4ED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1">
                          <a:solidFill>
                            <a:srgbClr val="192737"/>
                          </a:solidFill>
                          <a:latin typeface="Cairo"/>
                          <a:ea typeface="Cairo"/>
                          <a:cs typeface="Cairo"/>
                        </a:rPr>
                        <a:t>المؤشر السنوي</a:t>
                      </a:r>
                    </a:p>
                  </a:txBody>
                  <a:tcPr marL="152400" marR="152400" marT="76200" marB="76200">
                    <a:solidFill>
                      <a:srgbClr val="E4EDF6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r"/>
                      <a:r>
                        <a:rPr sz="1725">
                          <a:solidFill>
                            <a:srgbClr val="192737"/>
                          </a:solidFill>
                          <a:latin typeface="Cairo"/>
                          <a:ea typeface="Cairo"/>
                          <a:cs typeface="Cairo"/>
                        </a:rPr>
                        <a:t>120,000</a:t>
                      </a:r>
                    </a:p>
                  </a:txBody>
                  <a:tcPr marL="152400" marR="1524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>
                          <a:solidFill>
                            <a:srgbClr val="192737"/>
                          </a:solidFill>
                          <a:latin typeface="Cairo"/>
                          <a:ea typeface="Cairo"/>
                          <a:cs typeface="Cairo"/>
                        </a:rPr>
                        <a:t>45,000</a:t>
                      </a:r>
                    </a:p>
                  </a:txBody>
                  <a:tcPr marL="152400" marR="1524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>
                          <a:solidFill>
                            <a:srgbClr val="192737"/>
                          </a:solidFill>
                          <a:latin typeface="Cairo"/>
                          <a:ea typeface="Cairo"/>
                          <a:cs typeface="Cairo"/>
                        </a:rPr>
                        <a:t>10,000</a:t>
                      </a:r>
                    </a:p>
                  </a:txBody>
                  <a:tcPr marL="152400" marR="1524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>
                          <a:solidFill>
                            <a:srgbClr val="192737"/>
                          </a:solidFill>
                          <a:latin typeface="Cairo"/>
                          <a:ea typeface="Cairo"/>
                          <a:cs typeface="Cairo"/>
                        </a:rPr>
                        <a:t>متوسط العملاء النشطين</a:t>
                      </a:r>
                    </a:p>
                  </a:txBody>
                  <a:tcPr marL="152400" marR="152400" marT="76200" marB="76200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r"/>
                      <a:r>
                        <a:rPr sz="1725">
                          <a:solidFill>
                            <a:srgbClr val="192737"/>
                          </a:solidFill>
                          <a:latin typeface="Cairo"/>
                          <a:ea typeface="Cairo"/>
                          <a:cs typeface="Cairo"/>
                        </a:rPr>
                        <a:t>17.310</a:t>
                      </a:r>
                    </a:p>
                  </a:txBody>
                  <a:tcPr marL="152400" marR="1524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>
                          <a:solidFill>
                            <a:srgbClr val="192737"/>
                          </a:solidFill>
                          <a:latin typeface="Cairo"/>
                          <a:ea typeface="Cairo"/>
                          <a:cs typeface="Cairo"/>
                        </a:rPr>
                        <a:t>4.709</a:t>
                      </a:r>
                    </a:p>
                  </a:txBody>
                  <a:tcPr marL="152400" marR="1524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>
                          <a:solidFill>
                            <a:srgbClr val="192737"/>
                          </a:solidFill>
                          <a:latin typeface="Cairo"/>
                          <a:ea typeface="Cairo"/>
                          <a:cs typeface="Cairo"/>
                        </a:rPr>
                        <a:t>0.730</a:t>
                      </a:r>
                    </a:p>
                  </a:txBody>
                  <a:tcPr marL="152400" marR="1524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>
                          <a:solidFill>
                            <a:srgbClr val="192737"/>
                          </a:solidFill>
                          <a:latin typeface="Cairo"/>
                          <a:ea typeface="Cairo"/>
                          <a:cs typeface="Cairo"/>
                        </a:rPr>
                        <a:t>الإيرادات</a:t>
                      </a:r>
                    </a:p>
                  </a:txBody>
                  <a:tcPr marL="152400" marR="152400" marT="76200" marB="76200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r"/>
                      <a:r>
                        <a:rPr sz="1725">
                          <a:solidFill>
                            <a:srgbClr val="192737"/>
                          </a:solidFill>
                          <a:latin typeface="Cairo"/>
                          <a:ea typeface="Cairo"/>
                          <a:cs typeface="Cairo"/>
                        </a:rPr>
                        <a:t>6.780</a:t>
                      </a:r>
                    </a:p>
                  </a:txBody>
                  <a:tcPr marL="152400" marR="1524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>
                          <a:solidFill>
                            <a:srgbClr val="192737"/>
                          </a:solidFill>
                          <a:latin typeface="Cairo"/>
                          <a:ea typeface="Cairo"/>
                          <a:cs typeface="Cairo"/>
                        </a:rPr>
                        <a:t>2.202</a:t>
                      </a:r>
                    </a:p>
                  </a:txBody>
                  <a:tcPr marL="152400" marR="1524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>
                          <a:solidFill>
                            <a:srgbClr val="192737"/>
                          </a:solidFill>
                          <a:latin typeface="Cairo"/>
                          <a:ea typeface="Cairo"/>
                          <a:cs typeface="Cairo"/>
                        </a:rPr>
                        <a:t>0.420</a:t>
                      </a:r>
                    </a:p>
                  </a:txBody>
                  <a:tcPr marL="152400" marR="1524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>
                          <a:solidFill>
                            <a:srgbClr val="192737"/>
                          </a:solidFill>
                          <a:latin typeface="Cairo"/>
                          <a:ea typeface="Cairo"/>
                          <a:cs typeface="Cairo"/>
                        </a:rPr>
                        <a:t>تكاليف الخدمة المتغيرة</a:t>
                      </a:r>
                    </a:p>
                  </a:txBody>
                  <a:tcPr marL="152400" marR="152400" marT="76200" marB="76200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r"/>
                      <a:r>
                        <a:rPr sz="1725">
                          <a:solidFill>
                            <a:srgbClr val="192737"/>
                          </a:solidFill>
                          <a:latin typeface="Cairo"/>
                          <a:ea typeface="Cairo"/>
                          <a:cs typeface="Cairo"/>
                        </a:rPr>
                        <a:t>8.400</a:t>
                      </a:r>
                    </a:p>
                  </a:txBody>
                  <a:tcPr marL="152400" marR="1524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>
                          <a:solidFill>
                            <a:srgbClr val="192737"/>
                          </a:solidFill>
                          <a:latin typeface="Cairo"/>
                          <a:ea typeface="Cairo"/>
                          <a:cs typeface="Cairo"/>
                        </a:rPr>
                        <a:t>6.600</a:t>
                      </a:r>
                    </a:p>
                  </a:txBody>
                  <a:tcPr marL="152400" marR="1524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>
                          <a:solidFill>
                            <a:srgbClr val="192737"/>
                          </a:solidFill>
                          <a:latin typeface="Cairo"/>
                          <a:ea typeface="Cairo"/>
                          <a:cs typeface="Cairo"/>
                        </a:rPr>
                        <a:t>8.400</a:t>
                      </a:r>
                    </a:p>
                  </a:txBody>
                  <a:tcPr marL="152400" marR="1524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>
                          <a:solidFill>
                            <a:srgbClr val="192737"/>
                          </a:solidFill>
                          <a:latin typeface="Cairo"/>
                          <a:ea typeface="Cairo"/>
                          <a:cs typeface="Cairo"/>
                        </a:rPr>
                        <a:t>الإنفاق الثابت</a:t>
                      </a:r>
                    </a:p>
                  </a:txBody>
                  <a:tcPr marL="152400" marR="152400" marT="76200" marB="76200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r"/>
                      <a:r>
                        <a:rPr sz="1725">
                          <a:solidFill>
                            <a:srgbClr val="192737"/>
                          </a:solidFill>
                          <a:latin typeface="Cairo"/>
                          <a:ea typeface="Cairo"/>
                          <a:cs typeface="Cairo"/>
                        </a:rPr>
                        <a:t>+2.130</a:t>
                      </a:r>
                    </a:p>
                  </a:txBody>
                  <a:tcPr marL="152400" marR="1524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>
                          <a:solidFill>
                            <a:srgbClr val="192737"/>
                          </a:solidFill>
                          <a:latin typeface="Cairo"/>
                          <a:ea typeface="Cairo"/>
                          <a:cs typeface="Cairo"/>
                        </a:rPr>
                        <a:t>−4.093</a:t>
                      </a:r>
                    </a:p>
                  </a:txBody>
                  <a:tcPr marL="152400" marR="1524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>
                          <a:solidFill>
                            <a:srgbClr val="192737"/>
                          </a:solidFill>
                          <a:latin typeface="Cairo"/>
                          <a:ea typeface="Cairo"/>
                          <a:cs typeface="Cairo"/>
                        </a:rPr>
                        <a:t>−8.090</a:t>
                      </a:r>
                    </a:p>
                  </a:txBody>
                  <a:tcPr marL="152400" marR="1524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>
                          <a:solidFill>
                            <a:srgbClr val="192737"/>
                          </a:solidFill>
                          <a:latin typeface="Cairo"/>
                          <a:ea typeface="Cairo"/>
                          <a:cs typeface="Cairo"/>
                        </a:rPr>
                        <a:t>النتيجة التشغيلية</a:t>
                      </a:r>
                    </a:p>
                  </a:txBody>
                  <a:tcPr marL="152400" marR="152400" marT="76200" marB="762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7FD847-D483-4C14-B862-96110F428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72175"/>
            <a:ext cx="10858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637082"/>
                </a:solidFill>
                <a:latin typeface="Cairo"/>
                <a:ea typeface="Cairo"/>
                <a:cs typeface="Cairo"/>
              </a:defRPr>
            </a:pPr>
            <a:r>
              <a:rPr sz="1500" b="0">
                <a:solidFill>
                  <a:srgbClr val="637082"/>
                </a:solidFill>
                <a:latin typeface="Cairo"/>
                <a:ea typeface="Cairo"/>
                <a:cs typeface="Cairo"/>
              </a:rPr>
              <a:t>قبل الضرائب والتمويل والسحب من الاحتياطي. دون إيرادات دولية.</a:t>
            </a:r>
          </a:p>
        </p:txBody>
      </p:sp>
    </p:spTree>
    <p:extLst>
      <p:ext uri="{BB962C8B-B14F-4D97-AF65-F5344CB8AC3E}">
        <p14:creationId xmlns:p14="http://schemas.microsoft.com/office/powerpoint/2010/main" val="21157196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618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EFE0DA-A09A-460D-88F3-E8BED1975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0896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3225" b="1">
                <a:solidFill>
                  <a:srgbClr val="F5F6F8"/>
                </a:solidFill>
                <a:latin typeface="Cairo"/>
                <a:ea typeface="Cairo"/>
                <a:cs typeface="Cairo"/>
              </a:defRPr>
            </a:pPr>
            <a:r>
              <a:rPr sz="3225" b="1">
                <a:solidFill>
                  <a:srgbClr val="F5F6F8"/>
                </a:solidFill>
                <a:latin typeface="Cairo"/>
                <a:ea typeface="Cairo"/>
                <a:cs typeface="Cairo"/>
              </a:rPr>
              <a:t>التجربة هي اختبار اقتصاديات المشروع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F2019A-DC97-4E80-A68B-5543D8547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19850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3A1DB"/>
                </a:solidFill>
                <a:latin typeface="Cairo"/>
                <a:ea typeface="Cairo"/>
                <a:cs typeface="Cairo"/>
              </a:defRPr>
            </a:pPr>
            <a:r>
              <a:rPr sz="1200" b="1">
                <a:solidFill>
                  <a:srgbClr val="63A1DB"/>
                </a:solidFill>
                <a:latin typeface="Cairo"/>
                <a:ea typeface="Cairo"/>
                <a:cs typeface="Cairo"/>
              </a:rPr>
              <a:t>tazdan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FAA68C-C77A-465A-AFF8-8AB8C76AA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3A1DB"/>
                </a:solidFill>
                <a:latin typeface="Cairo"/>
                <a:ea typeface="Cairo"/>
                <a:cs typeface="Cairo"/>
              </a:defRPr>
            </a:pPr>
            <a:r>
              <a:rPr sz="1125" b="0">
                <a:solidFill>
                  <a:srgbClr val="63A1DB"/>
                </a:solidFill>
                <a:latin typeface="Cairo"/>
                <a:ea typeface="Cairo"/>
                <a:cs typeface="Cairo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E5BDFD-1F8C-4400-8A55-9399DEE20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286000"/>
            <a:ext cx="64293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5700" b="1">
                <a:solidFill>
                  <a:srgbClr val="63A1DB"/>
                </a:solidFill>
                <a:latin typeface="Cairo"/>
                <a:ea typeface="Cairo"/>
                <a:cs typeface="Cairo"/>
              </a:defRPr>
            </a:pPr>
            <a:r>
              <a:rPr sz="5700" b="1">
                <a:solidFill>
                  <a:srgbClr val="63A1DB"/>
                </a:solidFill>
                <a:latin typeface="Cairo"/>
                <a:ea typeface="Cairo"/>
                <a:cs typeface="Cairo"/>
              </a:rPr>
              <a:t>6.50 دينار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2809B8-0AD7-4D08-ABD3-47D7D091E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543300"/>
            <a:ext cx="63341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0">
                <a:solidFill>
                  <a:srgbClr val="F5F6F8"/>
                </a:solidFill>
                <a:latin typeface="Cairo"/>
                <a:ea typeface="Cairo"/>
                <a:cs typeface="Cairo"/>
              </a:defRPr>
            </a:pPr>
            <a:r>
              <a:rPr sz="2100" b="0">
                <a:solidFill>
                  <a:srgbClr val="F5F6F8"/>
                </a:solidFill>
                <a:latin typeface="Cairo"/>
                <a:ea typeface="Cairo"/>
                <a:cs typeface="Cairo"/>
              </a:rPr>
              <a:t>مساهمة شهرية لكل عميل نشط</a:t>
            </a:r>
          </a:p>
          <a:p xmlns:a="http://schemas.openxmlformats.org/drawingml/2006/main">
            <a:pPr algn="r">
              <a:defRPr sz="2100" b="0">
                <a:solidFill>
                  <a:srgbClr val="F5F6F8"/>
                </a:solidFill>
                <a:latin typeface="Cairo"/>
                <a:ea typeface="Cairo"/>
                <a:cs typeface="Cairo"/>
              </a:defRPr>
            </a:pPr>
            <a:r>
              <a:rPr sz="2100" b="0">
                <a:solidFill>
                  <a:srgbClr val="F5F6F8"/>
                </a:solidFill>
                <a:latin typeface="Cairo"/>
                <a:ea typeface="Cairo"/>
                <a:cs typeface="Cairo"/>
              </a:rPr>
              <a:t>وفق افتراضات النضج في السنة الثالثة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AA5E41-1EED-4511-B9A5-83E907F95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05075"/>
            <a:ext cx="342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4650" b="1">
                <a:solidFill>
                  <a:srgbClr val="F5F6F8"/>
                </a:solidFill>
                <a:latin typeface="Cairo"/>
                <a:ea typeface="Cairo"/>
                <a:cs typeface="Cairo"/>
              </a:defRPr>
            </a:pPr>
            <a:r>
              <a:rPr sz="4650" b="1">
                <a:solidFill>
                  <a:srgbClr val="F5F6F8"/>
                </a:solidFill>
                <a:latin typeface="Cairo"/>
                <a:ea typeface="Cairo"/>
                <a:cs typeface="Cairo"/>
              </a:rPr>
              <a:t>92,693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9C41BC-586C-4830-A0A1-784BBDAC8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67125"/>
            <a:ext cx="3524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950" b="0">
                <a:solidFill>
                  <a:srgbClr val="AEB9C7"/>
                </a:solidFill>
                <a:latin typeface="Cairo"/>
                <a:ea typeface="Cairo"/>
                <a:cs typeface="Cairo"/>
              </a:defRPr>
            </a:pPr>
            <a:r>
              <a:rPr sz="1950" b="0">
                <a:solidFill>
                  <a:srgbClr val="AEB9C7"/>
                </a:solidFill>
                <a:latin typeface="Cairo"/>
                <a:ea typeface="Cairo"/>
                <a:cs typeface="Cairo"/>
              </a:rPr>
              <a:t>متوسط العملاء النشطين</a:t>
            </a:r>
          </a:p>
          <a:p xmlns:a="http://schemas.openxmlformats.org/drawingml/2006/main">
            <a:pPr algn="r">
              <a:defRPr sz="1950" b="0">
                <a:solidFill>
                  <a:srgbClr val="AEB9C7"/>
                </a:solidFill>
                <a:latin typeface="Cairo"/>
                <a:ea typeface="Cairo"/>
                <a:cs typeface="Cairo"/>
              </a:defRPr>
            </a:pPr>
            <a:r>
              <a:rPr sz="1950" b="0">
                <a:solidFill>
                  <a:srgbClr val="AEB9C7"/>
                </a:solidFill>
                <a:latin typeface="Cairo"/>
                <a:ea typeface="Cairo"/>
                <a:cs typeface="Cairo"/>
              </a:rPr>
              <a:t>اللازم للتعادل التشغيلي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BC9103-71CD-4FB8-830B-02533EE8B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7687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875" b="0">
                <a:solidFill>
                  <a:srgbClr val="AEB9C7"/>
                </a:solidFill>
                <a:latin typeface="Cairo"/>
                <a:ea typeface="Cairo"/>
                <a:cs typeface="Cairo"/>
              </a:defRPr>
            </a:pPr>
            <a:r>
              <a:rPr sz="1875" b="0">
                <a:solidFill>
                  <a:srgbClr val="AEB9C7"/>
                </a:solidFill>
                <a:latin typeface="Cairo"/>
                <a:ea typeface="Cairo"/>
                <a:cs typeface="Cairo"/>
              </a:rPr>
              <a:t>بافتراض 2,500 تاجر وإنفاق ثابت شهري قدره 700,000 دينار.</a:t>
            </a:r>
          </a:p>
        </p:txBody>
      </p:sp>
    </p:spTree>
    <p:extLst>
      <p:ext uri="{BB962C8B-B14F-4D97-AF65-F5344CB8AC3E}">
        <p14:creationId xmlns:p14="http://schemas.microsoft.com/office/powerpoint/2010/main" val="161970499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65DF37-B389-43D5-B993-CDCAD3680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0896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3225" b="1">
                <a:solidFill>
                  <a:srgbClr val="192737"/>
                </a:solidFill>
                <a:latin typeface="Cairo"/>
                <a:ea typeface="Cairo"/>
                <a:cs typeface="Cairo"/>
              </a:defRPr>
            </a:pPr>
            <a:r>
              <a:rPr sz="3225" b="1">
                <a:solidFill>
                  <a:srgbClr val="192737"/>
                </a:solidFill>
                <a:latin typeface="Cairo"/>
                <a:ea typeface="Cairo"/>
                <a:cs typeface="Cairo"/>
              </a:rPr>
              <a:t>مساحة للتأخير، وليست ميزانية مفتوحة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0EF29F-ECCB-4C92-B3EC-40280C98F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19850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3A1DB"/>
                </a:solidFill>
                <a:latin typeface="Cairo"/>
                <a:ea typeface="Cairo"/>
                <a:cs typeface="Cairo"/>
              </a:defRPr>
            </a:pPr>
            <a:r>
              <a:rPr sz="1200" b="1">
                <a:solidFill>
                  <a:srgbClr val="63A1DB"/>
                </a:solidFill>
                <a:latin typeface="Cairo"/>
                <a:ea typeface="Cairo"/>
                <a:cs typeface="Cairo"/>
              </a:rPr>
              <a:t>tazdan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8CF2CB-5C2E-494D-90E9-469FDB556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3A1DB"/>
                </a:solidFill>
                <a:latin typeface="Cairo"/>
                <a:ea typeface="Cairo"/>
                <a:cs typeface="Cairo"/>
              </a:defRPr>
            </a:pPr>
            <a:r>
              <a:rPr sz="1125" b="0">
                <a:solidFill>
                  <a:srgbClr val="63A1DB"/>
                </a:solidFill>
                <a:latin typeface="Cairo"/>
                <a:ea typeface="Cairo"/>
                <a:cs typeface="Cairo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A7C77C-A812-4609-9E57-D59005028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190750"/>
            <a:ext cx="3000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192737"/>
                </a:solidFill>
                <a:latin typeface="Cairo"/>
                <a:ea typeface="Cairo"/>
                <a:cs typeface="Cairo"/>
              </a:defRPr>
            </a:pPr>
            <a:r>
              <a:rPr sz="1875" b="1">
                <a:solidFill>
                  <a:srgbClr val="192737"/>
                </a:solidFill>
                <a:latin typeface="Cairo"/>
                <a:ea typeface="Cairo"/>
                <a:cs typeface="Cairo"/>
              </a:rPr>
              <a:t>صدمة التكلفة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AB2252-5D77-44B3-9ADE-379E856C8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7334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875" b="0">
                <a:solidFill>
                  <a:srgbClr val="4B5B6C"/>
                </a:solidFill>
                <a:latin typeface="Cairo"/>
                <a:ea typeface="Cairo"/>
                <a:cs typeface="Cairo"/>
              </a:defRPr>
            </a:pPr>
            <a:r>
              <a:rPr sz="1875" b="0">
                <a:solidFill>
                  <a:srgbClr val="4B5B6C"/>
                </a:solidFill>
                <a:latin typeface="Cairo"/>
                <a:ea typeface="Cairo"/>
                <a:cs typeface="Cairo"/>
              </a:rPr>
              <a:t>تأخير ستة أشهر: 3.75 مليون. صدمة الموردين والصرف: 1.50 مليون. معاً تستهلكان احتياطي 5.25 مليون دينار.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4ABB36-4D42-40FB-80F4-5B8A26506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638550"/>
            <a:ext cx="3000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192737"/>
                </a:solidFill>
                <a:latin typeface="Cairo"/>
                <a:ea typeface="Cairo"/>
                <a:cs typeface="Cairo"/>
              </a:defRPr>
            </a:pPr>
            <a:r>
              <a:rPr sz="1875" b="1">
                <a:solidFill>
                  <a:srgbClr val="192737"/>
                </a:solidFill>
                <a:latin typeface="Cairo"/>
                <a:ea typeface="Cairo"/>
                <a:cs typeface="Cairo"/>
              </a:rPr>
              <a:t>ضعف الطلب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7E01DD-EA19-4B93-9674-53B0F63C5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38550"/>
            <a:ext cx="7334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875" b="0">
                <a:solidFill>
                  <a:srgbClr val="4B5B6C"/>
                </a:solidFill>
                <a:latin typeface="Cairo"/>
                <a:ea typeface="Cairo"/>
                <a:cs typeface="Cairo"/>
              </a:defRPr>
            </a:pPr>
            <a:r>
              <a:rPr sz="1875" b="0">
                <a:solidFill>
                  <a:srgbClr val="4B5B6C"/>
                </a:solidFill>
                <a:latin typeface="Cairo"/>
                <a:ea typeface="Cairo"/>
                <a:cs typeface="Cairo"/>
              </a:rPr>
              <a:t>عند 60,000 عميل نشط وإيرادات أضعف، تخسر السنة الثالثة 6.951 مليون دينار.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30168D-F751-4FC9-AB8D-A08EF10FC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5000625"/>
            <a:ext cx="3000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192737"/>
                </a:solidFill>
                <a:latin typeface="Cairo"/>
                <a:ea typeface="Cairo"/>
                <a:cs typeface="Cairo"/>
              </a:defRPr>
            </a:pPr>
            <a:r>
              <a:rPr sz="1875" b="1">
                <a:solidFill>
                  <a:srgbClr val="192737"/>
                </a:solidFill>
                <a:latin typeface="Cairo"/>
                <a:ea typeface="Cairo"/>
                <a:cs typeface="Cairo"/>
              </a:rPr>
              <a:t>مخاطر التسوية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E3F80E-A943-4755-AAC7-616D9B811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00625"/>
            <a:ext cx="7334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875" b="0">
                <a:solidFill>
                  <a:srgbClr val="4B5B6C"/>
                </a:solidFill>
                <a:latin typeface="Cairo"/>
                <a:ea typeface="Cairo"/>
                <a:cs typeface="Cairo"/>
              </a:defRPr>
            </a:pPr>
            <a:r>
              <a:rPr sz="1875" b="0">
                <a:solidFill>
                  <a:srgbClr val="4B5B6C"/>
                </a:solidFill>
                <a:latin typeface="Cairo"/>
                <a:ea typeface="Cairo"/>
                <a:cs typeface="Cairo"/>
              </a:rPr>
              <a:t>تمويل يومين مقدماً عند حجم السنة الثالثة يحتاج نحو 7.89 مليون دينار. يلزم تعديل الاحتياطي الأولي.</a:t>
            </a:r>
          </a:p>
        </p:txBody>
      </p:sp>
    </p:spTree>
    <p:extLst>
      <p:ext uri="{BB962C8B-B14F-4D97-AF65-F5344CB8AC3E}">
        <p14:creationId xmlns:p14="http://schemas.microsoft.com/office/powerpoint/2010/main" val="121478893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618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AD0AA8-5A45-43DA-8662-E8698B7C5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0896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3225" b="1">
                <a:solidFill>
                  <a:srgbClr val="F5F6F8"/>
                </a:solidFill>
                <a:latin typeface="Cairo"/>
                <a:ea typeface="Cairo"/>
                <a:cs typeface="Cairo"/>
              </a:defRPr>
            </a:pPr>
            <a:r>
              <a:rPr sz="3225" b="1">
                <a:solidFill>
                  <a:srgbClr val="F5F6F8"/>
                </a:solidFill>
                <a:latin typeface="Cairo"/>
                <a:ea typeface="Cairo"/>
                <a:cs typeface="Cairo"/>
              </a:rPr>
              <a:t>توسّع الكريبتو والتحويل الدولي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A1C253-A13C-4269-9260-7C93937C3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AEB9C7"/>
                </a:solidFill>
                <a:latin typeface="Cairo"/>
                <a:ea typeface="Cairo"/>
                <a:cs typeface="Cairo"/>
              </a:defRPr>
            </a:pPr>
            <a:r>
              <a:rPr sz="1650" b="0">
                <a:solidFill>
                  <a:srgbClr val="AEB9C7"/>
                </a:solidFill>
                <a:latin typeface="Cairo"/>
                <a:ea typeface="Cairo"/>
                <a:cs typeface="Cairo"/>
              </a:rPr>
              <a:t>ميزانية اختيارية منفصلة عن الغلاف المحلي الأساسي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81DE56-2D94-43BC-8934-E4C4B10EA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19850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3A1DB"/>
                </a:solidFill>
                <a:latin typeface="Cairo"/>
                <a:ea typeface="Cairo"/>
                <a:cs typeface="Cairo"/>
              </a:defRPr>
            </a:pPr>
            <a:r>
              <a:rPr sz="1200" b="1">
                <a:solidFill>
                  <a:srgbClr val="63A1DB"/>
                </a:solidFill>
                <a:latin typeface="Cairo"/>
                <a:ea typeface="Cairo"/>
                <a:cs typeface="Cairo"/>
              </a:rPr>
              <a:t>tazdan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E1E543-1B55-4CF7-A81E-0FE93ECD0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3A1DB"/>
                </a:solidFill>
                <a:latin typeface="Cairo"/>
                <a:ea typeface="Cairo"/>
                <a:cs typeface="Cairo"/>
              </a:defRPr>
            </a:pPr>
            <a:r>
              <a:rPr sz="1125" b="0">
                <a:solidFill>
                  <a:srgbClr val="63A1DB"/>
                </a:solidFill>
                <a:latin typeface="Cairo"/>
                <a:ea typeface="Cairo"/>
                <a:cs typeface="Cairo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027136-C90A-4DD2-9AA0-C09544791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286000"/>
            <a:ext cx="6238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5475" b="1">
                <a:solidFill>
                  <a:srgbClr val="63A1DB"/>
                </a:solidFill>
                <a:latin typeface="Cairo"/>
                <a:ea typeface="Cairo"/>
                <a:cs typeface="Cairo"/>
              </a:defRPr>
            </a:pPr>
            <a:r>
              <a:rPr sz="5475" b="1">
                <a:solidFill>
                  <a:srgbClr val="63A1DB"/>
                </a:solidFill>
                <a:latin typeface="Cairo"/>
                <a:ea typeface="Cairo"/>
                <a:cs typeface="Cairo"/>
              </a:rPr>
              <a:t>4.05 مليون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8F764D-F1FD-4453-A7B3-078FBA12D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552825"/>
            <a:ext cx="647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0">
                <a:solidFill>
                  <a:srgbClr val="F5F6F8"/>
                </a:solidFill>
                <a:latin typeface="Cairo"/>
                <a:ea typeface="Cairo"/>
                <a:cs typeface="Cairo"/>
              </a:defRPr>
            </a:pPr>
            <a:r>
              <a:rPr sz="2025" b="0">
                <a:solidFill>
                  <a:srgbClr val="F5F6F8"/>
                </a:solidFill>
                <a:latin typeface="Cairo"/>
                <a:ea typeface="Cairo"/>
                <a:cs typeface="Cairo"/>
              </a:rPr>
              <a:t>دينار: 3.00 ملايين للتجهيز والتخصصات</a:t>
            </a:r>
          </a:p>
          <a:p xmlns:a="http://schemas.openxmlformats.org/drawingml/2006/main">
            <a:pPr algn="r">
              <a:defRPr sz="2025" b="0">
                <a:solidFill>
                  <a:srgbClr val="F5F6F8"/>
                </a:solidFill>
                <a:latin typeface="Cairo"/>
                <a:ea typeface="Cairo"/>
                <a:cs typeface="Cairo"/>
              </a:defRPr>
            </a:pPr>
            <a:r>
              <a:rPr sz="2025" b="0">
                <a:solidFill>
                  <a:srgbClr val="F5F6F8"/>
                </a:solidFill>
                <a:latin typeface="Cairo"/>
                <a:ea typeface="Cairo"/>
                <a:cs typeface="Cairo"/>
              </a:rPr>
              <a:t>بالإضافة إلى احتياطي بنسبة 35%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425B93-BE74-4421-9913-939D801DF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3619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3300" b="1">
                <a:solidFill>
                  <a:srgbClr val="F5F6F8"/>
                </a:solidFill>
                <a:latin typeface="Cairo"/>
                <a:ea typeface="Cairo"/>
                <a:cs typeface="Cairo"/>
              </a:defRPr>
            </a:pPr>
            <a:r>
              <a:rPr sz="3300" b="1">
                <a:solidFill>
                  <a:srgbClr val="F5F6F8"/>
                </a:solidFill>
                <a:latin typeface="Cairo"/>
                <a:ea typeface="Cairo"/>
                <a:cs typeface="Cairo"/>
              </a:rPr>
              <a:t>34.05 مليون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E1A10F-4838-474F-A9D3-29BA13119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3714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 b="0">
                <a:solidFill>
                  <a:srgbClr val="AEB9C7"/>
                </a:solidFill>
                <a:latin typeface="Cairo"/>
                <a:ea typeface="Cairo"/>
                <a:cs typeface="Cairo"/>
              </a:defRPr>
            </a:pPr>
            <a:r>
              <a:rPr sz="1800" b="0">
                <a:solidFill>
                  <a:srgbClr val="AEB9C7"/>
                </a:solidFill>
                <a:latin typeface="Cairo"/>
                <a:ea typeface="Cairo"/>
                <a:cs typeface="Cairo"/>
              </a:rPr>
              <a:t>دينار للغلاف التخطيطي المجمع</a:t>
            </a:r>
          </a:p>
          <a:p xmlns:a="http://schemas.openxmlformats.org/drawingml/2006/main">
            <a:pPr algn="r">
              <a:defRPr sz="1800" b="0">
                <a:solidFill>
                  <a:srgbClr val="AEB9C7"/>
                </a:solidFill>
                <a:latin typeface="Cairo"/>
                <a:ea typeface="Cairo"/>
                <a:cs typeface="Cairo"/>
              </a:defRPr>
            </a:pPr>
            <a:r>
              <a:rPr sz="1800" b="0">
                <a:solidFill>
                  <a:srgbClr val="AEB9C7"/>
                </a:solidFill>
                <a:latin typeface="Cairo"/>
                <a:ea typeface="Cairo"/>
                <a:cs typeface="Cairo"/>
              </a:rPr>
              <a:t>قبل أي رأسمال أجنبي أو</a:t>
            </a:r>
          </a:p>
          <a:p xmlns:a="http://schemas.openxmlformats.org/drawingml/2006/main">
            <a:pPr algn="r">
              <a:defRPr sz="1800" b="0">
                <a:solidFill>
                  <a:srgbClr val="AEB9C7"/>
                </a:solidFill>
                <a:latin typeface="Cairo"/>
                <a:ea typeface="Cairo"/>
                <a:cs typeface="Cairo"/>
              </a:defRPr>
            </a:pPr>
            <a:r>
              <a:rPr sz="1800" b="0">
                <a:solidFill>
                  <a:srgbClr val="AEB9C7"/>
                </a:solidFill>
                <a:latin typeface="Cairo"/>
                <a:ea typeface="Cairo"/>
                <a:cs typeface="Cairo"/>
              </a:rPr>
              <a:t>سيولة إضافية غير مسعّرة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39DE20-E459-4C2B-B41C-1154D638C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14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875" b="0">
                <a:solidFill>
                  <a:srgbClr val="AEB9C7"/>
                </a:solidFill>
                <a:latin typeface="Cairo"/>
                <a:ea typeface="Cairo"/>
                <a:cs typeface="Cairo"/>
              </a:defRPr>
            </a:pPr>
            <a:r>
              <a:rPr sz="1875" b="0">
                <a:solidFill>
                  <a:srgbClr val="AEB9C7"/>
                </a:solidFill>
                <a:latin typeface="Cairo"/>
                <a:ea typeface="Cairo"/>
                <a:cs typeface="Cairo"/>
              </a:rPr>
              <a:t>حفظ الأصول، فحص العمليات، استشارات الممرات، الأمن وتكامل الدفع.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6878EA-FDB7-436A-A2FC-D22A3E017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53125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63A1DB"/>
                </a:solidFill>
                <a:latin typeface="Cairo"/>
                <a:ea typeface="Cairo"/>
                <a:cs typeface="Cairo"/>
              </a:defRPr>
            </a:pPr>
            <a:r>
              <a:rPr sz="1650" b="0">
                <a:solidFill>
                  <a:srgbClr val="63A1DB"/>
                </a:solidFill>
                <a:latin typeface="Cairo"/>
                <a:ea typeface="Cairo"/>
                <a:cs typeface="Cairo"/>
              </a:rPr>
              <a:t>الإطلاق مشروط بالقانون الحالي والشركاء المتعاقدين.</a:t>
            </a:r>
          </a:p>
        </p:txBody>
      </p:sp>
    </p:spTree>
    <p:extLst>
      <p:ext uri="{BB962C8B-B14F-4D97-AF65-F5344CB8AC3E}">
        <p14:creationId xmlns:p14="http://schemas.microsoft.com/office/powerpoint/2010/main" val="119669116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618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70018F-1D56-45FC-B186-BAA09E5CF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0896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3225" b="1">
                <a:solidFill>
                  <a:srgbClr val="F5F6F8"/>
                </a:solidFill>
                <a:latin typeface="Cairo"/>
                <a:ea typeface="Cairo"/>
                <a:cs typeface="Cairo"/>
              </a:defRPr>
            </a:pPr>
            <a:r>
              <a:rPr sz="3225" b="1">
                <a:solidFill>
                  <a:srgbClr val="F5F6F8"/>
                </a:solidFill>
                <a:latin typeface="Cairo"/>
                <a:ea typeface="Cairo"/>
                <a:cs typeface="Cairo"/>
              </a:rPr>
              <a:t>التمويل يتبع الدليل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75B621-1388-4A60-8564-31CD9D300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AEB9C7"/>
                </a:solidFill>
                <a:latin typeface="Cairo"/>
                <a:ea typeface="Cairo"/>
                <a:cs typeface="Cairo"/>
              </a:defRPr>
            </a:pPr>
            <a:r>
              <a:rPr sz="1650" b="0">
                <a:solidFill>
                  <a:srgbClr val="AEB9C7"/>
                </a:solidFill>
                <a:latin typeface="Cairo"/>
                <a:ea typeface="Cairo"/>
                <a:cs typeface="Cairo"/>
              </a:rPr>
              <a:t>دفعات استثمار مقترحة ضمن الغلاف الأساسي البالغ 30 مليون دينار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DBBDDE-2AC8-4372-89DB-3EC2E45C1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19850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3A1DB"/>
                </a:solidFill>
                <a:latin typeface="Cairo"/>
                <a:ea typeface="Cairo"/>
                <a:cs typeface="Cairo"/>
              </a:defRPr>
            </a:pPr>
            <a:r>
              <a:rPr sz="1200" b="1">
                <a:solidFill>
                  <a:srgbClr val="63A1DB"/>
                </a:solidFill>
                <a:latin typeface="Cairo"/>
                <a:ea typeface="Cairo"/>
                <a:cs typeface="Cairo"/>
              </a:rPr>
              <a:t>tazdan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13114F-E04E-4D41-B370-E9FF2CDEC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3A1DB"/>
                </a:solidFill>
                <a:latin typeface="Cairo"/>
                <a:ea typeface="Cairo"/>
                <a:cs typeface="Cairo"/>
              </a:defRPr>
            </a:pPr>
            <a:r>
              <a:rPr sz="1125" b="0">
                <a:solidFill>
                  <a:srgbClr val="63A1DB"/>
                </a:solidFill>
                <a:latin typeface="Cairo"/>
                <a:ea typeface="Cairo"/>
                <a:cs typeface="Cairo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62C2A7-6DC7-4698-A51C-4F443F0CF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238375"/>
            <a:ext cx="3000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63A1DB"/>
                </a:solidFill>
                <a:latin typeface="Cairo"/>
                <a:ea typeface="Cairo"/>
                <a:cs typeface="Cairo"/>
              </a:defRPr>
            </a:pPr>
            <a:r>
              <a:rPr sz="1875" b="1">
                <a:solidFill>
                  <a:srgbClr val="63A1DB"/>
                </a:solidFill>
                <a:latin typeface="Cairo"/>
                <a:ea typeface="Cairo"/>
                <a:cs typeface="Cairo"/>
              </a:rPr>
              <a:t>5 ملايين دينار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384248-6190-44A1-A8FF-4587CE680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7334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875" b="0">
                <a:solidFill>
                  <a:srgbClr val="F5F6F8"/>
                </a:solidFill>
                <a:latin typeface="Cairo"/>
                <a:ea typeface="Cairo"/>
                <a:cs typeface="Cairo"/>
              </a:defRPr>
            </a:pPr>
            <a:r>
              <a:rPr sz="1875" b="0">
                <a:solidFill>
                  <a:srgbClr val="F5F6F8"/>
                </a:solidFill>
                <a:latin typeface="Cairo"/>
                <a:ea typeface="Cairo"/>
                <a:cs typeface="Cairo"/>
              </a:rPr>
              <a:t>بحث العملاء، الاستشارة المحلية، اختيار الشركاء والهندسة الأولية.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2994D6-2CA6-43DA-8E3D-057D0608A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476625"/>
            <a:ext cx="3000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63A1DB"/>
                </a:solidFill>
                <a:latin typeface="Cairo"/>
                <a:ea typeface="Cairo"/>
                <a:cs typeface="Cairo"/>
              </a:defRPr>
            </a:pPr>
            <a:r>
              <a:rPr sz="1875" b="1">
                <a:solidFill>
                  <a:srgbClr val="63A1DB"/>
                </a:solidFill>
                <a:latin typeface="Cairo"/>
                <a:ea typeface="Cairo"/>
                <a:cs typeface="Cairo"/>
              </a:rPr>
              <a:t>10 ملايين دينار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21A46F-AFD5-4EF3-9B00-62CAA41FB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76625"/>
            <a:ext cx="7334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875" b="0">
                <a:solidFill>
                  <a:srgbClr val="F5F6F8"/>
                </a:solidFill>
                <a:latin typeface="Cairo"/>
                <a:ea typeface="Cairo"/>
                <a:cs typeface="Cairo"/>
              </a:defRPr>
            </a:pPr>
            <a:r>
              <a:rPr sz="1875" b="0">
                <a:solidFill>
                  <a:srgbClr val="F5F6F8"/>
                </a:solidFill>
                <a:latin typeface="Cairo"/>
                <a:ea typeface="Cairo"/>
                <a:cs typeface="Cairo"/>
              </a:rPr>
              <a:t>بعد إثبات المسار التنظيمي وتسعير الشراكات واعتماد التصميم التقني.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4040B0-CF36-4973-98F2-8AE88FCCB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714875"/>
            <a:ext cx="3000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63A1DB"/>
                </a:solidFill>
                <a:latin typeface="Cairo"/>
                <a:ea typeface="Cairo"/>
                <a:cs typeface="Cairo"/>
              </a:defRPr>
            </a:pPr>
            <a:r>
              <a:rPr sz="1875" b="1">
                <a:solidFill>
                  <a:srgbClr val="63A1DB"/>
                </a:solidFill>
                <a:latin typeface="Cairo"/>
                <a:ea typeface="Cairo"/>
                <a:cs typeface="Cairo"/>
              </a:rPr>
              <a:t>15 مليون دينار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67D0B0-9587-4FD9-9F85-45D0D7D8D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14875"/>
            <a:ext cx="7334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875" b="0">
                <a:solidFill>
                  <a:srgbClr val="F5F6F8"/>
                </a:solidFill>
                <a:latin typeface="Cairo"/>
                <a:ea typeface="Cairo"/>
                <a:cs typeface="Cairo"/>
              </a:defRPr>
            </a:pPr>
            <a:r>
              <a:rPr sz="1875" b="0">
                <a:solidFill>
                  <a:srgbClr val="F5F6F8"/>
                </a:solidFill>
                <a:latin typeface="Cairo"/>
                <a:ea typeface="Cairo"/>
                <a:cs typeface="Cairo"/>
              </a:rPr>
              <a:t>بعد قبول الأمن والسماح بالتجربة وتأكيد متطلبات رأس المال.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87FE98-5C15-4AA5-A2F9-F19D87099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67400"/>
            <a:ext cx="10858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 b="0">
                <a:solidFill>
                  <a:srgbClr val="63A1DB"/>
                </a:solidFill>
                <a:latin typeface="Cairo"/>
                <a:ea typeface="Cairo"/>
                <a:cs typeface="Cairo"/>
              </a:defRPr>
            </a:pPr>
            <a:r>
              <a:rPr sz="1800" b="0">
                <a:solidFill>
                  <a:srgbClr val="63A1DB"/>
                </a:solidFill>
                <a:latin typeface="Cairo"/>
                <a:ea typeface="Cairo"/>
                <a:cs typeface="Cairo"/>
              </a:rPr>
              <a:t>30 مليوناً للأساس + 4.05 ملايين اختيارية للكريبتو والتحويلات.</a:t>
            </a:r>
          </a:p>
        </p:txBody>
      </p:sp>
    </p:spTree>
    <p:extLst>
      <p:ext uri="{BB962C8B-B14F-4D97-AF65-F5344CB8AC3E}">
        <p14:creationId xmlns:p14="http://schemas.microsoft.com/office/powerpoint/2010/main" val="12867920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2026-09-21T19:00:37.0730000Z</dcterms:created>
  <dcterms:modified xsi:type="dcterms:W3CDTF">2026-09-21T19:00:37.0730000Z</dcterms:modified>
</coreProperties>
</file>